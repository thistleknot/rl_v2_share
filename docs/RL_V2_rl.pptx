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7620000" y="2148840"/>
            <a:ext cx="3565855" cy="960120"/>
          </a:xfrm>
          <a:prstGeom prst="rect">
            <a:avLst/>
          </a:prstGeom>
          <a:noFill/>
        </p:spPr>
        <p:txBody>
          <a:bodyPr wrap="square" lIns="0" rIns="0" tIns="0" bIns="0" anchor="ctr">
            <a:spAutoFit/>
          </a:bodyPr>
          <a:lstStyle/>
          <a:p>
            <a:r>
              <a:rPr sz="1400" b="0">
                <a:solidFill>
                  <a:srgbClr val="4A5864"/>
                </a:solidFill>
                <a:latin typeface="Calibri"/>
              </a:rPr>
              <a:t>of 1,752 judged answers earned reward 0 under bands (1,522). So most groups of 4 were all zeros, and identical rewards teach nothing.</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73 → 16</a:t>
            </a:r>
          </a:p>
        </p:txBody>
      </p:sp>
      <p:sp>
        <p:nvSpPr>
          <p:cNvPr id="14" name="TextBox 13"/>
          <p:cNvSpPr txBox="1"/>
          <p:nvPr/>
        </p:nvSpPr>
        <p:spPr>
          <a:xfrm>
            <a:off x="7620000" y="3108960"/>
            <a:ext cx="3565855" cy="960120"/>
          </a:xfrm>
          <a:prstGeom prst="rect">
            <a:avLst/>
          </a:prstGeom>
          <a:noFill/>
        </p:spPr>
        <p:txBody>
          <a:bodyPr wrap="square" lIns="0" rIns="0" tIns="0" bIns="0" anchor="ctr">
            <a:spAutoFit/>
          </a:bodyPr>
          <a:lstStyle/>
          <a:p>
            <a:r>
              <a:rPr sz="1400" b="0">
                <a:solidFill>
                  <a:srgbClr val="4A5864"/>
                </a:solidFill>
                <a:latin typeface="Calibri"/>
              </a:rPr>
              <a:t>Bands: 73 prompts judged to find 16 whose answers differed. The other 57 were thrown away. Later steps needed 103.</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32 → 16</a:t>
            </a:r>
          </a:p>
        </p:txBody>
      </p:sp>
      <p:sp>
        <p:nvSpPr>
          <p:cNvPr id="16" name="TextBox 15"/>
          <p:cNvSpPr txBox="1"/>
          <p:nvPr/>
        </p:nvSpPr>
        <p:spPr>
          <a:xfrm>
            <a:off x="7620000" y="4069080"/>
            <a:ext cx="3565855" cy="960120"/>
          </a:xfrm>
          <a:prstGeom prst="rect">
            <a:avLst/>
          </a:prstGeom>
          <a:noFill/>
        </p:spPr>
        <p:txBody>
          <a:bodyPr wrap="square" lIns="0" rIns="0" tIns="0" bIns="0" anchor="ctr">
            <a:spAutoFit/>
          </a:bodyPr>
          <a:lstStyle/>
          <a:p>
            <a:r>
              <a:rPr sz="1400" b="0">
                <a:solidFill>
                  <a:srgbClr val="4A5864"/>
                </a:solidFill>
                <a:latin typeface="Calibri"/>
              </a:rPr>
              <a:t>Raw judge score, same seed and base: 32 judged to find 16. Same step, less than half the judging.</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cut the waste by more than half;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