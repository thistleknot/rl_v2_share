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and every number on it opens as a file. Left panel, from data/probe3_locked.json (one invocation, fixed scorer): base 4 · SFT epoch 1 = 1 (format collapse — that checkpoint answers with an empty string on most questions) · epoch 2 = 3 · epoch 3 = 5 · then ONE full-parameter MGPO pass trained FROM that SFT checkpoint reads 9. The dashed trail behind the star is that same run's own in-run readings (6, 8, 7, 8) — the same model, not a later timeline.   ·   Read the split honestly: the deposit buys about +1 over base and mostly recovers its own epoch-1 collapse; the RL pass buys +4. RL is where the lift is, and it is surfacing knowledge the deposit already placed — RL trains on its own 240 records, disjoint from SFT's 240 (verified: zero question overlap).   ·   Right panel: the full-coverage campaign, one visit to each of RL's 238 records instead of drilling 6. Regenerate the whole figure with: python -c "import sys;sys.path.insert(0,'src');import plot_pipeline_curve as P;P.plot_critical_lifts()".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MECHANISM (operator directive, 2026-09-06: one clear scoring mechanism at every phase so we don't double-guess ourselves): each checkpoint's greedy answers, every answer judged ALONE three times, majority of readings is the verdict, empty and content-free-stub answers scored 0 mechanically before any LLM call. 18 phase checkpoints, all 16 questions, 864 readings, complete. The board: base 4 · SFT epochs 1/3/4 · LoRA chain 5/5/5 · champion's RL pass 8 → +IPO 7 · full-param passes 3/8/2 · doubled-data 7/5/5, 2nd pass 2 · Dyna 7 → +IPO 7. What it says: every FIRST RL pass lifts (+3 to +4 over base); every second or third pass collapses; the polish steps (IPO, Dyna's in-loop update) read 0 to -1 under this grader — their earlier +3 lived in comparative grading, whose neighbor-fooling mode cannot be gated and which is retired from verdicts (kept in the report as sensitivity). Every number quoted anywhere in this deck traces to data/uniform_board.json.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(2026-09-06, data/full16_verdict.json): the first receipt with every one of the 16 frozen questions judged for every arm; every prior count was a floor over 11-15 judged. The champion (one RL pass + 5-min IPO) read 10/16 here and 10/16 again in an independent complete receipt. Protocol note: ~25% of cells were scored by the single-answer fallback after the comparative judge call failed under load — flagged per cell.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count of questions answered correctly, out of the 16 frozen eval questions, at every checkpoint the pipeline produced — every question judged (2026-09-06 complete re-judge, data/pipeline_curve_full16.json; earlier readings were floors over 11-15 judged).   ·   base 7 · SFT 2, 6, 8 · RL merges 8, 8, 7.   ·   This is the only place in the deck where SFT epochs and RL merges share an axis, and that is only legal because they were re-scored together on one instrument.   ·   What the complete re-judge does NOT reproduce: the per-stage ladder. The three RL merges are flat, the SFT step is ~1 question, and the training-time climb 0.3125 → 0.3750 → 0.5000 was never independently confirmed. The deck's claims therefore rest on the METHOD figure's endpoint-over-base gap, not on stage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per question, one column per checkpoint, complete re-judge (data/pipeline_curve_full16.json). This is what separates MORE QUESTIONS CORRECT from already-correct answers scoring higher: only a crossing of the 0.70 floor changes a cell, so a question moving 0.75 → 0.98 stays 'held'. On the complete sheet the pipeline's flips balance (4 gained, 4 lost) — the strongest single picture of why per-stage deltas of 1-2 questions are direction, never effect size.   ·   × marks an empty or unscored generation. SFT epoch 1's column is mostly × — that checkpoint returns an empty string on 11 of 16 questions, which is what the dip on the previous slide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macroF1 = (f1_answer + f1_abstain) / 2. A model that abstains more scores higher without knowing anything new. The headline number was abstention.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switched too: binary count of correct R3 answers. macroF1 is RL's objective, not a knowledge-deposit objective.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 a capacity problem. An SVD support control (rank-128, broad vs target-only) lifted +0.012 in BOTH arms — the trained-LoRA subspace is sufficient. It is an optimization-DIRECTION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version of this slide is the point: a hardware ceiling shaped the design, and saying so is different from claiming a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proportions (Math .229 / Code .135 / Instr .095 / STEM .085), box-cox λ=0.5 into a PDF, then used to size the eval.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axis did not push items away from the 0.80 gate. It gave the generator four places to look per chunk, so it kept FINDING acceptable items. Different properties — only the second one mattered.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local nomic-embed-text. The comparison runs against the full running kept set, so the filter tightens as the pool grows — the last items admitted are the hardest-won. Each record carries its max-cosine-to-prior, so a suspect item is traced and excised rather than argued about. The saturation story on the next slide is this gate doing its job.</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Never from relaxing the gate — 0.80 is what stops a training item being a paraphrase of an eval question.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Disjoint · zero eval-question leakage · max cosine eval×train 0.79973 &lt; 0.80. RL now has its OWN split, so RL lift cannot be confused with prompt re-exposure.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rubric is one file, hashed into every receipt, so a number can always be traced to the instrument that produced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[r3-0847]: with BaggingRegressor over decision-tree bases, which statistical property does averaging primarily reduce?   ·   The top two are BOTH correct and score differently — that spread is the point: it is what lets RL prefer one correct answer over another. The bottom four are all wrong and score across 0.05-0.45, because 'wrong' is not one category. Exemplars come from a held-out 12-item rubric split, never from training or eval.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data/synthetic_domain_rubric.md worked-examples block (REQ-J11 — exemplars are drawn from a held-out 12-item rubric split, never from training or eval).   ·   The 'wrong, good' row is the one people drop. 0.4-0.6 is reserved for the most DEMANDING kind of wrong — a specific false claim, a confident wrong number, a flipped comparison. An answer that commits to nothing has not earned that band and falls to 0.05-0.25. Collapse those and every wrong answer lands near 0.45, which is treating 'wrong' as one category when it is three.   ·   The 'correct, bad' row is why the gold band is 0.9-1.0 and NOT 1.0: if every correct answer scores 1.000 the instrument has no resolution above 'correct', and RL has no way to prefer one right answer over another. The five correct exemplars score 0.98, 0.95, 0.92, 0.85, 0.72 by design.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Owner insight. Absolute judgment collapses; comparative judgment spreads.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binary count moved by 8 of 48. Every gate number in this project is protocol-dependent — so if the protocol changes, EVERY arm is re-scored or none is.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thread: a PROXY looked healthy — a line count, GPU utilisation, a green suite, a passing ast.parse, one lucky sample.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Discipline fails on the fifth re-run at 4am. Structure does not.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Declaring the projections in advance is the guard against metric shopping.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Caught by a smoke test before spending GPU on the wrong metric.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0.452 is carried almost entirely by learning WHEN TO STAY SILENT. Actually getting questions right sits at 0.124 and does not move. R3 has NO abstention class, so the one axis that lane improves does not exist in ours.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Facts enter the weights as questions, not as prose. That is the whole finding.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n=62, one frozen eval, isolated 2B judge, census asserted every call. Recorded lane: 0.420 → 0.452 (+0.032). Ours: +0.095 SFT→RL.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the component, never the headline alone.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the prompt. Print the generations. A count table hides all of this.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defect is found, grep for its shape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which checkpoint a number came from. 'Best' and 'final' are different claims.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Identical config apart from measurement cadence. The number replicates to three decimals — one run is an anecdote, two is a result.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Evaluate DURING training. The best checkpoint is rarely the last 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changing a parameter, know everything it controls.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instrument is the experiment. Validate it before spending GPU on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downstream is defined by these six terms. They were fixed before the runs.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RL fundamentals to our design: every MGPO mechanism on the following slides is an instance of uncertainty-aware exploration. Ensemble disagreement and RND measure epistemic uncertainty with extra models; learning-progress/Bayesian surprise measures information content exactly but pays a gradient step per candidate; prioritized replay's TD-error is the same idea in value-based RL. MGPO reads the equivalent quantity — within-group reward variance — off rollouts it already has to sample, so the exploration signal is free.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src/mgpo.py — the reward closure, the patience callback, and the round-2 selector.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we borrowed, the source is named (Raschka, Build a Reasoning Model From Scratch, Ch 6-7). The knob trials, one variable each from the same checkpoint: reward scaling OFF — GRPO's divide-by-group-std, whose removal is published as 'Dr. GRPO' (Liu et al. 2025), scale_rewards='none' in our code — scored 8/14 and became the RL pass the 5-minute IPO step sharpened to 11. DeepSeek's KL value 0.02 made the biggest climb from its own start (4→8) but scored 8/15 head-to-head, no better, so beta stayed 0.3. DAPO's clip-higher (0.28) scored 4/15, the worst — dropped. The brevity-OFF trial never ran (the campaign hit its stopping point first): untested, not lost.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dispositioned is SAME records through both stages (the 720 confound — caught by the operator, corrected to disjoint partitions, test-pinned). Sending ALWAYS-WRONG prompts to SFT is paper-backed (TailSFT arXiv 2608.25756; STaR; ReST) and necessary: GRPO's advantage is exactly 0 on uniform-outcome groups, so RL cannot move that bin. Injection sizing: max(2, 10% of cache), capped at 1/3 of the curriculum; the visit ledger's count=0 pool is the sample-without-replacement source.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playbook-replaybuffer-scores.md §7 (spanning) and §9 (diversity reweight).   ·   WHAT WE CANNOT CLAIM. The filter was active in every RL run and it was not cosmetic — it dropped 3/6, 4/6 and 2/6 of round-2 prompts across the full run and both chain runs. But it was NEVER ABLATED: there is no arm with it switched off, so none of the measured lift is attributable to it. The zero-variance argument above is a derivation, not a result. Note the opposite risk too — dropping 4 of 6 leaves round 2 training on two prompts, thin enough to be a liability rather than a feature. An ablation is the only thing that settles which.   ·   The flashcard stack (lower right): missed and unknown cards ride the front of the box; mastered cards sit at the back but never leave it — the Leitner/PER framing now HPO-PASSED by the V3 trial (moved vs its own start; NOT an e2e win — playbook.md).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Receipts: data/rl_full_ladder.json, data/rl_chain_ladder.json. Rates are floors — 10-15 of 64 judge calls drop per invocation.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Chain-final: rl_r3_chain3_merged. Config: optimizer settings.txt.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(soft): sampled scoring gives intervals overlapping a quarter of the scale — the effect SIZE is not resolvable on 16 items.   RIGHT (hard): the greedy eval has no sampling distribution. 4 → 8 of the same questions correct is a real weight change.   ·   That RIGHT panel is an EARLIER greedy invocation covering base and chain-final only; the seven-checkpoint re-score in the opening figure reads 5/14 → 8/14 on the same contrast. The base count differs by one because they are separate judge invocations — which is the whole reason arms are only ever compared within 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adapter CAN hold the deposit (0.063 → 0.327). The failure is not capacity, it is survival of the handoff: an adapter can sharpen what it did not install, but what it installs itself does not survive being sharpened. Metric is macroF1 on the abstention-lane eval, shared by all four rows — NOT the R3 binary@0.70 ladder used elsewhere. The last cell filled 2026-09-02: full-param RL runs and WON (see 16 GB). Model size is the constraint here, not the variable under test.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CLOSED means measured and dispositioned — not untried. Do not re-open without a new instrument or a new corpus.   ·   SFT's epoch-1 number (0.172) is FORMAT COLLAPSE, not forgetting: that checkpoint returns an empty string on 11 of 16 questions, median response length zero, where base and epoch 2 have none. One epoch of completion-only loss taught it to emit the stop token immediately, and a binary rate cannot tell silence from a wrong answer. Output length belongs in the eval.   ·   The replay row was demoted from PROVEN on 2026-09-01. Its old evidence — 'every in-run lift followed a spanning round' — is a POST-HOC CORRELATION over runs that all had the filter on. With no filter-off arm, that sentence is compatible with the filter doing nothing. It is the one row here whose verdict came from a story rather than a contrast.   ·   ReLoRA SFT (2026-09-02) is the newest lane and it is a NO GAIN, not a failure: merging between epochs left the count flat at 5/5/5 of 16 across three cycles while a budget-matched UNMERGED LoRA reached 6. Third independent time merging has added nothing — the fact-probe lane showed the same at equal budget (0.625 → 0.583 → 0.438) and a tie at matched budget (0.688 vs 0.688). At n=16 the 5-vs-6 gap is one question and not resolvable; the informative part is the FLATNESS across cycles, where the mechanism predicts accumulation and delivers none.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R3 lane: knowledge comes from SFT, accuracy-sharpening from RL, nothing from next-token pretraining. R3 has no abstention class, so CALIBRATION is not measured here at all — that is the R1/R2/R4 lane, and it is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 definition from 2026-09-02, and it supersedes the steering doc's 'monotonically climbing per-epoch curve'. A stage is judged by its BEST checkpoint against the phase before it, never by its first epoch and never by its last alone. Early stopping must not fire before a minimum epoch count: patience measured from epoch 1 would have killed full-parameter SFT, the lane that works.   ·   CPT's CLOSED verdict does not meet this bar — three learning rates, one end-of-run number each, no epoch curve, and the epoch checkpoints were saved WITHOUT WEIGHTS so nobody could go back and look. Under this definition CPT is UNRESOLVED, not closed.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five are one question asked five ways: can knowledge be put in cheaply? CPT says the gradient carries no usable domain signal on this corpus. The adapter rows say capacity is fine but DURABILITY is not — a LoRA deposit does not survive RL on top.   ·   The last three are the handoff specifically, and they are why this deck insists the SFT stage be full-parameter: three different ways of carrying a LoRA deposit into RL, three deaths.   ·   Sources: instructions.md §0.5 and §3.3, data/domain/probe/relora_probe.json, data/relora_sft_scored.json.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three are the dangerous class: none of them announce themselves. A 2B judge that accepts fluent wrongness would have had RL optimise straight into that hole. macroF1 rises when a model learns to DECLINE, which is not knowledge. The fp16 scaler at its default zeroed every update while the loss curve still looked plausible.   ·   The one NOT_RUN on this list was RESOLVED on 2026-09-02: full-parameter RL now fits (8-bit Adam, frozen embeddings, sequence caps) and WON its playbooked campaign — 9/16 vs SFT 4/16, one receipt. See the postscript slide.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ratio, not just the endpoint: sixteen measured dead ends for one working path. That is what a real search looks like, and the dead ends are the transferable part — anyone repeating this can skip them.   ·   The ReLoRA chain is no longer on the recipe: it was the route to 8 at adapter capacity, and the full-param pass + offline IPO superseded it (the ReLoRA slide keeps the insight).   ·   Honest caveats carried from the rest of the deck: n=16, so this is DIRECTION not effect size; the replay-buffer component was never ablated; the IPO step reads +1 over plain full-param RL on the complete instrument (10 vs 9, same invocation) — consistent direction, size at the floor of what 16 questions can resolve.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shape of the project: three stages attempted, two with verdicts, one still open. Direction of travel is always further upstream — toward getting the knowledge IN, rather than getting more out of what is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AFTER the failed-paths story, to a pre-registered playbook: memory gate first (9.41 GiB completed-run peak at G=4/288/160), then lr HPO (3e-6 too cold, 1e-5 wins, 3e-5 collapses), then three chained passes, verdict in ONE score_arms invocation (data/fullparam_rl_verdict.json). What made it fit on 16 GB: 8-bit Adam, frozen tied embeddings (254M of 752M params), fp32 master weights, and sequence caps — never the group size; G=2 'fits' and silently breaks GRPO (zero-variance groups, measured frac_zero_std 0.833).   ·   Caveats unchanged: n=16, CIs wide (pass2 [0.46,0.92] vs SFT [0.07,0.50]), every count a floor, and numbers are never compared across receipts — this receipt reads SFT at 4 where another read 7. The full-param-vs-LoRA RANKING stays formally open; within this receipt full-param leads by +3. Pass 3 declining mirrors the LoRA chain: third pass adds nothing, on both parameterisations.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expected information per GPU-hour, not by ambition.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generated by src/build_presentation.py — edit the story there, not the .pptx.</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and every number on it opens as a file. Left panel, from data/probe3_locked.json (one invocation, fixed scorer): base 4 · SFT epoch 1 = 1 (format collapse — that checkpoint answers with an empty string on most questions) · epoch 2 = 3 · epoch 3 = 5 · then ONE full-parameter MGPO pass trained FROM that SFT checkpoint reads 9. The dashed trail behind the star is that same run's own in-run readings (6, 8, 7, 8) — the same model, not a later timeline.   ·   Read the split honestly: the deposit buys about +1 over base and mostly recovers its own epoch-1 collapse; the RL pass buys +4. RL is where the lift is, and it is surfacing knowledge the deposit already placed — RL trains on its own 240 records, disjoint from SFT's 240 (verified: zero question overlap).   ·   Right panel: the full-coverage campaign, one visit to each of RL's 238 records instead of drilling 6. Regenerate the whole figure with: python -c "import sys;sys.path.insert(0,'src');import plot_pipeline_curve as P;P.plot_critical_lifts()".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MECHANISM (operator directive, 2026-09-06: one clear scoring mechanism at every phase so we don't double-guess ourselves): each checkpoint's greedy answers, every answer judged ALONE three times, majority of readings is the verdict, empty and content-free-stub answers scored 0 mechanically before any LLM call. 18 phase checkpoints, all 16 questions, 864 readings, complete. The board: base 4 · SFT epochs 1/3/4 · LoRA chain 5/5/5 · champion's RL pass 8 → +IPO 7 · full-param passes 3/8/2 · doubled-data 7/5/5, 2nd pass 2 · Dyna 7 → +IPO 7. What it says: every FIRST RL pass lifts (+3 to +4 over base); every second or third pass collapses; the polish steps (IPO, Dyna's in-loop update) read 0 to -1 under this grader — their earlier +3 lived in comparative grading, whose neighbor-fooling mode cannot be gated and which is retired from verdicts (kept in the report as sensitivity). Every number quoted anywhere in this deck traces to data/uniform_board.json.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coverage campaign's premise was that visiting all 240 training records would beat drilling a handful. It never got the chance to be tested: no run survived long enough to finish the 240, because each one peaked at its first update and then declined until the automatic stop fired. Three different step sizes, same shape. The counts here are each run's own quick grading (one read per answer), which is why they are shown as movement rather than as final scores — the careful three-read grading is reserved for the checkpoints that go on the board. What the sample answers show at the bottom of the decline: the model turns terse — five-character answers like '(0.4)' — and the few it still answers fully are graded higher than ever. That is the brevity term in the reward winning over correctness, not the model breaking.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 (2026-09-06, data/full16_verdict.json): the first receipt in the project where every one of the 16 frozen questions was judged for every arm — earlier receipts silently left 1-5 questions unjudged, and every prior count was a floor. On this complete sheet: base 6, SFT on the doubled inverted data 7, +one RL pass 8, plain full-param RL 9, one RL pass + the 5-minute IPO step 10 — and the champion read 10/16 AGAIN in an independent complete receipt (data/surpass11_receipt.json), so 10 is stable. Say the two-sided honesty out loud: trained-vs-base (+3 to +5) is robust across every complete receipt; the per-method steps are ~1 question on an instrument whose repeat-judging swing is 2-3 questions, so the METHOD ranking is direction, not effect size. Protocol note: ~25% of cells were scored by the single-answer fallback after the comparative judge call failed under load — flagged per cell in the receipt records.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seven-checkpoint receipt, re-judged complete (data/pipeline_curve_full16.json): base 7 · SFT 2, 6, 8 · RL merges 8, 8, 7. Two findings survive the complete re-judge intact: the epoch-1 collapse (2/16 — that checkpoint answers with an empty string on most questions, so a one-epoch read must never close a lane) and the flat RL merges. What does NOT survive: the old per-stage ladder (5 → 7 → 8) — on the complete sheet the SFT and chain steps are ~1 question, inside the judge's own repeat swing. The per-question flip grid (report) makes the same point: 4 questions gained, 4 lost between base and chain-final. This is WHY the deck's claims lean on the method figure's endpoint-over-base gap, not on stage-by-stage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0.8B is a hardware constraint, not the variable under study. The variable is full-parameter versus adapter. Four question categories: Math, Code, STEM, Instruction. Self-sufficient scoping was a deliberate paring: the original design also covered unanswerable questions where the right move is to decline, and that half returns in future directions.   ·   The formulation follows the part 1 MDP checklist: states = the prompt plus tokens emitted so far, actions = the vocabulary, transitions deterministic (appending a token), reward zero everywhere except the terminal judge call, gamma 1. Because the episode-level problem is one decision wide, the environment reduces to its reward function — which is why 'model the judge' equals 'model the world' later.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resolution floor was measured, not chosen: four copies of ONE checkpoint, scored independently, spread that far apart. It becomes the min_delta for every patience decision downstream. No stage is allowed to pick its metric after seeing results.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Split before any training: 375 / 370 / 3, plus the frozen 16-item eval and a 12-item rubric split the judge's examples come from. Every record keeps skill, chunk, category and cosine, so a bad item is traceable rather than arguable.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Embeddings: local nomic-embed-text. The comparison is against the full running kept set, so the filter tightens as the pool grows — the last items admitted are the hardest-won. Historically this corpus saturated near 60-78 items at the 0.80 gate; the category axis (four question flavours per chunk) grew yield to 748 WITHOUT producing paraphrase-duplicates, which is why it beat the ceiling and gate-relaxing would not have. Relaxing the gate for headroom is on the project's banned list. Each record carries its max-cosine-to-prior, so any suspect item can be traced and excised rather than argued about.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separation is the reason the numbers mean anything. Author and judge are different models; the student never sees the standard it is being held to. Everything the 0.8B learns arrives through one channel — the scalar reward.</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CPT was measured across three learning rates — 0.250 / 0.250 / 0.062 against a 0.250 baseline. Flat, flat, collapse: a gradient with no usable domain signal, where small steps are noise and the large one is damage. CLOSED means measured and dispositioned, NOT untried — that distinction is what stops it being re-run next month.</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scored in ONE judge invocation, so the comparison is valid. Tripling the dose did NOT help: 0.389 / 0.309 / 0.327, peaking at epoch 1. Training loss still fell 2.5 → 1.2 — the extra passes bought MEMORISATION and spent the model's uncertainty, never-correct 4 → 9 while the teachable band collapsed 11 → 5.</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had this wrong until I opened the generations instead of trusting the rate — it was being presented as a learning-dynamics finding. The design lesson survives (you need the per-epoch curve; a one-epoch read would still have killed the lane) but the MECHANISM is format collapse, not knowledge loss. This is the cheapest instrument fix on the list and everything downstream inherits the ambiguity until it lands.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this implies, and it is now the operating definition: a stage is judged by its BEST checkpoint against the phase before it, never by its first epoch and never by its last alone. Early stopping must not fire before a minimum epoch count — patience measured from epoch 1 would have killed full-param SFT, which is the lane that works.   ·   Consequence worth stating out loud: CPT's CLOSED verdict does not meet this bar. It was three learning rates, each one end-of-run number, no epoch curve, and the checkpoints were not kept so nobody could go back and look. Under this definition CPT is UNRESOLVED, not closed.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adapter CAN hold the knowledge — 0.063 → 0.327 is a real deposit — so the failure is not capacity, it is what happens NEXT.   ·   METRIC WARNING: macroF1 on the abstention-lane eval, a DIFFERENT instrument from the binary@0.70 numbers elsewhere in this talk. All four rows share it, so the comparison inside the table is valid; do not read it against the R3 ladder.   ·   The last cell FILLED on 2026-09-02: full-param SFT → full-param RL now runs on 16 GB (8-bit Adam + frozen embeddings + sequence caps) and its campaign WON — see the postscript slide. The old NOT_RUN is superseded.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data/synthetic_domain_rubric.md, worked-examples block (REQ-J11 — every exemplar is drawn from a held-out 12-item rubric split, never from training or eval).   ·   Why the 'wrong, good' row exists: 0.4-0.6 is reserved for the most DEMANDING kind of wrong — a specific false claim, a confident wrong number, a flipped comparison. An answer that commits to nothing has not earned that band and drops to 0.05-0.25. Collapsing those two is how a judge ends up scoring every wrong answer ~0.45 and treating 'wrong' as one category when it is three.   ·   Why 'correct, bad' exists: the gold band is 0.9-1.0, NOT 1.0. If every correct answer scores 1.000 the instrument has no resolution above 'correct', and RL has no way to prefer one right answer over another. The five correct exemplars score 0.98, 0.95, 0.92, 0.85, 0.72 by design.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from the RL course material to our design: every mechanism on the next slides is an instance of uncertainty-aware exploration. Count bonus: MCTS/UCT's Q + C*sqrt(ln N / N(s,a)) — rarely-visited gets optimism. Entropy: SAC maximizes reward plus policy entropy, staying deliberately uncertain until forced to commit. The 'two models' answer (ensemble disagreement / RND: frozen random net + trained predictor, error high exactly on unseen states) measures epistemic uncertainty. The 'surprise'/learning-progress answer (Schmidhuber's curiosity line; prioritized replay's TD-error is the value-based cousin) measures information content directly but pays one gradient step per candidate just to score it. MGPO gets the same quantity for free: a prompt whose G sampled outcomes disagree has maximal within-group reward variance, which IS the expected-gradient magnitude under GRPO's variance-normalised advantage. Same principle, zero extra forward passes.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was MEASURED, not argued: the raw-score reward demonstrably could not distinguish the SFT checkpoint from base, which made it useless as a training signal. Zero-sum matters because a brevity bonus that shifted the group mean would leak into the advantage and quietly become the objective.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zero-variance argument is a DERIVATION, not a result. The old deck marked this lane PROVEN on the evidence 'every in-run lift followed a spanning round' — true, and equally true if the filter did nothing, because every run had it on. Demoted to UNTESTED. Counter-risk worth stating: dropping 4 of 6 leaves round 2 training on two prompts, thin enough to be a liability rather than a feature.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Verbatim from a real run (fpv2_pass2, 2026-09-02):   '[bootstrap] cohort=6 distinct prompts | round 1 uniform'  →  '[maxent] dropped 2/6 prompts from round 2 (2 not threshold-spanning at 0.7)'  →  '[select:maxent] top_probabilities 0.386 / 0.235 / 0.212 / 0.167 / 0.000 / 0.000'.   ·   Read the weights out loud: the question the model is most INCONSISTENT on gets practiced most; the two all-wrong questions get nothing, because a group with identical outcomes has zero reward variance and GRPO's advantage is variance-normalised — the update is exactly zero, so spending steps there is burning GPU on nothing.   ·   'Replay buffer' is a loose name: unlike DQN-style replay no stored rollout is ever trained on — past outcomes only choose what to practice next. Ablation caveat from the previous slide still applies.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 is principled, not improvised: where we borrowed, the source is named (Raschka Ch 6-7); the clip epsilon and KL strength were silently inherited from TRL before being exposed and tried. The knob trials (2026-09-05, one variable each from the same checkpoint): turning OFF reward scaling — GRPO's divide-by-group-std, whose removal is published as 'Dr. GRPO' (Liu et al. 2025), scale_rewards='none' in our code — scored 8/14 and became the RL pass the 5-minute IPO step sharpened to the champion (10/16 complete).DeepSeek's KL value 0.02 made the biggest climb from its own start (4→8) but scored 8/15 head-to-head, no better, so beta stayed 0.3. DAPO's clip-higher (0.28) scored 4/15, the worst, and was dropped. The brevity term: the naive version's failure mode is accuracy falling as answers shorten; our zero-sum/correct-only guard prevents that, and the brevity-OFF trial never ran — the campaign hit its stopping point first, so that knob is untested, not lost.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 question, verbatim: 'what was the verdict on uncertain prompts, do we send them back to sft, is that something we were considering when we drafted our plan, or is that already dispositioned (I think it was dispositioned when we trained on the 720 for both sft and rl which is obviously derp). iow we can treat the replay buffer as our cache during rl and continue to iterate on prompts that still have spread and occasionally provide a real world experience (sample without replacement) where we pull from the remaining unseen records' — and: 'and that's what we measure for uncertainty?'   ·   Answer: what's dispositioned is SAME records through both stages (the 720 confound). Sending ALWAYS-WRONG prompts to SFT is pre-endorsed (TRIZ harm-to-benefit) and paper-backed: TailSFT trains SFT for what RLVR can't reach; STaR and ReST iterate exactly this loop. The zero-gradient argument makes it necessary: GRPO's advantage is exactly 0 on uniform-outcome groups, so RL cannot move the always-wrong bin at all. Uncertainty = reward spread (sampled prompts) + cross-model disagreement (probe screen); unseen prompts have no measurement, only novelty — the visit ledger's count=0 pool IS the injection source, sized max(2, 10% of cache) capped at 1/3 of the curriculum.</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 on what you are uncertain of — the operator's framing: 'that's the whole paradigm in human learning... memory flash cards.' The Leitner spaced-repetition box IS prioritized replay: miss a card, it returns sooner (high priority); master it, the interval stretches but the card never leaves the deck (epsilon-floor); new cards enter at the front (max priority); an old card resurfacing is the staleness term. Spaced repetition also answers the overtraining concern the same way PER does: mastery stretches the revisit interval instead of deleting the item — and our own measured collapse mode (round-2 pools thinning to 2-3 prompts) is exactly what training ONLY on the boundary looks like; the floor + fresh injection keep the curriculum wide.   ·   Operator design, formalized against Prioritized Experience Replay (Schaul et al. 2015). The mapping is exact: PER inserts new transitions at MAX priority (here: Beta(1,1) uniform = maximum variance, so the 50/50-don't-know prior falls out with no special-casing); PER's epsilon-floor exists because a zero-probability item can silently regress unseen — the operator's instability concern, named; PER updates priority only on replay (staleness accepted, re-measured on visit). Differences from DQN-style PER: we prioritize PROMPTS not transitions, the 'TD-error' analog is Bernoulli outcome variance from judge history, and nothing stored is ever retrained — priority only steers which prompts get fresh rollouts. Always-wrong prompts additionally go on the SFT deposit targeting list but STAY in the ledger at low priority, so post-deposit RL re-measures them for free. Status: designed (playbook-uncertainty-menu.md E8), ledger substrate built; not yet wired into round selection.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RL-NOTES TIE-IN, explicit (operator, 2026-09-05: 'model of the judge IS the complete world model — exactly what I meant'). Concepts borrowed: Dyna-Q and model-based RL (replay buffer, learned world model, ensemble world model, uncertainty masking) and model-based RL (MDP objects, model-based loop). Two granularities are both true and worth saying: at token level the generation IS an MDP — every next-token prediction is a state-to-state transition with reward only at the terminal state (see docs/TRUE_RL_MDP.md) — while at episode level one exam answer is a contextual bandit, and in a bandit the environment reduces to its reward function, so modeling the judge models the world completely. The 'autoencoder' intuition: IPO compresses 1,920 judged experiences into the policy's own probability ratios — the DPO-family derivation literally shows the trained policy carries an implicit reward model (Rafailov et al.'s 'your LM is secretly a reward model', regularized by IPO for 24-pair scarcity). Same buffer, same labels as the explicit ensemble head in src/prompt_world_model.py — different carrier.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as --dyna-ipo (src/mgpo.py, task #44): the reward path already judged every G=4 rollout and threw the result away after one gradient step; now each round's judged rollouts become chosen/rejected pairs (same rules as the winning offline step: best correct non-degenerate vs worst nonempty, judge-fooled spam admitted as rejected) and a 5-minute IPO pass updates the live policy before the next round's card selection. This is the integrated form of the by-hand winner (one pass then offline IPO), and the DeepSeek-R1 RL-preference alternation in miniature. Textbook Dyna also plans on IMAGINED rollouts from the world model; we deliberately keep only the real-experience half — under a judge we have measured being fooled (empty answers at 0.70, digit-spam at 0.98, a 3-word stub at 0.98), training on model-imagined reward would compound the instrument's blind spots.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ALIGNMENT SLIDE (operator, 2026-09-06: 'that's what my course taught me and this presentation is for that course'). Read it top to bottom as the course arc: formulate the MDP (part 1), explore what you are unsure of (part 3), prioritize replay and learn a world model (part 6). The three verdict classes matter: KEPT means load-bearing in the recipe that reached 10 of 16 complete; the verifier row closed on 2026-09-06 — an ensemble over frozen embeddings (5,760 judged samples) scored in-distribution AUC 0.485, chance, so cheap features cannot see correctness and the row is TESTED, not skipped. The Dyna row closed the same night: its complete comparative receipt read 12/16 vs the champion's 9 — but spot-reads showed confidently WRONG answers graded correct (entropy 1.51 where the gold says 0; a bootstrap calculation off by 60+ samples), and single-answer re-reads of the same answers gave 6/16. No credible win — and the receipt's real value is the instrument finding: a comparative ranking prompt can pass a wrong answer when its neighbors are worse. 'not applicable' is a shape mismatch, not a skipped assignment — value iteration, Dijkstra/A*/MCTS-as-search, and DQN all need a multi-step transition model or a value function to bootstrap through, and the episode-level problem here is a one-step contextual bandit (DQN was also ruled out by design). Every applied row has its own slide earlier in the deck; this table is the index.</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LADDER IN ONE TABLE, every count with all 16 questions judged (2026-09-06 complete re-judge; earlier receipts left 1-5 questions unjudged and read up to 11 as floors over fewer questions). Sourcing, honestly: base 6 / full-param 9 / IPO 10 share ONE invocation (data/full16_verdict.json); SFT 8 and chain 8 come from the pipeline invocation (data/pipeline_curve_full16.json), where base read 7. The champion's 10 replicated in a third complete receipt. Read the ladder as: endpoint-over-base (+3 to +5) is robust; each RUNG is ~1 question on an instrument whose repeat-judge swing is 2-3, so the rung ordering is consistent direction, not measured effect size.   ·   Relationship between rungs: ReLoRA and full-param MGPO are the same objective at different capacity (adapter merges vs full weights); IPO is NOT an RL pass — it replaced the SECOND pass, which declined in six independent lineages. MGPO is not dropped: the champion IS one MGPO pass (scale_rewards='none'), IPO is the polish on top. IPO = identity preference optimization (Azar et al. 2023): DPO-family offline pairwise loss, regularized toward a fixed preference margin so 24 pairs cannot overfit — no rollouts, no reward model, no collapse risk, 5 minutes on the same 16 GB card.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STORY IN ONE SENTENCE: we doubled the model's lift — 25% of the exam answerable at base, 50% after deposit + one RL pass.   ·   If anyone asks where the earlier 10-12 readings went: same weights, retired grader. The comparative judging protocol read the IPO-polished checkpoint at 10-11, but that protocol was caught grading confidently wrong answers correct when their neighbors were worse, and was retired from verdicts; under the locked mechanism (each answer judged alone, 3x, majority, empty/stub gates) the polish reads 7 — one BELOW its own parent's 8 — and every polish attempt across three lanes read 0 to -1. The 8 belongs to MGPO.   ·   The winning pass in detail: 2 rounds x 6 steps, 6-prompt pool, 4 samples per prompt, lr 1e-5, KL beta 0.3 to the frozen SFT reference, token-level DAPO loss, flashcard prompt selection (practice only prompts whose sampled outcomes disagree — uniform outcomes give exactly zero gradient), 8-bit Adam + frozen embeddings on 16 GB, ~50 min. One variant used reward-scaling-off ('Dr. GRPO', Liu et al. 2025) and one did not; both reached 8 — the core recipe, not the knob, carries the result.   ·   Residual headroom, honestly: the winner's own 8 samples contain a correct answer for 14 of 16 questions, and three picker families failed to select them (chance-AUC ensemble, blind LLM verifier 7/16, own log-likelihood 4/16) — closing that gap is a selection and instrument problem, first item on future directions. Receipts: data/uniform_board.json / past9_r1a train_stats / fullparam_rl_verdict.json.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row per question, one column per checkpoint, complete re-judge (data/pipeline_curve_full16.json). The old incomplete receipt read this as net +3; with all 16 judged it is 4 gained / 4 lost — the clearest picture of why a 1-2 question delta on this eval must never be sold as an effect size.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Units are step (one prompt, 4 answers, one update) → round (6-12 steps) → run (2 rounds). There is no epoch boundary to merge at, because there are no epochs. Each run gets a new cohort and a new seed (7, 29, 37).</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cannot create knowledge — only questions the model ALREADY sometimes gets right are teachable, which is exactly why the weakest categories had the most room. The strong categories holding rather than climbing is the expected shape, not a disappointment. Same judge invocation, RL against the SFT model it trained 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Direction is consistent across every measurement; the effect SIZE is not resolvable on 16 items. Reporting the ±0.02 as a null would be as wrong as reporting it as a win — the instrument cannot see it, and saying so is the honest answer.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someone pushes on the chain in the room, this is the honest answer and it is already on the slide. Two valid measurements of the same three checkpoints agree on the destination and disagree on the path. Steps at the resolution floor are unconfirmable at this 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five are one question asked five ways: can knowledge be put in cheaply? CPT says the gradient carries no usable domain signal on this corpus. The adapter rows say capacity is fine but DURABILITY is not — a LoRA deposit does not survive RL on top.   ·   The last three are the handoff specifically, and they are why this deck insists the SFT stage be full-parameter: three different ways of carrying a LoRA deposit into RL, three deaths.   ·   Sources: instructions.md §0.5 and §3.3, data/domain/probe/relora_probe.json, data/relora_sft_scored.json.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bottom three are the dangerous class: none of them announce themselves. A 2B judge that accepts fluent wrongness would have had RL optimise straight into that hole. macroF1 rises when a model learns to DECLINE, which is not knowledge. The fp16 scaler at its default zeroed every update while the loss curve still looked plausible.   ·   The one NOT_RUN on this list was RESOLVED on 2026-09-02: full-parameter RL now fits (8-bit Adam, frozen embeddings, sequence caps) and WON its playbooked campaign — 9/16 vs SFT 4/16, one receipt. See the postscript slide.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ratio, not just the endpoint: sixteen measured dead ends for one working path. That is what a real search looks like, and the dead ends are the transferable part — anyone repeating this can skip them.   ·   The ReLoRA chain is no longer on the recipe: it was the route to 8 at adapter capacity, and the full-param pass + offline IPO superseded it (the ReLoRA slide keeps the insight).   ·   Honest caveats carried from the rest of the deck: n=16, so this is DIRECTION not effect size; the replay-buffer component was never ablated; the IPO step reads +1 over plain full-param RL on the complete instrument (10 vs 9, same invocation) — consistent direction, size at the floor of what 16 questions can resolve.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ReLoRA SFT (2026-09-02) is the newest lane: merging between SFT epochs left the count flat at 5/5/5 of 16 across three cycles while a budget-matched unmerged LoRA reached 6. Merging is not the lever, third independent time.   ·   The honest shape of the project: three stages attempted, two with verdicts, one still open. The direction of travel is always further upstream — toward getting the knowledge IN, rather than getting more out of what is already there. The LoRA-to-full-param switch cost weeks and is the single most transferable thing we learned.</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mgpo.py contains no merge step; the chain was assembled afterwards from the winning config. So we have no evidence about what HPO would select with merging inside the search loop — which is the premise of the next experiment, and the reason it is worth running rather than assuming.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AFTER the failed-paths story, to a pre-registered playbook: memory gate first (9.41 GiB completed-run peak at G=4/288/160), then lr HPO (3e-6 too cold, 1e-5 wins, 3e-5 collapses), then three chained passes, verdict in ONE score_arms invocation (data/fullparam_rl_verdict.json). What made it fit on 16 GB: 8-bit Adam, frozen tied embeddings (254M of 752M params), fp32 master weights, and sequence caps — never the group size; G=2 'fits' and silently breaks GRPO (zero-variance groups, measured frac_zero_std 0.833).   ·   Caveats unchanged: n=16, CIs wide (pass2 [0.46,0.92] vs SFT [0.07,0.50]), every count a floor, and numbers are never compared across receipts — this receipt reads SFT at 4 where another read 7. The full-param-vs-LoRA RANKING stays formally open; within this receipt full-param leads by +3. Pass 3 declining mirrors the LoRA chain: third pass adds nothing, on both parameterisations.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Ordered by cost-to-value. Items 1 and 2 close honesty gaps in claims already made, so they come before anything that spends GPU hours. Full-parameter RL moved OFF this list on 2026-09-02 (its pass 2 is one of the two winners at 8/16 on the locked board); IPO iteration is NOT on the list — the polish read 0 to -1 across three lanes under the locked grader. Receipts, per-trial ledgers and checkpoints are in the repo; every number traces to a JSON file.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07040" cy="2377440"/>
          </a:xfrm>
          <a:prstGeom prst="rect">
            <a:avLst/>
          </a:prstGeom>
          <a:noFill/>
        </p:spPr>
        <p:txBody>
          <a:bodyPr wrap="square">
            <a:spAutoFit/>
          </a:bodyPr>
          <a:lstStyle/>
          <a:p>
            <a:pPr>
              <a:spcAft>
                <a:spcPts val="1200"/>
              </a:spcAft>
            </a:pPr>
            <a:r>
              <a:rPr sz="4000" b="1">
                <a:solidFill>
                  <a:srgbClr val="E8ECF1"/>
                </a:solidFill>
                <a:latin typeface="Segoe UI"/>
              </a:rPr>
              <a:t>Injecting Domain Knowledge into a 0.8B Model</a:t>
            </a:r>
          </a:p>
          <a:p>
            <a:pPr>
              <a:spcAft>
                <a:spcPts val="2000"/>
              </a:spcAft>
            </a:pPr>
            <a:r>
              <a:rPr sz="2000" b="0">
                <a:solidFill>
                  <a:srgbClr val="5BC8F5"/>
                </a:solidFill>
                <a:latin typeface="Segoe UI"/>
              </a:rPr>
              <a:t>What survives the CPT → SFT → RL handoff, and what the metric hid</a:t>
            </a:r>
          </a:p>
          <a:p>
            <a:pPr>
              <a:spcAft>
                <a:spcPts val="600"/>
              </a:spcAft>
            </a:pPr>
            <a:r>
              <a:rPr sz="1400" b="0">
                <a:solidFill>
                  <a:srgbClr val="9AA6B4"/>
                </a:solidFill>
                <a:latin typeface="Segoe UI"/>
              </a:rPr>
              <a:t>RL_V2 · empirical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result: base 4 → SFT 5 → one RL pass 9, of 16</a:t>
            </a:r>
          </a:p>
        </p:txBody>
      </p:sp>
      <p:pic>
        <p:nvPicPr>
          <p:cNvPr id="4" name="Picture 3" descr="critical_lifts.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Left: every SFT epoch and the RL checkpoint trained from it. Right: the full-coverage campaign's own readings. Every count judged 3x alone, majority vote, all 16 questions.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Every phase of every lane — one locked scoring mechanism</a:t>
            </a:r>
          </a:p>
        </p:txBody>
      </p:sp>
      <p:pic>
        <p:nvPicPr>
          <p:cNvPr id="4" name="Picture 3" descr="attempt_line.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4 → best trained 8, of 16 — and every SFT epoch, RL pass, and polish step scored by the SAME rule (data/uniform_board.json, regenerable by one command).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Sensitivity: the comparative grader's view of the same answers</a:t>
            </a:r>
          </a:p>
        </p:txBody>
      </p:sp>
      <p:pic>
        <p:nvPicPr>
          <p:cNvPr id="4" name="Picture 3" descr="method_bars_full16.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6 → best method 10, of 16. Adjacent methods differ by ~1 question — the training claim separates; the method ranking does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Sensitivity: the pipeline under the comparative grader</a:t>
            </a:r>
          </a:p>
        </p:txBody>
      </p:sp>
      <p:pic>
        <p:nvPicPr>
          <p:cNvPr id="4" name="Picture 3" descr="pipeline_curve.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7 → SFT 8 → chain 8, of 16, on the complete re-judge. Epoch 1 is a LOSS, and the stage still recovers by epoch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WHICH questions changed — more correct, not better-scored</a:t>
            </a:r>
          </a:p>
        </p:txBody>
      </p:sp>
      <p:pic>
        <p:nvPicPr>
          <p:cNvPr id="4" name="Picture 3" descr="pipeline_flips.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Between base and chain-final on the complete re-judge: 4 questions gained, 4 lost. Churn, not a march.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Can a 0.8B model HOLD novel domain knowledge in its weights, then be calibrated to answer only when it knows?</a:t>
            </a:r>
          </a:p>
          <a:p>
            <a:pPr>
              <a:spcAft>
                <a:spcPts val="400"/>
              </a:spcAft>
            </a:pPr>
            <a:r>
              <a:rPr sz="1500" b="0">
                <a:solidFill>
                  <a:srgbClr val="9AA6B4"/>
                </a:solidFill>
                <a:latin typeface="Segoe UI"/>
              </a:rPr>
              <a:t>     Deliberately not a format-tuning question.</a:t>
            </a:r>
          </a:p>
          <a:p>
            <a:pPr>
              <a:spcAft>
                <a:spcPts val="900"/>
              </a:spcAft>
            </a:pPr>
            <a:r>
              <a:rPr sz="1800" b="1">
                <a:solidFill>
                  <a:srgbClr val="E8ECF1"/>
                </a:solidFill>
                <a:latin typeface="Segoe UI"/>
              </a:rPr>
              <a:t>Three separable sub-questions:</a:t>
            </a:r>
          </a:p>
          <a:p>
            <a:pPr>
              <a:spcAft>
                <a:spcPts val="400"/>
              </a:spcAft>
            </a:pPr>
            <a:r>
              <a:rPr sz="1500" b="0">
                <a:solidFill>
                  <a:srgbClr val="9AA6B4"/>
                </a:solidFill>
                <a:latin typeface="Segoe UI"/>
              </a:rPr>
              <a:t>     DEPOSIT — does the fact enter the weights at all?   (CPT)</a:t>
            </a:r>
          </a:p>
          <a:p>
            <a:pPr>
              <a:spcAft>
                <a:spcPts val="400"/>
              </a:spcAft>
            </a:pPr>
            <a:r>
              <a:rPr sz="1500" b="0">
                <a:solidFill>
                  <a:srgbClr val="9AA6B4"/>
                </a:solidFill>
                <a:latin typeface="Segoe UI"/>
              </a:rPr>
              <a:t>     RETRIEVAL — can a question surface it?   (SFT)</a:t>
            </a:r>
          </a:p>
          <a:p>
            <a:pPr>
              <a:spcAft>
                <a:spcPts val="400"/>
              </a:spcAft>
            </a:pPr>
            <a:r>
              <a:rPr sz="1500" b="0">
                <a:solidFill>
                  <a:srgbClr val="9AA6B4"/>
                </a:solidFill>
                <a:latin typeface="Segoe UI"/>
              </a:rPr>
              <a:t>     CALIBRATION — answer when known, abstain when not.   (RL)</a:t>
            </a:r>
          </a:p>
          <a:p>
            <a:pPr>
              <a:spcAft>
                <a:spcPts val="900"/>
              </a:spcAft>
            </a:pPr>
            <a:r>
              <a:rPr sz="1800" b="1">
                <a:solidFill>
                  <a:srgbClr val="F5C56B"/>
                </a:solidFill>
                <a:latin typeface="Segoe UI"/>
              </a:rPr>
              <a:t>PART FOUR pares to SELF-SUFFICIENT questions (R3) to measure DEPOSIT and</a:t>
            </a:r>
          </a:p>
          <a:p>
            <a:pPr>
              <a:spcAft>
                <a:spcPts val="400"/>
              </a:spcAft>
            </a:pPr>
            <a:r>
              <a:rPr sz="1500" b="0">
                <a:solidFill>
                  <a:srgbClr val="9AA6B4"/>
                </a:solidFill>
                <a:latin typeface="Segoe UI"/>
              </a:rPr>
              <a:t>     RETRIEVAL cleanly on one lane. Calibration returns as future work there.</a:t>
            </a:r>
          </a:p>
          <a:p>
            <a:pPr>
              <a:spcAft>
                <a:spcPts val="900"/>
              </a:spcAft>
            </a:pPr>
            <a:r>
              <a:rPr sz="1800" b="1">
                <a:solidFill>
                  <a:srgbClr val="F5C56B"/>
                </a:solidFill>
                <a:latin typeface="Segoe UI"/>
              </a:rPr>
              <a:t>One 16 GB Quadro RTX 5000, ~13.4 GB usable, Turing — no bf16.</a:t>
            </a:r>
          </a:p>
          <a:p>
            <a:pPr>
              <a:spcAft>
                <a:spcPts val="400"/>
              </a:spcAft>
            </a:pPr>
            <a:r>
              <a:rPr sz="1500" b="0">
                <a:solidFill>
                  <a:srgbClr val="9AA6B4"/>
                </a:solidFill>
                <a:latin typeface="Segoe UI"/>
              </a:rPr>
              <a:t>     This constraint is architecture, not preference. It decides what is testable.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ACT 1</a:t>
            </a:r>
          </a:p>
          <a:p>
            <a:pPr>
              <a:spcAft>
                <a:spcPts val="600"/>
              </a:spcAft>
            </a:pPr>
            <a:r>
              <a:rPr sz="3400" b="1">
                <a:solidFill>
                  <a:srgbClr val="E8ECF1"/>
                </a:solidFill>
                <a:latin typeface="Segoe UI"/>
              </a:rPr>
              <a:t>The metric was measuring the wrong 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CPT 'worked' — macroF1 0.181 → 0.416 (+0.236)</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component</a:t>
                      </a:r>
                    </a:p>
                  </a:txBody>
                  <a:tcPr>
                    <a:solidFill>
                      <a:srgbClr val="5BC8F5"/>
                    </a:solidFill>
                  </a:tcPr>
                </a:tc>
                <a:tc>
                  <a:txBody>
                    <a:bodyPr/>
                    <a:lstStyle/>
                    <a:p>
                      <a:pPr>
                        <a:spcAft>
                          <a:spcPts val="0"/>
                        </a:spcAft>
                      </a:pPr>
                      <a:r>
                        <a:rPr sz="1300" b="1">
                          <a:solidFill>
                            <a:srgbClr val="12161C"/>
                          </a:solidFill>
                          <a:latin typeface="Segoe UI"/>
                        </a:rPr>
                        <a:t>before</a:t>
                      </a:r>
                    </a:p>
                  </a:txBody>
                  <a:tcPr>
                    <a:solidFill>
                      <a:srgbClr val="5BC8F5"/>
                    </a:solidFill>
                  </a:tcPr>
                </a:tc>
                <a:tc>
                  <a:txBody>
                    <a:bodyPr/>
                    <a:lstStyle/>
                    <a:p>
                      <a:pPr>
                        <a:spcAft>
                          <a:spcPts val="0"/>
                        </a:spcAft>
                      </a:pPr>
                      <a:r>
                        <a:rPr sz="1300" b="1">
                          <a:solidFill>
                            <a:srgbClr val="12161C"/>
                          </a:solidFill>
                          <a:latin typeface="Segoe UI"/>
                        </a:rPr>
                        <a:t>after</a:t>
                      </a:r>
                    </a:p>
                  </a:txBody>
                  <a:tcPr>
                    <a:solidFill>
                      <a:srgbClr val="5BC8F5"/>
                    </a:solidFill>
                  </a:tcPr>
                </a:tc>
                <a:tc>
                  <a:txBody>
                    <a:bodyPr/>
                    <a:lstStyle/>
                    <a:p>
                      <a:pPr>
                        <a:spcAft>
                          <a:spcPts val="0"/>
                        </a:spcAft>
                      </a:pPr>
                      <a:r>
                        <a:rPr sz="1300" b="1">
                          <a:solidFill>
                            <a:srgbClr val="12161C"/>
                          </a:solidFill>
                          <a:latin typeface="Segoe UI"/>
                        </a:rPr>
                        <a:t>reading</a:t>
                      </a:r>
                    </a:p>
                  </a:txBody>
                  <a:tcPr>
                    <a:solidFill>
                      <a:srgbClr val="5BC8F5"/>
                    </a:solidFill>
                  </a:tcPr>
                </a:tc>
              </a:tr>
              <a:tr h="411480">
                <a:tc>
                  <a:txBody>
                    <a:bodyPr/>
                    <a:lstStyle/>
                    <a:p>
                      <a:pPr>
                        <a:spcAft>
                          <a:spcPts val="0"/>
                        </a:spcAft>
                      </a:pPr>
                      <a:r>
                        <a:rPr sz="1200">
                          <a:solidFill>
                            <a:srgbClr val="F5C56B"/>
                          </a:solidFill>
                          <a:latin typeface="Segoe UI"/>
                        </a:rPr>
                        <a:t>macroF1</a:t>
                      </a:r>
                    </a:p>
                  </a:txBody>
                  <a:tcPr>
                    <a:solidFill>
                      <a:srgbClr val="1A1F27"/>
                    </a:solidFill>
                  </a:tcPr>
                </a:tc>
                <a:tc>
                  <a:txBody>
                    <a:bodyPr/>
                    <a:lstStyle/>
                    <a:p>
                      <a:pPr>
                        <a:spcAft>
                          <a:spcPts val="0"/>
                        </a:spcAft>
                      </a:pPr>
                      <a:r>
                        <a:rPr sz="1200">
                          <a:solidFill>
                            <a:srgbClr val="F5C56B"/>
                          </a:solidFill>
                          <a:latin typeface="Segoe UI"/>
                        </a:rPr>
                        <a:t>0.181</a:t>
                      </a:r>
                    </a:p>
                  </a:txBody>
                  <a:tcPr>
                    <a:solidFill>
                      <a:srgbClr val="1A1F27"/>
                    </a:solidFill>
                  </a:tcPr>
                </a:tc>
                <a:tc>
                  <a:txBody>
                    <a:bodyPr/>
                    <a:lstStyle/>
                    <a:p>
                      <a:pPr>
                        <a:spcAft>
                          <a:spcPts val="0"/>
                        </a:spcAft>
                      </a:pPr>
                      <a:r>
                        <a:rPr sz="1200">
                          <a:solidFill>
                            <a:srgbClr val="F5C56B"/>
                          </a:solidFill>
                          <a:latin typeface="Segoe UI"/>
                        </a:rPr>
                        <a:t>0.416</a:t>
                      </a:r>
                    </a:p>
                  </a:txBody>
                  <a:tcPr>
                    <a:solidFill>
                      <a:srgbClr val="1A1F27"/>
                    </a:solidFill>
                  </a:tcPr>
                </a:tc>
                <a:tc>
                  <a:txBody>
                    <a:bodyPr/>
                    <a:lstStyle/>
                    <a:p>
                      <a:pPr>
                        <a:spcAft>
                          <a:spcPts val="0"/>
                        </a:spcAft>
                      </a:pPr>
                      <a:r>
                        <a:rPr sz="1200">
                          <a:solidFill>
                            <a:srgbClr val="F5C56B"/>
                          </a:solidFill>
                          <a:latin typeface="Segoe UI"/>
                        </a:rPr>
                        <a:t>+0.236 — looks like success</a:t>
                      </a:r>
                    </a:p>
                  </a:txBody>
                  <a:tcPr>
                    <a:solidFill>
                      <a:srgbClr val="1A1F27"/>
                    </a:solidFill>
                  </a:tcPr>
                </a:tc>
              </a:tr>
              <a:tr h="411480">
                <a:tc>
                  <a:txBody>
                    <a:bodyPr/>
                    <a:lstStyle/>
                    <a:p>
                      <a:pPr>
                        <a:spcAft>
                          <a:spcPts val="0"/>
                        </a:spcAft>
                      </a:pPr>
                      <a:r>
                        <a:rPr sz="1200">
                          <a:solidFill>
                            <a:srgbClr val="9AA6B4"/>
                          </a:solidFill>
                          <a:latin typeface="Segoe UI"/>
                        </a:rPr>
                        <a:t>f1_abstain</a:t>
                      </a:r>
                    </a:p>
                  </a:txBody>
                  <a:tcPr>
                    <a:solidFill>
                      <a:srgbClr val="212731"/>
                    </a:solidFill>
                  </a:tcPr>
                </a:tc>
                <a:tc>
                  <a:txBody>
                    <a:bodyPr/>
                    <a:lstStyle/>
                    <a:p>
                      <a:pPr>
                        <a:spcAft>
                          <a:spcPts val="0"/>
                        </a:spcAft>
                      </a:pPr>
                      <a:r>
                        <a:rPr sz="1200">
                          <a:solidFill>
                            <a:srgbClr val="9AA6B4"/>
                          </a:solidFill>
                          <a:latin typeface="Segoe UI"/>
                        </a:rPr>
                        <a:t>0.250</a:t>
                      </a:r>
                    </a:p>
                  </a:txBody>
                  <a:tcPr>
                    <a:solidFill>
                      <a:srgbClr val="212731"/>
                    </a:solidFill>
                  </a:tcPr>
                </a:tc>
                <a:tc>
                  <a:txBody>
                    <a:bodyPr/>
                    <a:lstStyle/>
                    <a:p>
                      <a:pPr>
                        <a:spcAft>
                          <a:spcPts val="0"/>
                        </a:spcAft>
                      </a:pPr>
                      <a:r>
                        <a:rPr sz="1200">
                          <a:solidFill>
                            <a:srgbClr val="9AA6B4"/>
                          </a:solidFill>
                          <a:latin typeface="Segoe UI"/>
                        </a:rPr>
                        <a:t>0.740</a:t>
                      </a:r>
                    </a:p>
                  </a:txBody>
                  <a:tcPr>
                    <a:solidFill>
                      <a:srgbClr val="212731"/>
                    </a:solidFill>
                  </a:tcPr>
                </a:tc>
                <a:tc>
                  <a:txBody>
                    <a:bodyPr/>
                    <a:lstStyle/>
                    <a:p>
                      <a:pPr>
                        <a:spcAft>
                          <a:spcPts val="0"/>
                        </a:spcAft>
                      </a:pPr>
                      <a:r>
                        <a:rPr sz="1200">
                          <a:solidFill>
                            <a:srgbClr val="9AA6B4"/>
                          </a:solidFill>
                          <a:latin typeface="Segoe UI"/>
                        </a:rPr>
                        <a:t>+0.490 — learned to decline</a:t>
                      </a:r>
                    </a:p>
                  </a:txBody>
                  <a:tcPr>
                    <a:solidFill>
                      <a:srgbClr val="212731"/>
                    </a:solidFill>
                  </a:tcPr>
                </a:tc>
              </a:tr>
              <a:tr h="411480">
                <a:tc>
                  <a:txBody>
                    <a:bodyPr/>
                    <a:lstStyle/>
                    <a:p>
                      <a:pPr>
                        <a:spcAft>
                          <a:spcPts val="0"/>
                        </a:spcAft>
                      </a:pPr>
                      <a:r>
                        <a:rPr sz="1200">
                          <a:solidFill>
                            <a:srgbClr val="F27A7A"/>
                          </a:solidFill>
                          <a:latin typeface="Segoe UI"/>
                        </a:rPr>
                        <a:t>f1_answer</a:t>
                      </a:r>
                    </a:p>
                  </a:txBody>
                  <a:tcPr>
                    <a:solidFill>
                      <a:srgbClr val="1A1F27"/>
                    </a:solidFill>
                  </a:tcPr>
                </a:tc>
                <a:tc>
                  <a:txBody>
                    <a:bodyPr/>
                    <a:lstStyle/>
                    <a:p>
                      <a:pPr>
                        <a:spcAft>
                          <a:spcPts val="0"/>
                        </a:spcAft>
                      </a:pPr>
                      <a:r>
                        <a:rPr sz="1200">
                          <a:solidFill>
                            <a:srgbClr val="F27A7A"/>
                          </a:solidFill>
                          <a:latin typeface="Segoe UI"/>
                        </a:rPr>
                        <a:t>0.111</a:t>
                      </a:r>
                    </a:p>
                  </a:txBody>
                  <a:tcPr>
                    <a:solidFill>
                      <a:srgbClr val="1A1F27"/>
                    </a:solidFill>
                  </a:tcPr>
                </a:tc>
                <a:tc>
                  <a:txBody>
                    <a:bodyPr/>
                    <a:lstStyle/>
                    <a:p>
                      <a:pPr>
                        <a:spcAft>
                          <a:spcPts val="0"/>
                        </a:spcAft>
                      </a:pPr>
                      <a:r>
                        <a:rPr sz="1200">
                          <a:solidFill>
                            <a:srgbClr val="F27A7A"/>
                          </a:solidFill>
                          <a:latin typeface="Segoe UI"/>
                        </a:rPr>
                        <a:t>0.095</a:t>
                      </a:r>
                    </a:p>
                  </a:txBody>
                  <a:tcPr>
                    <a:solidFill>
                      <a:srgbClr val="1A1F27"/>
                    </a:solidFill>
                  </a:tcPr>
                </a:tc>
                <a:tc>
                  <a:txBody>
                    <a:bodyPr/>
                    <a:lstStyle/>
                    <a:p>
                      <a:pPr>
                        <a:spcAft>
                          <a:spcPts val="0"/>
                        </a:spcAft>
                      </a:pPr>
                      <a:r>
                        <a:rPr sz="1200">
                          <a:solidFill>
                            <a:srgbClr val="F27A7A"/>
                          </a:solidFill>
                          <a:latin typeface="Segoe UI"/>
                        </a:rPr>
                        <a:t>−0.016 — NO new knowledge</a:t>
                      </a:r>
                    </a:p>
                  </a:txBody>
                  <a:tcPr>
                    <a:solidFill>
                      <a:srgbClr val="1A1F27"/>
                    </a:solidFill>
                  </a:tcPr>
                </a:tc>
              </a:tr>
              <a:tr h="411480">
                <a:tc>
                  <a:txBody>
                    <a:bodyPr/>
                    <a:lstStyle/>
                    <a:p>
                      <a:pPr>
                        <a:spcAft>
                          <a:spcPts val="0"/>
                        </a:spcAft>
                      </a:pPr>
                      <a:r>
                        <a:rPr sz="1200">
                          <a:solidFill>
                            <a:srgbClr val="9AA6B4"/>
                          </a:solidFill>
                          <a:latin typeface="Segoe UI"/>
                        </a:rPr>
                        <a:t>tn_correct</a:t>
                      </a:r>
                    </a:p>
                  </a:txBody>
                  <a:tcPr>
                    <a:solidFill>
                      <a:srgbClr val="212731"/>
                    </a:solidFill>
                  </a:tcPr>
                </a:tc>
                <a:tc>
                  <a:txBody>
                    <a:bodyPr/>
                    <a:lstStyle/>
                    <a:p>
                      <a:pPr>
                        <a:spcAft>
                          <a:spcPts val="0"/>
                        </a:spcAft>
                      </a:pPr>
                      <a:r>
                        <a:rPr sz="1200">
                          <a:solidFill>
                            <a:srgbClr val="9AA6B4"/>
                          </a:solidFill>
                          <a:latin typeface="Segoe UI"/>
                        </a:rPr>
                        <a:t>2</a:t>
                      </a:r>
                    </a:p>
                  </a:txBody>
                  <a:tcPr>
                    <a:solidFill>
                      <a:srgbClr val="212731"/>
                    </a:solidFill>
                  </a:tcPr>
                </a:tc>
                <a:tc>
                  <a:txBody>
                    <a:bodyPr/>
                    <a:lstStyle/>
                    <a:p>
                      <a:pPr>
                        <a:spcAft>
                          <a:spcPts val="0"/>
                        </a:spcAft>
                      </a:pPr>
                      <a:r>
                        <a:rPr sz="1200">
                          <a:solidFill>
                            <a:srgbClr val="9AA6B4"/>
                          </a:solidFill>
                          <a:latin typeface="Segoe UI"/>
                        </a:rPr>
                        <a:t>2</a:t>
                      </a:r>
                    </a:p>
                  </a:txBody>
                  <a:tcPr>
                    <a:solidFill>
                      <a:srgbClr val="212731"/>
                    </a:solidFill>
                  </a:tcPr>
                </a:tc>
                <a:tc>
                  <a:txBody>
                    <a:bodyPr/>
                    <a:lstStyle/>
                    <a:p>
                      <a:pPr>
                        <a:spcAft>
                          <a:spcPts val="0"/>
                        </a:spcAft>
                      </a:pPr>
                      <a:r>
                        <a:rPr sz="1200">
                          <a:solidFill>
                            <a:srgbClr val="9AA6B4"/>
                          </a:solidFill>
                          <a:latin typeface="Segoe UI"/>
                        </a:rPr>
                        <a:t>unchanged</a:t>
                      </a:r>
                    </a:p>
                  </a:txBody>
                  <a:tcPr>
                    <a:solidFill>
                      <a:srgbClr val="212731"/>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fix — collapse to one regime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R3 only: no context, self-contained question, verifiable answer.</a:t>
            </a:r>
          </a:p>
          <a:p>
            <a:pPr>
              <a:spcAft>
                <a:spcPts val="400"/>
              </a:spcAft>
            </a:pPr>
            <a:r>
              <a:rPr sz="1500" b="0">
                <a:solidFill>
                  <a:srgbClr val="9AA6B4"/>
                </a:solidFill>
                <a:latin typeface="Segoe UI"/>
              </a:rPr>
              <a:t>     The only regime that asks whether the fact is IN the weights.</a:t>
            </a:r>
          </a:p>
          <a:p>
            <a:pPr>
              <a:spcAft>
                <a:spcPts val="900"/>
              </a:spcAft>
            </a:pPr>
            <a:r>
              <a:rPr sz="1800" b="1">
                <a:solidFill>
                  <a:srgbClr val="E8ECF1"/>
                </a:solidFill>
                <a:latin typeface="Segoe UI"/>
              </a:rPr>
              <a:t>Cut, and why:</a:t>
            </a:r>
          </a:p>
          <a:p>
            <a:pPr>
              <a:spcAft>
                <a:spcPts val="400"/>
              </a:spcAft>
            </a:pPr>
            <a:r>
              <a:rPr sz="1500" b="0">
                <a:solidFill>
                  <a:srgbClr val="9AA6B4"/>
                </a:solidFill>
                <a:latin typeface="Segoe UI"/>
              </a:rPr>
              <a:t>     R1 (context present, answerable) — measures reading, not deposit</a:t>
            </a:r>
          </a:p>
          <a:p>
            <a:pPr>
              <a:spcAft>
                <a:spcPts val="400"/>
              </a:spcAft>
            </a:pPr>
            <a:r>
              <a:rPr sz="1500" b="0">
                <a:solidFill>
                  <a:srgbClr val="9AA6B4"/>
                </a:solidFill>
                <a:latin typeface="Segoe UI"/>
              </a:rPr>
              <a:t>     R2 / R4 (unanswerable) — measure calibration, not deposit</a:t>
            </a:r>
          </a:p>
          <a:p>
            <a:pPr>
              <a:spcAft>
                <a:spcPts val="400"/>
              </a:spcAft>
            </a:pPr>
            <a:r>
              <a:rPr sz="1500" b="0">
                <a:solidFill>
                  <a:srgbClr val="9AA6B4"/>
                </a:solidFill>
                <a:latin typeface="Segoe UI"/>
              </a:rPr>
              <a:t>     262-skill breadth — the point was never 200 skills</a:t>
            </a:r>
          </a:p>
          <a:p>
            <a:pPr>
              <a:spcAft>
                <a:spcPts val="900"/>
              </a:spcAft>
            </a:pPr>
            <a:r>
              <a:rPr sz="1800" b="1">
                <a:solidFill>
                  <a:srgbClr val="5BC8F5"/>
                </a:solidFill>
                <a:latin typeface="Segoe UI"/>
              </a:rPr>
              <a:t>R3 cannot be gamed by abstention: there is no abstention class to inflate.</a:t>
            </a:r>
          </a:p>
          <a:p>
            <a:pPr>
              <a:spcAft>
                <a:spcPts val="900"/>
              </a:spcAft>
            </a:pPr>
            <a:r>
              <a:rPr sz="1800" b="1">
                <a:solidFill>
                  <a:srgbClr val="E8ECF1"/>
                </a:solidFill>
                <a:latin typeface="Segoe UI"/>
              </a:rPr>
              <a:t>Side effect: 3,755 CPT records → ~200. Hours per epoch → minutes.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ACT 2</a:t>
            </a:r>
          </a:p>
          <a:p>
            <a:pPr>
              <a:spcAft>
                <a:spcPts val="600"/>
              </a:spcAft>
            </a:pPr>
            <a:r>
              <a:rPr sz="3400" b="1">
                <a:solidFill>
                  <a:srgbClr val="E8ECF1"/>
                </a:solidFill>
                <a:latin typeface="Segoe UI"/>
              </a:rPr>
              <a:t>What survives the handoff — and what does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An adapter-trained deposit does not survive RL</a:t>
            </a:r>
          </a:p>
        </p:txBody>
      </p:sp>
      <p:graphicFrame>
        <p:nvGraphicFramePr>
          <p:cNvPr id="4" name="Table 3"/>
          <p:cNvGraphicFramePr>
            <a:graphicFrameLocks noGrp="1"/>
          </p:cNvGraphicFramePr>
          <p:nvPr/>
        </p:nvGraphicFramePr>
        <p:xfrm>
          <a:off x="868680" y="1463040"/>
          <a:ext cx="10424160" cy="2788920"/>
        </p:xfrm>
        <a:graphic>
          <a:graphicData uri="http://schemas.openxmlformats.org/drawingml/2006/table">
            <a:tbl>
              <a:tblPr>
                <a:tableStyleId>{5C22544A-7EE6-4342-B048-85BDC9FD1C3A}</a:tableStyleId>
              </a:tblPr>
              <a:tblGrid>
                <a:gridCol w="3474720"/>
                <a:gridCol w="3474720"/>
                <a:gridCol w="3474720"/>
              </a:tblGrid>
              <a:tr h="398417">
                <a:tc>
                  <a:txBody>
                    <a:bodyPr/>
                    <a:lstStyle/>
                    <a:p>
                      <a:pPr>
                        <a:spcAft>
                          <a:spcPts val="0"/>
                        </a:spcAft>
                      </a:pPr>
                      <a:r>
                        <a:rPr sz="1300" b="1">
                          <a:solidFill>
                            <a:srgbClr val="12161C"/>
                          </a:solidFill>
                          <a:latin typeface="Segoe UI"/>
                        </a:rPr>
                        <a:t>configuration</a:t>
                      </a:r>
                    </a:p>
                  </a:txBody>
                  <a:tcPr>
                    <a:solidFill>
                      <a:srgbClr val="5BC8F5"/>
                    </a:solidFill>
                  </a:tcPr>
                </a:tc>
                <a:tc>
                  <a:txBody>
                    <a:bodyPr/>
                    <a:lstStyle/>
                    <a:p>
                      <a:pPr>
                        <a:spcAft>
                          <a:spcPts val="0"/>
                        </a:spcAft>
                      </a:pPr>
                      <a:r>
                        <a:rPr sz="1300" b="1">
                          <a:solidFill>
                            <a:srgbClr val="12161C"/>
                          </a:solidFill>
                          <a:latin typeface="Segoe UI"/>
                        </a:rPr>
                        <a:t>macroF1</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r>
              <a:tr h="398417">
                <a:tc>
                  <a:txBody>
                    <a:bodyPr/>
                    <a:lstStyle/>
                    <a:p>
                      <a:pPr>
                        <a:spcAft>
                          <a:spcPts val="0"/>
                        </a:spcAft>
                      </a:pPr>
                      <a:r>
                        <a:rPr sz="1200">
                          <a:solidFill>
                            <a:srgbClr val="9AA6B4"/>
                          </a:solidFill>
                          <a:latin typeface="Segoe UI"/>
                        </a:rPr>
                        <a:t>LoRA SFT (deposit only)</a:t>
                      </a:r>
                    </a:p>
                  </a:txBody>
                  <a:tcPr>
                    <a:solidFill>
                      <a:srgbClr val="1A1F27"/>
                    </a:solidFill>
                  </a:tcPr>
                </a:tc>
                <a:tc>
                  <a:txBody>
                    <a:bodyPr/>
                    <a:lstStyle/>
                    <a:p>
                      <a:pPr>
                        <a:spcAft>
                          <a:spcPts val="0"/>
                        </a:spcAft>
                      </a:pPr>
                      <a:r>
                        <a:rPr sz="1200">
                          <a:solidFill>
                            <a:srgbClr val="9AA6B4"/>
                          </a:solidFill>
                          <a:latin typeface="Segoe UI"/>
                        </a:rPr>
                        <a:t>0.063 → 0.327</a:t>
                      </a:r>
                    </a:p>
                  </a:txBody>
                  <a:tcPr>
                    <a:solidFill>
                      <a:srgbClr val="1A1F27"/>
                    </a:solidFill>
                  </a:tcPr>
                </a:tc>
                <a:tc>
                  <a:txBody>
                    <a:bodyPr/>
                    <a:lstStyle/>
                    <a:p>
                      <a:pPr>
                        <a:spcAft>
                          <a:spcPts val="0"/>
                        </a:spcAft>
                      </a:pPr>
                      <a:r>
                        <a:rPr sz="1200">
                          <a:solidFill>
                            <a:srgbClr val="9AA6B4"/>
                          </a:solidFill>
                          <a:latin typeface="Segoe UI"/>
                        </a:rPr>
                        <a:t>deposits knowledge</a:t>
                      </a:r>
                    </a:p>
                  </a:txBody>
                  <a:tcPr>
                    <a:solidFill>
                      <a:srgbClr val="1A1F27"/>
                    </a:solidFill>
                  </a:tcPr>
                </a:tc>
              </a:tr>
              <a:tr h="398417">
                <a:tc>
                  <a:txBody>
                    <a:bodyPr/>
                    <a:lstStyle/>
                    <a:p>
                      <a:pPr>
                        <a:spcAft>
                          <a:spcPts val="0"/>
                        </a:spcAft>
                      </a:pPr>
                      <a:r>
                        <a:rPr sz="1200">
                          <a:solidFill>
                            <a:srgbClr val="F27A7A"/>
                          </a:solidFill>
                          <a:latin typeface="Segoe UI"/>
                        </a:rPr>
                        <a:t>LoRA SFT → RL</a:t>
                      </a:r>
                    </a:p>
                  </a:txBody>
                  <a:tcPr>
                    <a:solidFill>
                      <a:srgbClr val="212731"/>
                    </a:solidFill>
                  </a:tcPr>
                </a:tc>
                <a:tc>
                  <a:txBody>
                    <a:bodyPr/>
                    <a:lstStyle/>
                    <a:p>
                      <a:pPr>
                        <a:spcAft>
                          <a:spcPts val="0"/>
                        </a:spcAft>
                      </a:pPr>
                      <a:r>
                        <a:rPr sz="1200">
                          <a:solidFill>
                            <a:srgbClr val="F27A7A"/>
                          </a:solidFill>
                          <a:latin typeface="Segoe UI"/>
                        </a:rPr>
                        <a:t>0.327 → 0.170</a:t>
                      </a:r>
                    </a:p>
                  </a:txBody>
                  <a:tcPr>
                    <a:solidFill>
                      <a:srgbClr val="212731"/>
                    </a:solidFill>
                  </a:tcPr>
                </a:tc>
                <a:tc>
                  <a:txBody>
                    <a:bodyPr/>
                    <a:lstStyle/>
                    <a:p>
                      <a:pPr>
                        <a:spcAft>
                          <a:spcPts val="0"/>
                        </a:spcAft>
                      </a:pPr>
                      <a:r>
                        <a:rPr sz="1200">
                          <a:solidFill>
                            <a:srgbClr val="F27A7A"/>
                          </a:solidFill>
                          <a:latin typeface="Segoe UI"/>
                        </a:rPr>
                        <a:t>DESTROYED</a:t>
                      </a:r>
                    </a:p>
                  </a:txBody>
                  <a:tcPr>
                    <a:solidFill>
                      <a:srgbClr val="212731"/>
                    </a:solidFill>
                  </a:tcPr>
                </a:tc>
              </a:tr>
              <a:tr h="398417">
                <a:tc>
                  <a:txBody>
                    <a:bodyPr/>
                    <a:lstStyle/>
                    <a:p>
                      <a:pPr>
                        <a:spcAft>
                          <a:spcPts val="0"/>
                        </a:spcAft>
                      </a:pPr>
                      <a:r>
                        <a:rPr sz="1200">
                          <a:solidFill>
                            <a:srgbClr val="F27A7A"/>
                          </a:solidFill>
                          <a:latin typeface="Segoe UI"/>
                        </a:rPr>
                        <a:t>LoRA SFT → merge → LoRA RL (α 32→64)</a:t>
                      </a:r>
                    </a:p>
                  </a:txBody>
                  <a:tcPr>
                    <a:solidFill>
                      <a:srgbClr val="1A1F27"/>
                    </a:solidFill>
                  </a:tcPr>
                </a:tc>
                <a:tc>
                  <a:txBody>
                    <a:bodyPr/>
                    <a:lstStyle/>
                    <a:p>
                      <a:pPr>
                        <a:spcAft>
                          <a:spcPts val="0"/>
                        </a:spcAft>
                      </a:pPr>
                      <a:r>
                        <a:rPr sz="1200">
                          <a:solidFill>
                            <a:srgbClr val="F27A7A"/>
                          </a:solidFill>
                          <a:latin typeface="Segoe UI"/>
                        </a:rPr>
                        <a:t>0.442 → 0.170</a:t>
                      </a:r>
                    </a:p>
                  </a:txBody>
                  <a:tcPr>
                    <a:solidFill>
                      <a:srgbClr val="1A1F27"/>
                    </a:solidFill>
                  </a:tcPr>
                </a:tc>
                <a:tc>
                  <a:txBody>
                    <a:bodyPr/>
                    <a:lstStyle/>
                    <a:p>
                      <a:pPr>
                        <a:spcAft>
                          <a:spcPts val="0"/>
                        </a:spcAft>
                      </a:pPr>
                      <a:r>
                        <a:rPr sz="1200">
                          <a:solidFill>
                            <a:srgbClr val="F27A7A"/>
                          </a:solidFill>
                          <a:latin typeface="Segoe UI"/>
                        </a:rPr>
                        <a:t>DEAD</a:t>
                      </a:r>
                    </a:p>
                  </a:txBody>
                  <a:tcPr>
                    <a:solidFill>
                      <a:srgbClr val="1A1F27"/>
                    </a:solidFill>
                  </a:tcPr>
                </a:tc>
              </a:tr>
              <a:tr h="398417">
                <a:tc>
                  <a:txBody>
                    <a:bodyPr/>
                    <a:lstStyle/>
                    <a:p>
                      <a:pPr>
                        <a:spcAft>
                          <a:spcPts val="0"/>
                        </a:spcAft>
                      </a:pPr>
                      <a:r>
                        <a:rPr sz="1200">
                          <a:solidFill>
                            <a:srgbClr val="F27A7A"/>
                          </a:solidFill>
                          <a:latin typeface="Segoe UI"/>
                        </a:rPr>
                        <a:t>continue same adapter → RL (3 lrs)</a:t>
                      </a:r>
                    </a:p>
                  </a:txBody>
                  <a:tcPr>
                    <a:solidFill>
                      <a:srgbClr val="212731"/>
                    </a:solidFill>
                  </a:tcPr>
                </a:tc>
                <a:tc>
                  <a:txBody>
                    <a:bodyPr/>
                    <a:lstStyle/>
                    <a:p>
                      <a:pPr>
                        <a:spcAft>
                          <a:spcPts val="0"/>
                        </a:spcAft>
                      </a:pPr>
                      <a:r>
                        <a:rPr sz="1200">
                          <a:solidFill>
                            <a:srgbClr val="F27A7A"/>
                          </a:solidFill>
                          <a:latin typeface="Segoe UI"/>
                        </a:rPr>
                        <a:t>≈ 0.26</a:t>
                      </a:r>
                    </a:p>
                  </a:txBody>
                  <a:tcPr>
                    <a:solidFill>
                      <a:srgbClr val="212731"/>
                    </a:solidFill>
                  </a:tcPr>
                </a:tc>
                <a:tc>
                  <a:txBody>
                    <a:bodyPr/>
                    <a:lstStyle/>
                    <a:p>
                      <a:pPr>
                        <a:spcAft>
                          <a:spcPts val="0"/>
                        </a:spcAft>
                      </a:pPr>
                      <a:r>
                        <a:rPr sz="1200">
                          <a:solidFill>
                            <a:srgbClr val="F27A7A"/>
                          </a:solidFill>
                          <a:latin typeface="Segoe UI"/>
                        </a:rPr>
                        <a:t>DEAD at every lr</a:t>
                      </a:r>
                    </a:p>
                  </a:txBody>
                  <a:tcPr>
                    <a:solidFill>
                      <a:srgbClr val="212731"/>
                    </a:solidFill>
                  </a:tcPr>
                </a:tc>
              </a:tr>
              <a:tr h="398417">
                <a:tc>
                  <a:txBody>
                    <a:bodyPr/>
                    <a:lstStyle/>
                    <a:p>
                      <a:pPr>
                        <a:spcAft>
                          <a:spcPts val="0"/>
                        </a:spcAft>
                      </a:pPr>
                      <a:r>
                        <a:rPr sz="1200">
                          <a:solidFill>
                            <a:srgbClr val="6ED38A"/>
                          </a:solidFill>
                          <a:latin typeface="Segoe UI"/>
                        </a:rPr>
                        <a:t>Full-param SFT</a:t>
                      </a:r>
                    </a:p>
                  </a:txBody>
                  <a:tcPr>
                    <a:solidFill>
                      <a:srgbClr val="1A1F27"/>
                    </a:solidFill>
                  </a:tcPr>
                </a:tc>
                <a:tc>
                  <a:txBody>
                    <a:bodyPr/>
                    <a:lstStyle/>
                    <a:p>
                      <a:pPr>
                        <a:spcAft>
                          <a:spcPts val="0"/>
                        </a:spcAft>
                      </a:pPr>
                      <a:r>
                        <a:rPr sz="1200">
                          <a:solidFill>
                            <a:srgbClr val="6ED38A"/>
                          </a:solidFill>
                          <a:latin typeface="Segoe UI"/>
                        </a:rPr>
                        <a:t>0.420</a:t>
                      </a:r>
                    </a:p>
                  </a:txBody>
                  <a:tcPr>
                    <a:solidFill>
                      <a:srgbClr val="1A1F27"/>
                    </a:solidFill>
                  </a:tcPr>
                </a:tc>
                <a:tc>
                  <a:txBody>
                    <a:bodyPr/>
                    <a:lstStyle/>
                    <a:p>
                      <a:pPr>
                        <a:spcAft>
                          <a:spcPts val="0"/>
                        </a:spcAft>
                      </a:pPr>
                      <a:r>
                        <a:rPr sz="1200">
                          <a:solidFill>
                            <a:srgbClr val="6ED38A"/>
                          </a:solidFill>
                          <a:latin typeface="Segoe UI"/>
                        </a:rPr>
                        <a:t>survives</a:t>
                      </a:r>
                    </a:p>
                  </a:txBody>
                  <a:tcPr>
                    <a:solidFill>
                      <a:srgbClr val="1A1F27"/>
                    </a:solidFill>
                  </a:tcPr>
                </a:tc>
              </a:tr>
              <a:tr h="398418">
                <a:tc>
                  <a:txBody>
                    <a:bodyPr/>
                    <a:lstStyle/>
                    <a:p>
                      <a:pPr>
                        <a:spcAft>
                          <a:spcPts val="0"/>
                        </a:spcAft>
                      </a:pPr>
                      <a:r>
                        <a:rPr sz="1200">
                          <a:solidFill>
                            <a:srgbClr val="6ED38A"/>
                          </a:solidFill>
                          <a:latin typeface="Segoe UI"/>
                        </a:rPr>
                        <a:t>Full-param SFT → FRESH LoRA RL</a:t>
                      </a:r>
                    </a:p>
                  </a:txBody>
                  <a:tcPr>
                    <a:solidFill>
                      <a:srgbClr val="212731"/>
                    </a:solidFill>
                  </a:tcPr>
                </a:tc>
                <a:tc>
                  <a:txBody>
                    <a:bodyPr/>
                    <a:lstStyle/>
                    <a:p>
                      <a:pPr>
                        <a:spcAft>
                          <a:spcPts val="0"/>
                        </a:spcAft>
                      </a:pPr>
                      <a:r>
                        <a:rPr sz="1200">
                          <a:solidFill>
                            <a:srgbClr val="6ED38A"/>
                          </a:solidFill>
                          <a:latin typeface="Segoe UI"/>
                        </a:rPr>
                        <a:t>0.452 → 0.536 → 0.548</a:t>
                      </a:r>
                    </a:p>
                  </a:txBody>
                  <a:tcPr>
                    <a:solidFill>
                      <a:srgbClr val="212731"/>
                    </a:solidFill>
                  </a:tcPr>
                </a:tc>
                <a:tc>
                  <a:txBody>
                    <a:bodyPr/>
                    <a:lstStyle/>
                    <a:p>
                      <a:pPr>
                        <a:spcAft>
                          <a:spcPts val="0"/>
                        </a:spcAft>
                      </a:pPr>
                      <a:r>
                        <a:rPr sz="1200">
                          <a:solidFill>
                            <a:srgbClr val="6ED38A"/>
                          </a:solidFill>
                          <a:latin typeface="Segoe UI"/>
                        </a:rPr>
                        <a:t>PROVEN</a:t>
                      </a:r>
                    </a:p>
                  </a:txBody>
                  <a:tcPr>
                    <a:solidFill>
                      <a:srgbClr val="212731"/>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State the finding precisely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Stage-specific — not a blanket 'full-param beats adapters'.</a:t>
            </a:r>
          </a:p>
          <a:p>
            <a:pPr>
              <a:spcAft>
                <a:spcPts val="900"/>
              </a:spcAft>
            </a:pPr>
            <a:r>
              <a:rPr sz="1800" b="1">
                <a:solidFill>
                  <a:srgbClr val="6ED38A"/>
                </a:solidFill>
                <a:latin typeface="Segoe UI"/>
              </a:rPr>
              <a:t>INJECTION (SFT) must be full-parameter.</a:t>
            </a:r>
          </a:p>
          <a:p>
            <a:pPr>
              <a:spcAft>
                <a:spcPts val="400"/>
              </a:spcAft>
            </a:pPr>
            <a:r>
              <a:rPr sz="1500" b="0">
                <a:solidFill>
                  <a:srgbClr val="9AA6B4"/>
                </a:solidFill>
                <a:latin typeface="Segoe UI"/>
              </a:rPr>
              <a:t>     A LoRA-trained ΔW is a different update than a full-param one, and RL destroys that difference.</a:t>
            </a:r>
          </a:p>
          <a:p>
            <a:pPr>
              <a:spcAft>
                <a:spcPts val="900"/>
              </a:spcAft>
            </a:pPr>
            <a:r>
              <a:rPr sz="1800" b="1">
                <a:solidFill>
                  <a:srgbClr val="6ED38A"/>
                </a:solidFill>
                <a:latin typeface="Segoe UI"/>
              </a:rPr>
              <a:t>CALIBRATION (RL) is a FRESH zero-init LoRA — and it works.</a:t>
            </a:r>
          </a:p>
          <a:p>
            <a:pPr>
              <a:spcAft>
                <a:spcPts val="400"/>
              </a:spcAft>
            </a:pPr>
            <a:r>
              <a:rPr sz="1500" b="0">
                <a:solidFill>
                  <a:srgbClr val="9AA6B4"/>
                </a:solidFill>
                <a:latin typeface="Segoe UI"/>
              </a:rPr>
              <a:t>     r=16, α=32, G=4 rollouts, frozen 2B judge → 0.452 → 0.548.</a:t>
            </a:r>
          </a:p>
          <a:p>
            <a:pPr>
              <a:spcAft>
                <a:spcPts val="900"/>
              </a:spcAft>
            </a:pPr>
            <a:r>
              <a:rPr sz="1800" b="1">
                <a:solidFill>
                  <a:srgbClr val="6ED38A"/>
                </a:solidFill>
                <a:latin typeface="Segoe UI"/>
              </a:rPr>
              <a:t>Full-parameter RL: NOT_RUN for months — RESOLVED 2026-09-02.</a:t>
            </a:r>
          </a:p>
          <a:p>
            <a:pPr>
              <a:spcAft>
                <a:spcPts val="400"/>
              </a:spcAft>
            </a:pPr>
            <a:r>
              <a:rPr sz="1500" b="0">
                <a:solidFill>
                  <a:srgbClr val="9AA6B4"/>
                </a:solidFill>
                <a:latin typeface="Segoe UI"/>
              </a:rPr>
              <a:t>     8-bit Adam + frozen embeddings + sequence caps made it fit (9.4 GiB peak);</a:t>
            </a:r>
          </a:p>
          <a:p>
            <a:pPr>
              <a:spcAft>
                <a:spcPts val="400"/>
              </a:spcAft>
            </a:pPr>
            <a:r>
              <a:rPr sz="1500" b="0">
                <a:solidFill>
                  <a:srgbClr val="9AA6B4"/>
                </a:solidFill>
                <a:latin typeface="Segoe UI"/>
              </a:rPr>
              <a:t>     a playbooked campaign then WON: 9/16 vs SFT 4/16, one receipt.</a:t>
            </a:r>
          </a:p>
          <a:p>
            <a:pPr>
              <a:spcAft>
                <a:spcPts val="900"/>
              </a:spcAft>
            </a:pPr>
            <a:r>
              <a:rPr sz="1800" b="1">
                <a:solidFill>
                  <a:srgbClr val="6ED38A"/>
                </a:solidFill>
                <a:latin typeface="Segoe UI"/>
              </a:rPr>
              <a:t>The full-param-vs-adapter comparison finally EXISTS — see the postscript.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adapter returns at the end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Adapters were rejected as the INJECTION mechanism — never as the PACKAGING format.</a:t>
            </a:r>
          </a:p>
          <a:p>
            <a:pPr>
              <a:spcAft>
                <a:spcPts val="900"/>
              </a:spcAft>
            </a:pPr>
            <a:r>
              <a:rPr sz="1800" b="1">
                <a:solidFill>
                  <a:srgbClr val="E8ECF1"/>
                </a:solidFill>
                <a:latin typeface="Segoe UI"/>
              </a:rPr>
              <a:t>Train full-param through the chain, then export each stage's Δ as an adapter:</a:t>
            </a:r>
          </a:p>
          <a:p>
            <a:pPr>
              <a:spcAft>
                <a:spcPts val="400"/>
              </a:spcAft>
            </a:pPr>
            <a:r>
              <a:rPr sz="1500" b="0">
                <a:solidFill>
                  <a:srgbClr val="6ED38A"/>
                </a:solidFill>
                <a:latin typeface="Segoe UI"/>
              </a:rPr>
              <a:t>     base + CPT-LoRA + SFT-LoRA + RL-LoRA — compose by summation, no merge</a:t>
            </a:r>
          </a:p>
          <a:p>
            <a:pPr>
              <a:spcAft>
                <a:spcPts val="900"/>
              </a:spcAft>
            </a:pPr>
            <a:r>
              <a:rPr sz="1800" b="1">
                <a:solidFill>
                  <a:srgbClr val="5BC8F5"/>
                </a:solidFill>
                <a:latin typeface="Segoe UI"/>
              </a:rPr>
              <a:t>Wrong tool in the middle. Right tool at both ends.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ACT 3</a:t>
            </a:r>
          </a:p>
          <a:p>
            <a:pPr>
              <a:spcAft>
                <a:spcPts val="600"/>
              </a:spcAft>
            </a:pPr>
            <a:r>
              <a:rPr sz="3400" b="1">
                <a:solidFill>
                  <a:srgbClr val="E8ECF1"/>
                </a:solidFill>
                <a:latin typeface="Segoe UI"/>
              </a:rPr>
              <a:t>Building an instrument you can trust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Mimic the distribution, not the data</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VibeThinker contributes STYLE and DISTRIBUTION — zero items.</a:t>
            </a:r>
          </a:p>
          <a:p>
            <a:pPr>
              <a:spcAft>
                <a:spcPts val="900"/>
              </a:spcAft>
            </a:pPr>
            <a:r>
              <a:rPr sz="1800" b="1">
                <a:solidFill>
                  <a:srgbClr val="E8ECF1"/>
                </a:solidFill>
                <a:latin typeface="Segoe UI"/>
              </a:rPr>
              <a:t>Its 18 R3/general items give four question types:</a:t>
            </a:r>
          </a:p>
          <a:p>
            <a:pPr>
              <a:spcAft>
                <a:spcPts val="400"/>
              </a:spcAft>
            </a:pPr>
            <a:r>
              <a:rPr sz="1500" b="0">
                <a:solidFill>
                  <a:srgbClr val="9AA6B4"/>
                </a:solidFill>
                <a:latin typeface="Segoe UI"/>
              </a:rPr>
              <a:t>     Math — derivation / numeric computation</a:t>
            </a:r>
          </a:p>
          <a:p>
            <a:pPr>
              <a:spcAft>
                <a:spcPts val="400"/>
              </a:spcAft>
            </a:pPr>
            <a:r>
              <a:rPr sz="1500" b="0">
                <a:solidFill>
                  <a:srgbClr val="9AA6B4"/>
                </a:solidFill>
                <a:latin typeface="Segoe UI"/>
              </a:rPr>
              <a:t>     Code — implementation, parameter behaviour</a:t>
            </a:r>
          </a:p>
          <a:p>
            <a:pPr>
              <a:spcAft>
                <a:spcPts val="400"/>
              </a:spcAft>
            </a:pPr>
            <a:r>
              <a:rPr sz="1500" b="0">
                <a:solidFill>
                  <a:srgbClr val="9AA6B4"/>
                </a:solidFill>
                <a:latin typeface="Segoe UI"/>
              </a:rPr>
              <a:t>     STEM — causal 'why', not a definition</a:t>
            </a:r>
          </a:p>
          <a:p>
            <a:pPr>
              <a:spcAft>
                <a:spcPts val="400"/>
              </a:spcAft>
            </a:pPr>
            <a:r>
              <a:rPr sz="1500" b="0">
                <a:solidFill>
                  <a:srgbClr val="9AA6B4"/>
                </a:solidFill>
                <a:latin typeface="Segoe UI"/>
              </a:rPr>
              <a:t>     Instruction — procedural 'how'</a:t>
            </a:r>
          </a:p>
          <a:p>
            <a:pPr>
              <a:spcAft>
                <a:spcPts val="900"/>
              </a:spcAft>
            </a:pPr>
            <a:r>
              <a:rPr sz="1800" b="1">
                <a:solidFill>
                  <a:srgbClr val="E8ECF1"/>
                </a:solidFill>
                <a:latin typeface="Segoe UI"/>
              </a:rPr>
              <a:t>Each prompt gets ONE flavour and a HOMOGENEOUS few-shot block of that flavour.</a:t>
            </a:r>
          </a:p>
          <a:p>
            <a:pPr>
              <a:spcAft>
                <a:spcPts val="400"/>
              </a:spcAft>
            </a:pPr>
            <a:r>
              <a:rPr sz="1500" b="0">
                <a:solidFill>
                  <a:srgbClr val="F27A7A"/>
                </a:solidFill>
                <a:latin typeface="Segoe UI"/>
              </a:rPr>
              <a:t>     Before: one mixed block for every prompt — the instruction said 'procedural' while the examples showed Code and Math.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the category axis actually bought</a:t>
            </a:r>
          </a:p>
        </p:txBody>
      </p:sp>
      <p:graphicFrame>
        <p:nvGraphicFramePr>
          <p:cNvPr id="4" name="Table 3"/>
          <p:cNvGraphicFramePr>
            <a:graphicFrameLocks noGrp="1"/>
          </p:cNvGraphicFramePr>
          <p:nvPr/>
        </p:nvGraphicFramePr>
        <p:xfrm>
          <a:off x="868680" y="1463040"/>
          <a:ext cx="10424160" cy="1691640"/>
        </p:xfrm>
        <a:graphic>
          <a:graphicData uri="http://schemas.openxmlformats.org/drawingml/2006/table">
            <a:tbl>
              <a:tblPr>
                <a:tableStyleId>{5C22544A-7EE6-4342-B048-85BDC9FD1C3A}</a:tableStyleId>
              </a:tblPr>
              <a:tblGrid>
                <a:gridCol w="2606040"/>
                <a:gridCol w="2606040"/>
                <a:gridCol w="2606040"/>
                <a:gridCol w="2606040"/>
              </a:tblGrid>
              <a:tr h="422910">
                <a:tc>
                  <a:txBody>
                    <a:bodyPr/>
                    <a:lstStyle/>
                    <a:p>
                      <a:pPr>
                        <a:spcAft>
                          <a:spcPts val="0"/>
                        </a:spcAft>
                      </a:pPr>
                      <a:r>
                        <a:rPr sz="1300" b="1">
                          <a:solidFill>
                            <a:srgbClr val="12161C"/>
                          </a:solidFill>
                          <a:latin typeface="Segoe UI"/>
                        </a:rPr>
                        <a:t>metric</a:t>
                      </a:r>
                    </a:p>
                  </a:txBody>
                  <a:tcPr>
                    <a:solidFill>
                      <a:srgbClr val="5BC8F5"/>
                    </a:solidFill>
                  </a:tcPr>
                </a:tc>
                <a:tc>
                  <a:txBody>
                    <a:bodyPr/>
                    <a:lstStyle/>
                    <a:p>
                      <a:pPr>
                        <a:spcAft>
                          <a:spcPts val="0"/>
                        </a:spcAft>
                      </a:pPr>
                      <a:r>
                        <a:rPr sz="1300" b="1">
                          <a:solidFill>
                            <a:srgbClr val="12161C"/>
                          </a:solidFill>
                          <a:latin typeface="Segoe UI"/>
                        </a:rPr>
                        <a:t>before</a:t>
                      </a:r>
                    </a:p>
                  </a:txBody>
                  <a:tcPr>
                    <a:solidFill>
                      <a:srgbClr val="5BC8F5"/>
                    </a:solidFill>
                  </a:tcPr>
                </a:tc>
                <a:tc>
                  <a:txBody>
                    <a:bodyPr/>
                    <a:lstStyle/>
                    <a:p>
                      <a:pPr>
                        <a:spcAft>
                          <a:spcPts val="0"/>
                        </a:spcAft>
                      </a:pPr>
                      <a:r>
                        <a:rPr sz="1300" b="1">
                          <a:solidFill>
                            <a:srgbClr val="12161C"/>
                          </a:solidFill>
                          <a:latin typeface="Segoe UI"/>
                        </a:rPr>
                        <a:t>after</a:t>
                      </a:r>
                    </a:p>
                  </a:txBody>
                  <a:tcPr>
                    <a:solidFill>
                      <a:srgbClr val="5BC8F5"/>
                    </a:solidFill>
                  </a:tcPr>
                </a:tc>
                <a:tc>
                  <a:txBody>
                    <a:bodyPr/>
                    <a:lstStyle/>
                    <a:p>
                      <a:pPr>
                        <a:spcAft>
                          <a:spcPts val="0"/>
                        </a:spcAft>
                      </a:pPr>
                      <a:r>
                        <a:rPr sz="1300" b="1">
                          <a:solidFill>
                            <a:srgbClr val="12161C"/>
                          </a:solidFill>
                          <a:latin typeface="Segoe UI"/>
                        </a:rPr>
                        <a:t>reading</a:t>
                      </a:r>
                    </a:p>
                  </a:txBody>
                  <a:tcPr>
                    <a:solidFill>
                      <a:srgbClr val="5BC8F5"/>
                    </a:solidFill>
                  </a:tcPr>
                </a:tc>
              </a:tr>
              <a:tr h="422910">
                <a:tc>
                  <a:txBody>
                    <a:bodyPr/>
                    <a:lstStyle/>
                    <a:p>
                      <a:pPr>
                        <a:spcAft>
                          <a:spcPts val="0"/>
                        </a:spcAft>
                      </a:pPr>
                      <a:r>
                        <a:rPr sz="1200">
                          <a:solidFill>
                            <a:srgbClr val="9AA6B4"/>
                          </a:solidFill>
                          <a:latin typeface="Segoe UI"/>
                        </a:rPr>
                        <a:t>accepted cosine median</a:t>
                      </a:r>
                    </a:p>
                  </a:txBody>
                  <a:tcPr>
                    <a:solidFill>
                      <a:srgbClr val="1A1F27"/>
                    </a:solidFill>
                  </a:tcPr>
                </a:tc>
                <a:tc>
                  <a:txBody>
                    <a:bodyPr/>
                    <a:lstStyle/>
                    <a:p>
                      <a:pPr>
                        <a:spcAft>
                          <a:spcPts val="0"/>
                        </a:spcAft>
                      </a:pPr>
                      <a:r>
                        <a:rPr sz="1200">
                          <a:solidFill>
                            <a:srgbClr val="9AA6B4"/>
                          </a:solidFill>
                          <a:latin typeface="Segoe UI"/>
                        </a:rPr>
                        <a:t>0.770</a:t>
                      </a:r>
                    </a:p>
                  </a:txBody>
                  <a:tcPr>
                    <a:solidFill>
                      <a:srgbClr val="1A1F27"/>
                    </a:solidFill>
                  </a:tcPr>
                </a:tc>
                <a:tc>
                  <a:txBody>
                    <a:bodyPr/>
                    <a:lstStyle/>
                    <a:p>
                      <a:pPr>
                        <a:spcAft>
                          <a:spcPts val="0"/>
                        </a:spcAft>
                      </a:pPr>
                      <a:r>
                        <a:rPr sz="1200">
                          <a:solidFill>
                            <a:srgbClr val="9AA6B4"/>
                          </a:solidFill>
                          <a:latin typeface="Segoe UI"/>
                        </a:rPr>
                        <a:t>0.766</a:t>
                      </a:r>
                    </a:p>
                  </a:txBody>
                  <a:tcPr>
                    <a:solidFill>
                      <a:srgbClr val="1A1F27"/>
                    </a:solidFill>
                  </a:tcPr>
                </a:tc>
                <a:tc>
                  <a:txBody>
                    <a:bodyPr/>
                    <a:lstStyle/>
                    <a:p>
                      <a:pPr>
                        <a:spcAft>
                          <a:spcPts val="0"/>
                        </a:spcAft>
                      </a:pPr>
                      <a:r>
                        <a:rPr sz="1200">
                          <a:solidFill>
                            <a:srgbClr val="9AA6B4"/>
                          </a:solidFill>
                          <a:latin typeface="Segoe UI"/>
                        </a:rPr>
                        <a:t>essentially unchanged</a:t>
                      </a:r>
                    </a:p>
                  </a:txBody>
                  <a:tcPr>
                    <a:solidFill>
                      <a:srgbClr val="1A1F27"/>
                    </a:solidFill>
                  </a:tcPr>
                </a:tc>
              </a:tr>
              <a:tr h="422910">
                <a:tc>
                  <a:txBody>
                    <a:bodyPr/>
                    <a:lstStyle/>
                    <a:p>
                      <a:pPr>
                        <a:spcAft>
                          <a:spcPts val="0"/>
                        </a:spcAft>
                      </a:pPr>
                      <a:r>
                        <a:rPr sz="1200">
                          <a:solidFill>
                            <a:srgbClr val="6ED38A"/>
                          </a:solidFill>
                          <a:latin typeface="Segoe UI"/>
                        </a:rPr>
                        <a:t>give-ups by item 92</a:t>
                      </a:r>
                    </a:p>
                  </a:txBody>
                  <a:tcPr>
                    <a:solidFill>
                      <a:srgbClr val="212731"/>
                    </a:solidFill>
                  </a:tcPr>
                </a:tc>
                <a:tc>
                  <a:txBody>
                    <a:bodyPr/>
                    <a:lstStyle/>
                    <a:p>
                      <a:pPr>
                        <a:spcAft>
                          <a:spcPts val="0"/>
                        </a:spcAft>
                      </a:pPr>
                      <a:r>
                        <a:rPr sz="1200">
                          <a:solidFill>
                            <a:srgbClr val="6ED38A"/>
                          </a:solidFill>
                          <a:latin typeface="Segoe UI"/>
                        </a:rPr>
                        <a:t>starved at 60–78</a:t>
                      </a:r>
                    </a:p>
                  </a:txBody>
                  <a:tcPr>
                    <a:solidFill>
                      <a:srgbClr val="212731"/>
                    </a:solidFill>
                  </a:tcPr>
                </a:tc>
                <a:tc>
                  <a:txBody>
                    <a:bodyPr/>
                    <a:lstStyle/>
                    <a:p>
                      <a:pPr>
                        <a:spcAft>
                          <a:spcPts val="0"/>
                        </a:spcAft>
                      </a:pPr>
                      <a:r>
                        <a:rPr sz="1200">
                          <a:solidFill>
                            <a:srgbClr val="6ED38A"/>
                          </a:solidFill>
                          <a:latin typeface="Segoe UI"/>
                        </a:rPr>
                        <a:t>ZERO</a:t>
                      </a:r>
                    </a:p>
                  </a:txBody>
                  <a:tcPr>
                    <a:solidFill>
                      <a:srgbClr val="212731"/>
                    </a:solidFill>
                  </a:tcPr>
                </a:tc>
                <a:tc>
                  <a:txBody>
                    <a:bodyPr/>
                    <a:lstStyle/>
                    <a:p>
                      <a:pPr>
                        <a:spcAft>
                          <a:spcPts val="0"/>
                        </a:spcAft>
                      </a:pPr>
                      <a:r>
                        <a:rPr sz="1200">
                          <a:solidFill>
                            <a:srgbClr val="6ED38A"/>
                          </a:solidFill>
                          <a:latin typeface="Segoe UI"/>
                        </a:rPr>
                        <a:t>the real win</a:t>
                      </a:r>
                    </a:p>
                  </a:txBody>
                  <a:tcPr>
                    <a:solidFill>
                      <a:srgbClr val="212731"/>
                    </a:solidFill>
                  </a:tcPr>
                </a:tc>
              </a:tr>
              <a:tr h="422910">
                <a:tc>
                  <a:txBody>
                    <a:bodyPr/>
                    <a:lstStyle/>
                    <a:p>
                      <a:pPr>
                        <a:spcAft>
                          <a:spcPts val="0"/>
                        </a:spcAft>
                      </a:pPr>
                      <a:r>
                        <a:rPr sz="1200">
                          <a:solidFill>
                            <a:srgbClr val="6ED38A"/>
                          </a:solidFill>
                          <a:latin typeface="Segoe UI"/>
                        </a:rPr>
                        <a:t>regenerations rejected</a:t>
                      </a:r>
                    </a:p>
                  </a:txBody>
                  <a:tcPr>
                    <a:solidFill>
                      <a:srgbClr val="1A1F27"/>
                    </a:solidFill>
                  </a:tcPr>
                </a:tc>
                <a:tc>
                  <a:txBody>
                    <a:bodyPr/>
                    <a:lstStyle/>
                    <a:p>
                      <a:pPr>
                        <a:spcAft>
                          <a:spcPts val="0"/>
                        </a:spcAft>
                      </a:pPr>
                      <a:r>
                        <a:rPr sz="1200">
                          <a:solidFill>
                            <a:srgbClr val="6ED38A"/>
                          </a:solidFill>
                          <a:latin typeface="Segoe UI"/>
                        </a:rPr>
                        <a:t>340 / 350</a:t>
                      </a:r>
                    </a:p>
                  </a:txBody>
                  <a:tcPr>
                    <a:solidFill>
                      <a:srgbClr val="1A1F27"/>
                    </a:solidFill>
                  </a:tcPr>
                </a:tc>
                <a:tc>
                  <a:txBody>
                    <a:bodyPr/>
                    <a:lstStyle/>
                    <a:p>
                      <a:pPr>
                        <a:spcAft>
                          <a:spcPts val="0"/>
                        </a:spcAft>
                      </a:pPr>
                      <a:r>
                        <a:rPr sz="1200">
                          <a:solidFill>
                            <a:srgbClr val="6ED38A"/>
                          </a:solidFill>
                          <a:latin typeface="Segoe UI"/>
                        </a:rPr>
                        <a:t>~2% no-parse</a:t>
                      </a:r>
                    </a:p>
                  </a:txBody>
                  <a:tcPr>
                    <a:solidFill>
                      <a:srgbClr val="1A1F27"/>
                    </a:solidFill>
                  </a:tcPr>
                </a:tc>
                <a:tc>
                  <a:txBody>
                    <a:bodyPr/>
                    <a:lstStyle/>
                    <a:p>
                      <a:pPr>
                        <a:spcAft>
                          <a:spcPts val="0"/>
                        </a:spcAft>
                      </a:pPr>
                      <a:r>
                        <a:rPr sz="1200">
                          <a:solidFill>
                            <a:srgbClr val="6ED38A"/>
                          </a:solidFill>
                          <a:latin typeface="Segoe UI"/>
                        </a:rPr>
                        <a:t>gate no longer binding</a:t>
                      </a:r>
                    </a:p>
                  </a:txBody>
                  <a:tcPr>
                    <a:solidFill>
                      <a:srgbClr val="1A1F2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Correlation filtering — no two questions are the same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Every candidate is EMBEDDED, then compared against ALL previously</a:t>
            </a:r>
          </a:p>
          <a:p>
            <a:pPr>
              <a:spcAft>
                <a:spcPts val="400"/>
              </a:spcAft>
            </a:pPr>
            <a:r>
              <a:rPr sz="1500" b="0">
                <a:solidFill>
                  <a:srgbClr val="9AA6B4"/>
                </a:solidFill>
                <a:latin typeface="Segoe UI"/>
              </a:rPr>
              <a:t>     kept questions — not just its own chunk's.</a:t>
            </a:r>
          </a:p>
          <a:p>
            <a:pPr>
              <a:spcAft>
                <a:spcPts val="900"/>
              </a:spcAft>
            </a:pPr>
            <a:r>
              <a:rPr sz="1800" b="1">
                <a:solidFill>
                  <a:srgbClr val="5BC8F5"/>
                </a:solidFill>
                <a:latin typeface="Segoe UI"/>
              </a:rPr>
              <a:t>cosine ≥ 0.80 to ANY prior → REJECTED. No paraphrase sneaks in twice.</a:t>
            </a:r>
          </a:p>
          <a:p>
            <a:pPr>
              <a:spcAft>
                <a:spcPts val="400"/>
              </a:spcAft>
            </a:pPr>
            <a:r>
              <a:rPr sz="1500" b="0">
                <a:solidFill>
                  <a:srgbClr val="9AA6B4"/>
                </a:solidFill>
                <a:latin typeface="Segoe UI"/>
              </a:rPr>
              <a:t>     Kept set, measured: max 0.800 · mean 0.755 — the gate BINDS.</a:t>
            </a:r>
          </a:p>
          <a:p>
            <a:pPr>
              <a:spcAft>
                <a:spcPts val="900"/>
              </a:spcAft>
            </a:pPr>
            <a:r>
              <a:rPr sz="1800" b="1">
                <a:solidFill>
                  <a:srgbClr val="E8ECF1"/>
                </a:solidFill>
                <a:latin typeface="Segoe UI"/>
              </a:rPr>
              <a:t>A train-side duplicate counts one fact twice; an eval-side near-twin</a:t>
            </a:r>
          </a:p>
          <a:p>
            <a:pPr>
              <a:spcAft>
                <a:spcPts val="400"/>
              </a:spcAft>
            </a:pPr>
            <a:r>
              <a:rPr sz="1500" b="0">
                <a:solidFill>
                  <a:srgbClr val="9AA6B4"/>
                </a:solidFill>
                <a:latin typeface="Segoe UI"/>
              </a:rPr>
              <a:t>     lets memorisation score as knowledge.</a:t>
            </a:r>
          </a:p>
          <a:p>
            <a:pPr>
              <a:spcAft>
                <a:spcPts val="900"/>
              </a:spcAft>
            </a:pPr>
            <a:r>
              <a:rPr sz="1800" b="1">
                <a:solidFill>
                  <a:srgbClr val="F5C56B"/>
                </a:solidFill>
                <a:latin typeface="Segoe UI"/>
              </a:rPr>
              <a:t>Never relaxed — when the pool starved, the fix was MORE SOURCE CHUNKS,</a:t>
            </a:r>
          </a:p>
          <a:p>
            <a:pPr>
              <a:spcAft>
                <a:spcPts val="400"/>
              </a:spcAft>
            </a:pPr>
            <a:r>
              <a:rPr sz="1500" b="0">
                <a:solidFill>
                  <a:srgbClr val="9AA6B4"/>
                </a:solidFill>
                <a:latin typeface="Segoe UI"/>
              </a:rPr>
              <a:t>     never a looser threshold.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Saturation — what worked, what didn't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F5C56B"/>
                </a:solidFill>
                <a:latin typeface="Segoe UI"/>
              </a:rPr>
              <a:t>At 147 items the 3-skill corpus saturated: 36% of accepts at ≥0.78 against a 0.80 gate.</a:t>
            </a:r>
          </a:p>
          <a:p>
            <a:pPr>
              <a:spcAft>
                <a:spcPts val="900"/>
              </a:spcAft>
            </a:pPr>
            <a:r>
              <a:rPr sz="1800" b="1">
                <a:solidFill>
                  <a:srgbClr val="F27A7A"/>
                </a:solidFill>
                <a:latin typeface="Segoe UI"/>
              </a:rPr>
              <a:t>Tried — split the same passages finer (24 → 42 chunks):</a:t>
            </a:r>
          </a:p>
          <a:p>
            <a:pPr>
              <a:spcAft>
                <a:spcPts val="400"/>
              </a:spcAft>
            </a:pPr>
            <a:r>
              <a:rPr sz="1500" b="0">
                <a:solidFill>
                  <a:srgbClr val="9AA6B4"/>
                </a:solidFill>
                <a:latin typeface="Segoe UI"/>
              </a:rPr>
              <a:t>     FAILED. The next item still landed at 0.798.</a:t>
            </a:r>
          </a:p>
          <a:p>
            <a:pPr>
              <a:spcAft>
                <a:spcPts val="400"/>
              </a:spcAft>
            </a:pPr>
            <a:r>
              <a:rPr sz="1500" b="0">
                <a:solidFill>
                  <a:srgbClr val="9AA6B4"/>
                </a:solidFill>
                <a:latin typeface="Segoe UI"/>
              </a:rPr>
              <a:t>     Splitting text yields smaller pieces of the same CONCEPTS.</a:t>
            </a:r>
          </a:p>
          <a:p>
            <a:pPr>
              <a:spcAft>
                <a:spcPts val="900"/>
              </a:spcAft>
            </a:pPr>
            <a:r>
              <a:rPr sz="1800" b="1">
                <a:solidFill>
                  <a:srgbClr val="6ED38A"/>
                </a:solidFill>
                <a:latin typeface="Segoe UI"/>
              </a:rPr>
              <a:t>Tried — add sibling skills (3 → 16, same family):</a:t>
            </a:r>
          </a:p>
          <a:p>
            <a:pPr>
              <a:spcAft>
                <a:spcPts val="400"/>
              </a:spcAft>
            </a:pPr>
            <a:r>
              <a:rPr sz="1500" b="0">
                <a:solidFill>
                  <a:srgbClr val="9AA6B4"/>
                </a:solidFill>
                <a:latin typeface="Segoe UI"/>
              </a:rPr>
              <a:t>     WORKED. New-skill items at median 0.740; give-ups stayed at zero.</a:t>
            </a:r>
          </a:p>
          <a:p>
            <a:pPr>
              <a:spcAft>
                <a:spcPts val="900"/>
              </a:spcAft>
            </a:pPr>
            <a:r>
              <a:rPr sz="1800" b="1">
                <a:solidFill>
                  <a:srgbClr val="5BC8F5"/>
                </a:solidFill>
                <a:latin typeface="Segoe UI"/>
              </a:rPr>
              <a:t>Relief comes from new CONTENT, not new BOUNDARIES.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dataset — eval sized FIRST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1489165"/>
                <a:gridCol w="1489165"/>
                <a:gridCol w="1489165"/>
                <a:gridCol w="1489165"/>
                <a:gridCol w="1489165"/>
                <a:gridCol w="1489165"/>
                <a:gridCol w="1489170"/>
              </a:tblGrid>
              <a:tr h="411480">
                <a:tc>
                  <a:txBody>
                    <a:bodyPr/>
                    <a:lstStyle/>
                    <a:p>
                      <a:pPr>
                        <a:spcAft>
                          <a:spcPts val="0"/>
                        </a:spcAft>
                      </a:pPr>
                      <a:r>
                        <a:rPr sz="1300" b="1">
                          <a:solidFill>
                            <a:srgbClr val="12161C"/>
                          </a:solidFill>
                          <a:latin typeface="Segoe UI"/>
                        </a:rPr>
                        <a:t>split</a:t>
                      </a:r>
                    </a:p>
                  </a:txBody>
                  <a:tcPr>
                    <a:solidFill>
                      <a:srgbClr val="5BC8F5"/>
                    </a:solidFill>
                  </a:tcPr>
                </a:tc>
                <a:tc>
                  <a:txBody>
                    <a:bodyPr/>
                    <a:lstStyle/>
                    <a:p>
                      <a:pPr>
                        <a:spcAft>
                          <a:spcPts val="0"/>
                        </a:spcAft>
                      </a:pPr>
                      <a:r>
                        <a:rPr sz="1300" b="1">
                          <a:solidFill>
                            <a:srgbClr val="12161C"/>
                          </a:solidFill>
                          <a:latin typeface="Segoe UI"/>
                        </a:rPr>
                        <a:t>rows</a:t>
                      </a:r>
                    </a:p>
                  </a:txBody>
                  <a:tcPr>
                    <a:solidFill>
                      <a:srgbClr val="5BC8F5"/>
                    </a:solidFill>
                  </a:tcPr>
                </a:tc>
                <a:tc>
                  <a:txBody>
                    <a:bodyPr/>
                    <a:lstStyle/>
                    <a:p>
                      <a:pPr>
                        <a:spcAft>
                          <a:spcPts val="0"/>
                        </a:spcAft>
                      </a:pPr>
                      <a:r>
                        <a:rPr sz="1300" b="1">
                          <a:solidFill>
                            <a:srgbClr val="12161C"/>
                          </a:solidFill>
                          <a:latin typeface="Segoe UI"/>
                        </a:rPr>
                        <a:t>Math</a:t>
                      </a:r>
                    </a:p>
                  </a:txBody>
                  <a:tcPr>
                    <a:solidFill>
                      <a:srgbClr val="5BC8F5"/>
                    </a:solidFill>
                  </a:tcPr>
                </a:tc>
                <a:tc>
                  <a:txBody>
                    <a:bodyPr/>
                    <a:lstStyle/>
                    <a:p>
                      <a:pPr>
                        <a:spcAft>
                          <a:spcPts val="0"/>
                        </a:spcAft>
                      </a:pPr>
                      <a:r>
                        <a:rPr sz="1300" b="1">
                          <a:solidFill>
                            <a:srgbClr val="12161C"/>
                          </a:solidFill>
                          <a:latin typeface="Segoe UI"/>
                        </a:rPr>
                        <a:t>Code</a:t>
                      </a:r>
                    </a:p>
                  </a:txBody>
                  <a:tcPr>
                    <a:solidFill>
                      <a:srgbClr val="5BC8F5"/>
                    </a:solidFill>
                  </a:tcPr>
                </a:tc>
                <a:tc>
                  <a:txBody>
                    <a:bodyPr/>
                    <a:lstStyle/>
                    <a:p>
                      <a:pPr>
                        <a:spcAft>
                          <a:spcPts val="0"/>
                        </a:spcAft>
                      </a:pPr>
                      <a:r>
                        <a:rPr sz="1300" b="1">
                          <a:solidFill>
                            <a:srgbClr val="12161C"/>
                          </a:solidFill>
                          <a:latin typeface="Segoe UI"/>
                        </a:rPr>
                        <a:t>STEM</a:t>
                      </a:r>
                    </a:p>
                  </a:txBody>
                  <a:tcPr>
                    <a:solidFill>
                      <a:srgbClr val="5BC8F5"/>
                    </a:solidFill>
                  </a:tcPr>
                </a:tc>
                <a:tc>
                  <a:txBody>
                    <a:bodyPr/>
                    <a:lstStyle/>
                    <a:p>
                      <a:pPr>
                        <a:spcAft>
                          <a:spcPts val="0"/>
                        </a:spcAft>
                      </a:pPr>
                      <a:r>
                        <a:rPr sz="1300" b="1">
                          <a:solidFill>
                            <a:srgbClr val="12161C"/>
                          </a:solidFill>
                          <a:latin typeface="Segoe UI"/>
                        </a:rPr>
                        <a:t>Instr</a:t>
                      </a:r>
                    </a:p>
                  </a:txBody>
                  <a:tcPr>
                    <a:solidFill>
                      <a:srgbClr val="5BC8F5"/>
                    </a:solidFill>
                  </a:tcPr>
                </a:tc>
                <a:tc>
                  <a:txBody>
                    <a:bodyPr/>
                    <a:lstStyle/>
                    <a:p>
                      <a:pPr>
                        <a:spcAft>
                          <a:spcPts val="0"/>
                        </a:spcAft>
                      </a:pPr>
                      <a:r>
                        <a:rPr sz="1300" b="1">
                          <a:solidFill>
                            <a:srgbClr val="12161C"/>
                          </a:solidFill>
                          <a:latin typeface="Segoe UI"/>
                        </a:rPr>
                        <a:t>weighting</a:t>
                      </a:r>
                    </a:p>
                  </a:txBody>
                  <a:tcPr>
                    <a:solidFill>
                      <a:srgbClr val="5BC8F5"/>
                    </a:solidFill>
                  </a:tcPr>
                </a:tc>
              </a:tr>
              <a:tr h="411480">
                <a:tc>
                  <a:txBody>
                    <a:bodyPr/>
                    <a:lstStyle/>
                    <a:p>
                      <a:pPr>
                        <a:spcAft>
                          <a:spcPts val="0"/>
                        </a:spcAft>
                      </a:pPr>
                      <a:r>
                        <a:rPr sz="1200">
                          <a:solidFill>
                            <a:srgbClr val="5BC8F5"/>
                          </a:solidFill>
                          <a:latin typeface="Segoe UI"/>
                        </a:rPr>
                        <a:t>r3_eval</a:t>
                      </a:r>
                    </a:p>
                  </a:txBody>
                  <a:tcPr>
                    <a:solidFill>
                      <a:srgbClr val="1A1F27"/>
                    </a:solidFill>
                  </a:tcPr>
                </a:tc>
                <a:tc>
                  <a:txBody>
                    <a:bodyPr/>
                    <a:lstStyle/>
                    <a:p>
                      <a:pPr>
                        <a:spcAft>
                          <a:spcPts val="0"/>
                        </a:spcAft>
                      </a:pPr>
                      <a:r>
                        <a:rPr sz="1200">
                          <a:solidFill>
                            <a:srgbClr val="5BC8F5"/>
                          </a:solidFill>
                          <a:latin typeface="Segoe UI"/>
                        </a:rPr>
                        <a:t>20</a:t>
                      </a:r>
                    </a:p>
                  </a:txBody>
                  <a:tcPr>
                    <a:solidFill>
                      <a:srgbClr val="1A1F27"/>
                    </a:solidFill>
                  </a:tcPr>
                </a:tc>
                <a:tc>
                  <a:txBody>
                    <a:bodyPr/>
                    <a:lstStyle/>
                    <a:p>
                      <a:pPr>
                        <a:spcAft>
                          <a:spcPts val="0"/>
                        </a:spcAft>
                      </a:pPr>
                      <a:r>
                        <a:rPr sz="1200">
                          <a:solidFill>
                            <a:srgbClr val="5BC8F5"/>
                          </a:solidFill>
                          <a:latin typeface="Segoe UI"/>
                        </a:rPr>
                        <a:t>7</a:t>
                      </a:r>
                    </a:p>
                  </a:txBody>
                  <a:tcPr>
                    <a:solidFill>
                      <a:srgbClr val="1A1F27"/>
                    </a:solidFill>
                  </a:tcPr>
                </a:tc>
                <a:tc>
                  <a:txBody>
                    <a:bodyPr/>
                    <a:lstStyle/>
                    <a:p>
                      <a:pPr>
                        <a:spcAft>
                          <a:spcPts val="0"/>
                        </a:spcAft>
                      </a:pPr>
                      <a:r>
                        <a:rPr sz="1200">
                          <a:solidFill>
                            <a:srgbClr val="5BC8F5"/>
                          </a:solidFill>
                          <a:latin typeface="Segoe UI"/>
                        </a:rPr>
                        <a:t>5</a:t>
                      </a:r>
                    </a:p>
                  </a:txBody>
                  <a:tcPr>
                    <a:solidFill>
                      <a:srgbClr val="1A1F27"/>
                    </a:solidFill>
                  </a:tcPr>
                </a:tc>
                <a:tc>
                  <a:txBody>
                    <a:bodyPr/>
                    <a:lstStyle/>
                    <a:p>
                      <a:pPr>
                        <a:spcAft>
                          <a:spcPts val="0"/>
                        </a:spcAft>
                      </a:pPr>
                      <a:r>
                        <a:rPr sz="1200">
                          <a:solidFill>
                            <a:srgbClr val="5BC8F5"/>
                          </a:solidFill>
                          <a:latin typeface="Segoe UI"/>
                        </a:rPr>
                        <a:t>4</a:t>
                      </a:r>
                    </a:p>
                  </a:txBody>
                  <a:tcPr>
                    <a:solidFill>
                      <a:srgbClr val="1A1F27"/>
                    </a:solidFill>
                  </a:tcPr>
                </a:tc>
                <a:tc>
                  <a:txBody>
                    <a:bodyPr/>
                    <a:lstStyle/>
                    <a:p>
                      <a:pPr>
                        <a:spcAft>
                          <a:spcPts val="0"/>
                        </a:spcAft>
                      </a:pPr>
                      <a:r>
                        <a:rPr sz="1200">
                          <a:solidFill>
                            <a:srgbClr val="5BC8F5"/>
                          </a:solidFill>
                          <a:latin typeface="Segoe UI"/>
                        </a:rPr>
                        <a:t>4</a:t>
                      </a:r>
                    </a:p>
                  </a:txBody>
                  <a:tcPr>
                    <a:solidFill>
                      <a:srgbClr val="1A1F27"/>
                    </a:solidFill>
                  </a:tcPr>
                </a:tc>
                <a:tc>
                  <a:txBody>
                    <a:bodyPr/>
                    <a:lstStyle/>
                    <a:p>
                      <a:pPr>
                        <a:spcAft>
                          <a:spcPts val="0"/>
                        </a:spcAft>
                      </a:pPr>
                      <a:r>
                        <a:rPr sz="1200">
                          <a:solidFill>
                            <a:srgbClr val="5BC8F5"/>
                          </a:solidFill>
                          <a:latin typeface="Segoe UI"/>
                        </a:rPr>
                        <a:t>VibeThinker R3 profile</a:t>
                      </a:r>
                    </a:p>
                  </a:txBody>
                  <a:tcPr>
                    <a:solidFill>
                      <a:srgbClr val="1A1F27"/>
                    </a:solidFill>
                  </a:tcPr>
                </a:tc>
              </a:tr>
              <a:tr h="411480">
                <a:tc>
                  <a:txBody>
                    <a:bodyPr/>
                    <a:lstStyle/>
                    <a:p>
                      <a:pPr>
                        <a:spcAft>
                          <a:spcPts val="0"/>
                        </a:spcAft>
                      </a:pPr>
                      <a:r>
                        <a:rPr sz="1200">
                          <a:solidFill>
                            <a:srgbClr val="E8ECF1"/>
                          </a:solidFill>
                          <a:latin typeface="Segoe UI"/>
                        </a:rPr>
                        <a:t>r3_cpt</a:t>
                      </a:r>
                    </a:p>
                  </a:txBody>
                  <a:tcPr>
                    <a:solidFill>
                      <a:srgbClr val="212731"/>
                    </a:solidFill>
                  </a:tcPr>
                </a:tc>
                <a:tc>
                  <a:txBody>
                    <a:bodyPr/>
                    <a:lstStyle/>
                    <a:p>
                      <a:pPr>
                        <a:spcAft>
                          <a:spcPts val="0"/>
                        </a:spcAft>
                      </a:pPr>
                      <a:r>
                        <a:rPr sz="1200">
                          <a:solidFill>
                            <a:srgbClr val="E8ECF1"/>
                          </a:solidFill>
                          <a:latin typeface="Segoe UI"/>
                        </a:rPr>
                        <a:t>60</a:t>
                      </a:r>
                    </a:p>
                  </a:txBody>
                  <a:tcPr>
                    <a:solidFill>
                      <a:srgbClr val="212731"/>
                    </a:solidFill>
                  </a:tcPr>
                </a:tc>
                <a:tc>
                  <a:txBody>
                    <a:bodyPr/>
                    <a:lstStyle/>
                    <a:p>
                      <a:pPr>
                        <a:spcAft>
                          <a:spcPts val="0"/>
                        </a:spcAft>
                      </a:pPr>
                      <a:r>
                        <a:rPr sz="1200">
                          <a:solidFill>
                            <a:srgbClr val="E8ECF1"/>
                          </a:solidFill>
                          <a:latin typeface="Segoe UI"/>
                        </a:rPr>
                        <a:t>12</a:t>
                      </a:r>
                    </a:p>
                  </a:txBody>
                  <a:tcPr>
                    <a:solidFill>
                      <a:srgbClr val="212731"/>
                    </a:solidFill>
                  </a:tcPr>
                </a:tc>
                <a:tc>
                  <a:txBody>
                    <a:bodyPr/>
                    <a:lstStyle/>
                    <a:p>
                      <a:pPr>
                        <a:spcAft>
                          <a:spcPts val="0"/>
                        </a:spcAft>
                      </a:pPr>
                      <a:r>
                        <a:rPr sz="1200">
                          <a:solidFill>
                            <a:srgbClr val="E8ECF1"/>
                          </a:solidFill>
                          <a:latin typeface="Segoe UI"/>
                        </a:rPr>
                        <a:t>6</a:t>
                      </a:r>
                    </a:p>
                  </a:txBody>
                  <a:tcPr>
                    <a:solidFill>
                      <a:srgbClr val="212731"/>
                    </a:solidFill>
                  </a:tcPr>
                </a:tc>
                <a:tc>
                  <a:txBody>
                    <a:bodyPr/>
                    <a:lstStyle/>
                    <a:p>
                      <a:pPr>
                        <a:spcAft>
                          <a:spcPts val="0"/>
                        </a:spcAft>
                      </a:pPr>
                      <a:r>
                        <a:rPr sz="1200">
                          <a:solidFill>
                            <a:srgbClr val="E8ECF1"/>
                          </a:solidFill>
                          <a:latin typeface="Segoe UI"/>
                        </a:rPr>
                        <a:t>21</a:t>
                      </a:r>
                    </a:p>
                  </a:txBody>
                  <a:tcPr>
                    <a:solidFill>
                      <a:srgbClr val="212731"/>
                    </a:solidFill>
                  </a:tcPr>
                </a:tc>
                <a:tc>
                  <a:txBody>
                    <a:bodyPr/>
                    <a:lstStyle/>
                    <a:p>
                      <a:pPr>
                        <a:spcAft>
                          <a:spcPts val="0"/>
                        </a:spcAft>
                      </a:pPr>
                      <a:r>
                        <a:rPr sz="1200">
                          <a:solidFill>
                            <a:srgbClr val="E8ECF1"/>
                          </a:solidFill>
                          <a:latin typeface="Segoe UI"/>
                        </a:rPr>
                        <a:t>21</a:t>
                      </a:r>
                    </a:p>
                  </a:txBody>
                  <a:tcPr>
                    <a:solidFill>
                      <a:srgbClr val="212731"/>
                    </a:solidFill>
                  </a:tcPr>
                </a:tc>
                <a:tc>
                  <a:txBody>
                    <a:bodyPr/>
                    <a:lstStyle/>
                    <a:p>
                      <a:pPr>
                        <a:spcAft>
                          <a:spcPts val="0"/>
                        </a:spcAft>
                      </a:pPr>
                      <a:r>
                        <a:rPr sz="1200">
                          <a:solidFill>
                            <a:srgbClr val="E8ECF1"/>
                          </a:solidFill>
                          <a:latin typeface="Segoe UI"/>
                        </a:rPr>
                        <a:t>pool mix, deficit-driven</a:t>
                      </a:r>
                    </a:p>
                  </a:txBody>
                  <a:tcPr>
                    <a:solidFill>
                      <a:srgbClr val="212731"/>
                    </a:solidFill>
                  </a:tcPr>
                </a:tc>
              </a:tr>
              <a:tr h="411480">
                <a:tc>
                  <a:txBody>
                    <a:bodyPr/>
                    <a:lstStyle/>
                    <a:p>
                      <a:pPr>
                        <a:spcAft>
                          <a:spcPts val="0"/>
                        </a:spcAft>
                      </a:pPr>
                      <a:r>
                        <a:rPr sz="1200">
                          <a:solidFill>
                            <a:srgbClr val="E8ECF1"/>
                          </a:solidFill>
                          <a:latin typeface="Segoe UI"/>
                        </a:rPr>
                        <a:t>r3_sft</a:t>
                      </a:r>
                    </a:p>
                  </a:txBody>
                  <a:tcPr>
                    <a:solidFill>
                      <a:srgbClr val="1A1F27"/>
                    </a:solidFill>
                  </a:tcPr>
                </a:tc>
                <a:tc>
                  <a:txBody>
                    <a:bodyPr/>
                    <a:lstStyle/>
                    <a:p>
                      <a:pPr>
                        <a:spcAft>
                          <a:spcPts val="0"/>
                        </a:spcAft>
                      </a:pPr>
                      <a:r>
                        <a:rPr sz="1200">
                          <a:solidFill>
                            <a:srgbClr val="E8ECF1"/>
                          </a:solidFill>
                          <a:latin typeface="Segoe UI"/>
                        </a:rPr>
                        <a:t>60</a:t>
                      </a:r>
                    </a:p>
                  </a:txBody>
                  <a:tcPr>
                    <a:solidFill>
                      <a:srgbClr val="1A1F27"/>
                    </a:solidFill>
                  </a:tcPr>
                </a:tc>
                <a:tc>
                  <a:txBody>
                    <a:bodyPr/>
                    <a:lstStyle/>
                    <a:p>
                      <a:pPr>
                        <a:spcAft>
                          <a:spcPts val="0"/>
                        </a:spcAft>
                      </a:pPr>
                      <a:r>
                        <a:rPr sz="1200">
                          <a:solidFill>
                            <a:srgbClr val="E8ECF1"/>
                          </a:solidFill>
                          <a:latin typeface="Segoe UI"/>
                        </a:rPr>
                        <a:t>13</a:t>
                      </a:r>
                    </a:p>
                  </a:txBody>
                  <a:tcPr>
                    <a:solidFill>
                      <a:srgbClr val="1A1F27"/>
                    </a:solidFill>
                  </a:tcPr>
                </a:tc>
                <a:tc>
                  <a:txBody>
                    <a:bodyPr/>
                    <a:lstStyle/>
                    <a:p>
                      <a:pPr>
                        <a:spcAft>
                          <a:spcPts val="0"/>
                        </a:spcAft>
                      </a:pPr>
                      <a:r>
                        <a:rPr sz="1200">
                          <a:solidFill>
                            <a:srgbClr val="E8ECF1"/>
                          </a:solidFill>
                          <a:latin typeface="Segoe UI"/>
                        </a:rPr>
                        <a:t>5</a:t>
                      </a:r>
                    </a:p>
                  </a:txBody>
                  <a:tcPr>
                    <a:solidFill>
                      <a:srgbClr val="1A1F27"/>
                    </a:solidFill>
                  </a:tcPr>
                </a:tc>
                <a:tc>
                  <a:txBody>
                    <a:bodyPr/>
                    <a:lstStyle/>
                    <a:p>
                      <a:pPr>
                        <a:spcAft>
                          <a:spcPts val="0"/>
                        </a:spcAft>
                      </a:pPr>
                      <a:r>
                        <a:rPr sz="1200">
                          <a:solidFill>
                            <a:srgbClr val="E8ECF1"/>
                          </a:solidFill>
                          <a:latin typeface="Segoe UI"/>
                        </a:rPr>
                        <a:t>21</a:t>
                      </a:r>
                    </a:p>
                  </a:txBody>
                  <a:tcPr>
                    <a:solidFill>
                      <a:srgbClr val="1A1F27"/>
                    </a:solidFill>
                  </a:tcPr>
                </a:tc>
                <a:tc>
                  <a:txBody>
                    <a:bodyPr/>
                    <a:lstStyle/>
                    <a:p>
                      <a:pPr>
                        <a:spcAft>
                          <a:spcPts val="0"/>
                        </a:spcAft>
                      </a:pPr>
                      <a:r>
                        <a:rPr sz="1200">
                          <a:solidFill>
                            <a:srgbClr val="E8ECF1"/>
                          </a:solidFill>
                          <a:latin typeface="Segoe UI"/>
                        </a:rPr>
                        <a:t>21</a:t>
                      </a:r>
                    </a:p>
                  </a:txBody>
                  <a:tcPr>
                    <a:solidFill>
                      <a:srgbClr val="1A1F27"/>
                    </a:solidFill>
                  </a:tcPr>
                </a:tc>
                <a:tc>
                  <a:txBody>
                    <a:bodyPr/>
                    <a:lstStyle/>
                    <a:p>
                      <a:pPr>
                        <a:spcAft>
                          <a:spcPts val="0"/>
                        </a:spcAft>
                      </a:pPr>
                      <a:r>
                        <a:rPr sz="1200">
                          <a:solidFill>
                            <a:srgbClr val="E8ECF1"/>
                          </a:solidFill>
                          <a:latin typeface="Segoe UI"/>
                        </a:rPr>
                        <a:t>pool mix, deficit-driven</a:t>
                      </a:r>
                    </a:p>
                  </a:txBody>
                  <a:tcPr>
                    <a:solidFill>
                      <a:srgbClr val="1A1F27"/>
                    </a:solidFill>
                  </a:tcPr>
                </a:tc>
              </a:tr>
              <a:tr h="411480">
                <a:tc>
                  <a:txBody>
                    <a:bodyPr/>
                    <a:lstStyle/>
                    <a:p>
                      <a:pPr>
                        <a:spcAft>
                          <a:spcPts val="0"/>
                        </a:spcAft>
                      </a:pPr>
                      <a:r>
                        <a:rPr sz="1200">
                          <a:solidFill>
                            <a:srgbClr val="E8ECF1"/>
                          </a:solidFill>
                          <a:latin typeface="Segoe UI"/>
                        </a:rPr>
                        <a:t>r3_rl</a:t>
                      </a:r>
                    </a:p>
                  </a:txBody>
                  <a:tcPr>
                    <a:solidFill>
                      <a:srgbClr val="212731"/>
                    </a:solidFill>
                  </a:tcPr>
                </a:tc>
                <a:tc>
                  <a:txBody>
                    <a:bodyPr/>
                    <a:lstStyle/>
                    <a:p>
                      <a:pPr>
                        <a:spcAft>
                          <a:spcPts val="0"/>
                        </a:spcAft>
                      </a:pPr>
                      <a:r>
                        <a:rPr sz="1200">
                          <a:solidFill>
                            <a:srgbClr val="E8ECF1"/>
                          </a:solidFill>
                          <a:latin typeface="Segoe UI"/>
                        </a:rPr>
                        <a:t>60</a:t>
                      </a:r>
                    </a:p>
                  </a:txBody>
                  <a:tcPr>
                    <a:solidFill>
                      <a:srgbClr val="212731"/>
                    </a:solidFill>
                  </a:tcPr>
                </a:tc>
                <a:tc>
                  <a:txBody>
                    <a:bodyPr/>
                    <a:lstStyle/>
                    <a:p>
                      <a:pPr>
                        <a:spcAft>
                          <a:spcPts val="0"/>
                        </a:spcAft>
                      </a:pPr>
                      <a:r>
                        <a:rPr sz="1200">
                          <a:solidFill>
                            <a:srgbClr val="E8ECF1"/>
                          </a:solidFill>
                          <a:latin typeface="Segoe UI"/>
                        </a:rPr>
                        <a:t>13</a:t>
                      </a:r>
                    </a:p>
                  </a:txBody>
                  <a:tcPr>
                    <a:solidFill>
                      <a:srgbClr val="212731"/>
                    </a:solidFill>
                  </a:tcPr>
                </a:tc>
                <a:tc>
                  <a:txBody>
                    <a:bodyPr/>
                    <a:lstStyle/>
                    <a:p>
                      <a:pPr>
                        <a:spcAft>
                          <a:spcPts val="0"/>
                        </a:spcAft>
                      </a:pPr>
                      <a:r>
                        <a:rPr sz="1200">
                          <a:solidFill>
                            <a:srgbClr val="E8ECF1"/>
                          </a:solidFill>
                          <a:latin typeface="Segoe UI"/>
                        </a:rPr>
                        <a:t>5</a:t>
                      </a:r>
                    </a:p>
                  </a:txBody>
                  <a:tcPr>
                    <a:solidFill>
                      <a:srgbClr val="212731"/>
                    </a:solidFill>
                  </a:tcPr>
                </a:tc>
                <a:tc>
                  <a:txBody>
                    <a:bodyPr/>
                    <a:lstStyle/>
                    <a:p>
                      <a:pPr>
                        <a:spcAft>
                          <a:spcPts val="0"/>
                        </a:spcAft>
                      </a:pPr>
                      <a:r>
                        <a:rPr sz="1200">
                          <a:solidFill>
                            <a:srgbClr val="E8ECF1"/>
                          </a:solidFill>
                          <a:latin typeface="Segoe UI"/>
                        </a:rPr>
                        <a:t>20</a:t>
                      </a:r>
                    </a:p>
                  </a:txBody>
                  <a:tcPr>
                    <a:solidFill>
                      <a:srgbClr val="212731"/>
                    </a:solidFill>
                  </a:tcPr>
                </a:tc>
                <a:tc>
                  <a:txBody>
                    <a:bodyPr/>
                    <a:lstStyle/>
                    <a:p>
                      <a:pPr>
                        <a:spcAft>
                          <a:spcPts val="0"/>
                        </a:spcAft>
                      </a:pPr>
                      <a:r>
                        <a:rPr sz="1200">
                          <a:solidFill>
                            <a:srgbClr val="E8ECF1"/>
                          </a:solidFill>
                          <a:latin typeface="Segoe UI"/>
                        </a:rPr>
                        <a:t>22</a:t>
                      </a:r>
                    </a:p>
                  </a:txBody>
                  <a:tcPr>
                    <a:solidFill>
                      <a:srgbClr val="212731"/>
                    </a:solidFill>
                  </a:tcPr>
                </a:tc>
                <a:tc>
                  <a:txBody>
                    <a:bodyPr/>
                    <a:lstStyle/>
                    <a:p>
                      <a:pPr>
                        <a:spcAft>
                          <a:spcPts val="0"/>
                        </a:spcAft>
                      </a:pPr>
                      <a:r>
                        <a:rPr sz="1200">
                          <a:solidFill>
                            <a:srgbClr val="E8ECF1"/>
                          </a:solidFill>
                          <a:latin typeface="Segoe UI"/>
                        </a:rPr>
                        <a:t>pool mix, deficit-driven</a:t>
                      </a:r>
                    </a:p>
                  </a:txBody>
                  <a:tcPr>
                    <a:solidFill>
                      <a:srgbClr val="212731"/>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Why deficit-driven allocation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Each draw goes to the (phase, category) cell furthest BELOW its target ratio, recomputed after every draw.</a:t>
            </a:r>
          </a:p>
          <a:p>
            <a:pPr>
              <a:spcAft>
                <a:spcPts val="900"/>
              </a:spcAft>
            </a:pPr>
            <a:r>
              <a:rPr sz="1800" b="1">
                <a:solidFill>
                  <a:srgbClr val="F27A7A"/>
                </a:solidFill>
                <a:latin typeface="Segoe UI"/>
              </a:rPr>
              <a:t>Sequential filling: Code (21 items) exhausted on eval+CPT+SFT → RL got ZERO.</a:t>
            </a:r>
          </a:p>
          <a:p>
            <a:pPr>
              <a:spcAft>
                <a:spcPts val="400"/>
              </a:spcAft>
            </a:pPr>
            <a:r>
              <a:rPr sz="1500" b="0">
                <a:solidFill>
                  <a:srgbClr val="9AA6B4"/>
                </a:solidFill>
                <a:latin typeface="Segoe UI"/>
              </a:rPr>
              <a:t>     A stage that cannot see a question type cannot be measured on it.</a:t>
            </a:r>
          </a:p>
          <a:p>
            <a:pPr>
              <a:spcAft>
                <a:spcPts val="900"/>
              </a:spcAft>
            </a:pPr>
            <a:r>
              <a:rPr sz="1800" b="1">
                <a:solidFill>
                  <a:srgbClr val="F5C56B"/>
                </a:solidFill>
                <a:latin typeface="Segoe UI"/>
              </a:rPr>
              <a:t>Round-robin: fixed Code, but Math still drifted 15 / 16 / 7.</a:t>
            </a:r>
          </a:p>
          <a:p>
            <a:pPr>
              <a:spcAft>
                <a:spcPts val="900"/>
              </a:spcAft>
            </a:pPr>
            <a:r>
              <a:rPr sz="1800" b="1">
                <a:solidFill>
                  <a:srgbClr val="6ED38A"/>
                </a:solidFill>
                <a:latin typeface="Segoe UI"/>
              </a:rPr>
              <a:t>Deficit-driven: Math 12 / 13 / 13, Code 6 / 5 / 5.</a:t>
            </a:r>
          </a:p>
          <a:p>
            <a:pPr>
              <a:spcAft>
                <a:spcPts val="900"/>
              </a:spcAft>
            </a:pPr>
            <a:r>
              <a:rPr sz="1800" b="1">
                <a:solidFill>
                  <a:srgbClr val="5BC8F5"/>
                </a:solidFill>
                <a:latin typeface="Segoe UI"/>
              </a:rPr>
              <a:t>Phases equal at 60/60/60 — an unequal split asserts a claim no measurement supports.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rubric — what the judge is actually told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Owner's scale, stated in plain terms and DEMONSTRATED with worked examples.</a:t>
            </a:r>
          </a:p>
          <a:p>
            <a:pPr>
              <a:spcAft>
                <a:spcPts val="900"/>
              </a:spcAft>
            </a:pPr>
            <a:r>
              <a:rPr sz="1800" b="1">
                <a:solidFill>
                  <a:srgbClr val="E8ECF1"/>
                </a:solidFill>
                <a:latin typeface="Segoe UI"/>
              </a:rPr>
              <a:t>0.0    — “I don’t know”, empty, or completely off-topic.</a:t>
            </a:r>
          </a:p>
          <a:p>
            <a:pPr>
              <a:spcAft>
                <a:spcPts val="900"/>
              </a:spcAft>
            </a:pPr>
            <a:r>
              <a:rPr sz="1800" b="1">
                <a:solidFill>
                  <a:srgbClr val="E8ECF1"/>
                </a:solidFill>
                <a:latin typeface="Segoe UI"/>
              </a:rPr>
              <a:t>0.1-0.3 — on-topic noise: names concepts, makes no claim about the question.</a:t>
            </a:r>
          </a:p>
          <a:p>
            <a:pPr>
              <a:spcAft>
                <a:spcPts val="900"/>
              </a:spcAft>
            </a:pPr>
            <a:r>
              <a:rPr sz="1800" b="1">
                <a:solidFill>
                  <a:srgbClr val="E8ECF1"/>
                </a:solidFill>
                <a:latin typeface="Segoe UI"/>
              </a:rPr>
              <a:t>0.4-0.6 — PLAUSIBLE AND WRONG. Commits to a claim; the claim is false.</a:t>
            </a:r>
          </a:p>
          <a:p>
            <a:pPr>
              <a:spcAft>
                <a:spcPts val="900"/>
              </a:spcAft>
            </a:pPr>
            <a:r>
              <a:rPr sz="1800" b="1">
                <a:solidFill>
                  <a:srgbClr val="E8ECF1"/>
                </a:solidFill>
                <a:latin typeface="Segoe UI"/>
              </a:rPr>
              <a:t>0.7-0.9 — correct, but verbose, padded or indirect.</a:t>
            </a:r>
          </a:p>
          <a:p>
            <a:pPr>
              <a:spcAft>
                <a:spcPts val="900"/>
              </a:spcAft>
            </a:pPr>
            <a:r>
              <a:rPr sz="1800" b="1">
                <a:solidFill>
                  <a:srgbClr val="6ED38A"/>
                </a:solidFill>
                <a:latin typeface="Segoe UI"/>
              </a:rPr>
              <a:t>0.9-1.0 — correct, precise, concise. MAY BEAT GOLD.</a:t>
            </a:r>
          </a:p>
          <a:p>
            <a:pPr>
              <a:spcAft>
                <a:spcPts val="400"/>
              </a:spcAft>
            </a:pPr>
            <a:r>
              <a:rPr sz="1500" b="0">
                <a:solidFill>
                  <a:srgbClr val="5BC8F5"/>
                </a:solidFill>
                <a:latin typeface="Segoe UI"/>
              </a:rPr>
              <a:t>     0.70 is the line. Below it is wrong, at or above it is correct.</a:t>
            </a:r>
          </a:p>
          <a:p>
            <a:pPr>
              <a:spcAft>
                <a:spcPts val="400"/>
              </a:spcAft>
            </a:pPr>
            <a:r>
              <a:rPr sz="1500" b="0">
                <a:solidFill>
                  <a:srgbClr val="9AA6B4"/>
                </a:solidFill>
                <a:latin typeface="Segoe UI"/>
              </a:rPr>
              <a:t>     Being verbose is not the same as being vague: length moves an answer WITHIN its band, commitment decides WHICH band.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rubric, applied — one question, seven answers</a:t>
            </a:r>
          </a:p>
        </p:txBody>
      </p:sp>
      <p:graphicFrame>
        <p:nvGraphicFramePr>
          <p:cNvPr id="4" name="Table 3"/>
          <p:cNvGraphicFramePr>
            <a:graphicFrameLocks noGrp="1"/>
          </p:cNvGraphicFramePr>
          <p:nvPr/>
        </p:nvGraphicFramePr>
        <p:xfrm>
          <a:off x="868680" y="1463040"/>
          <a:ext cx="10424160" cy="2788920"/>
        </p:xfrm>
        <a:graphic>
          <a:graphicData uri="http://schemas.openxmlformats.org/drawingml/2006/table">
            <a:tbl>
              <a:tblPr>
                <a:tableStyleId>{5C22544A-7EE6-4342-B048-85BDC9FD1C3A}</a:tableStyleId>
              </a:tblPr>
              <a:tblGrid>
                <a:gridCol w="3474720"/>
                <a:gridCol w="3474720"/>
                <a:gridCol w="3474720"/>
              </a:tblGrid>
              <a:tr h="398417">
                <a:tc>
                  <a:txBody>
                    <a:bodyPr/>
                    <a:lstStyle/>
                    <a:p>
                      <a:pPr>
                        <a:spcAft>
                          <a:spcPts val="0"/>
                        </a:spcAft>
                      </a:pPr>
                      <a:r>
                        <a:rPr sz="1300" b="1">
                          <a:solidFill>
                            <a:srgbClr val="12161C"/>
                          </a:solidFill>
                          <a:latin typeface="Segoe UI"/>
                        </a:rPr>
                        <a:t>answer</a:t>
                      </a:r>
                    </a:p>
                  </a:txBody>
                  <a:tcPr>
                    <a:solidFill>
                      <a:srgbClr val="5BC8F5"/>
                    </a:solidFill>
                  </a:tcPr>
                </a:tc>
                <a:tc>
                  <a:txBody>
                    <a:bodyPr/>
                    <a:lstStyle/>
                    <a:p>
                      <a:pPr>
                        <a:spcAft>
                          <a:spcPts val="0"/>
                        </a:spcAft>
                      </a:pPr>
                      <a:r>
                        <a:rPr sz="1300" b="1">
                          <a:solidFill>
                            <a:srgbClr val="12161C"/>
                          </a:solidFill>
                          <a:latin typeface="Segoe UI"/>
                        </a:rPr>
                        <a:t>score</a:t>
                      </a:r>
                    </a:p>
                  </a:txBody>
                  <a:tcPr>
                    <a:solidFill>
                      <a:srgbClr val="5BC8F5"/>
                    </a:solidFill>
                  </a:tcPr>
                </a:tc>
                <a:tc>
                  <a:txBody>
                    <a:bodyPr/>
                    <a:lstStyle/>
                    <a:p>
                      <a:pPr>
                        <a:spcAft>
                          <a:spcPts val="0"/>
                        </a:spcAft>
                      </a:pPr>
                      <a:r>
                        <a:rPr sz="1300" b="1">
                          <a:solidFill>
                            <a:srgbClr val="12161C"/>
                          </a:solidFill>
                          <a:latin typeface="Segoe UI"/>
                        </a:rPr>
                        <a:t>why that number</a:t>
                      </a:r>
                    </a:p>
                  </a:txBody>
                  <a:tcPr>
                    <a:solidFill>
                      <a:srgbClr val="5BC8F5"/>
                    </a:solidFill>
                  </a:tcPr>
                </a:tc>
              </a:tr>
              <a:tr h="398417">
                <a:tc>
                  <a:txBody>
                    <a:bodyPr/>
                    <a:lstStyle/>
                    <a:p>
                      <a:pPr>
                        <a:spcAft>
                          <a:spcPts val="0"/>
                        </a:spcAft>
                      </a:pPr>
                      <a:r>
                        <a:rPr sz="1200">
                          <a:solidFill>
                            <a:srgbClr val="6ED38A"/>
                          </a:solidFill>
                          <a:latin typeface="Segoe UI"/>
                        </a:rPr>
                        <a:t>variance — averaging high-variance trees</a:t>
                      </a:r>
                    </a:p>
                  </a:txBody>
                  <a:tcPr>
                    <a:solidFill>
                      <a:srgbClr val="1A1F27"/>
                    </a:solidFill>
                  </a:tcPr>
                </a:tc>
                <a:tc>
                  <a:txBody>
                    <a:bodyPr/>
                    <a:lstStyle/>
                    <a:p>
                      <a:pPr>
                        <a:spcAft>
                          <a:spcPts val="0"/>
                        </a:spcAft>
                      </a:pPr>
                      <a:r>
                        <a:rPr sz="1200">
                          <a:solidFill>
                            <a:srgbClr val="6ED38A"/>
                          </a:solidFill>
                          <a:latin typeface="Segoe UI"/>
                        </a:rPr>
                        <a:t>0.95</a:t>
                      </a:r>
                    </a:p>
                  </a:txBody>
                  <a:tcPr>
                    <a:solidFill>
                      <a:srgbClr val="1A1F27"/>
                    </a:solidFill>
                  </a:tcPr>
                </a:tc>
                <a:tc>
                  <a:txBody>
                    <a:bodyPr/>
                    <a:lstStyle/>
                    <a:p>
                      <a:pPr>
                        <a:spcAft>
                          <a:spcPts val="0"/>
                        </a:spcAft>
                      </a:pPr>
                      <a:r>
                        <a:rPr sz="1200">
                          <a:solidFill>
                            <a:srgbClr val="6ED38A"/>
                          </a:solidFill>
                          <a:latin typeface="Segoe UI"/>
                        </a:rPr>
                        <a:t>the claim, said directly</a:t>
                      </a:r>
                    </a:p>
                  </a:txBody>
                  <a:tcPr>
                    <a:solidFill>
                      <a:srgbClr val="1A1F27"/>
                    </a:solidFill>
                  </a:tcPr>
                </a:tc>
              </a:tr>
              <a:tr h="398417">
                <a:tc>
                  <a:txBody>
                    <a:bodyPr/>
                    <a:lstStyle/>
                    <a:p>
                      <a:pPr>
                        <a:spcAft>
                          <a:spcPts val="0"/>
                        </a:spcAft>
                      </a:pPr>
                      <a:r>
                        <a:rPr sz="1200">
                          <a:solidFill>
                            <a:srgbClr val="6ED38A"/>
                          </a:solidFill>
                          <a:latin typeface="Segoe UI"/>
                        </a:rPr>
                        <a:t>“Averaging is used across many ensemble methods, and what it acts on here, statistically, is the variance of the base learners.”</a:t>
                      </a:r>
                    </a:p>
                  </a:txBody>
                  <a:tcPr>
                    <a:solidFill>
                      <a:srgbClr val="212731"/>
                    </a:solidFill>
                  </a:tcPr>
                </a:tc>
                <a:tc>
                  <a:txBody>
                    <a:bodyPr/>
                    <a:lstStyle/>
                    <a:p>
                      <a:pPr>
                        <a:spcAft>
                          <a:spcPts val="0"/>
                        </a:spcAft>
                      </a:pPr>
                      <a:r>
                        <a:rPr sz="1200">
                          <a:solidFill>
                            <a:srgbClr val="6ED38A"/>
                          </a:solidFill>
                          <a:latin typeface="Segoe UI"/>
                        </a:rPr>
                        <a:t>0.72</a:t>
                      </a:r>
                    </a:p>
                  </a:txBody>
                  <a:tcPr>
                    <a:solidFill>
                      <a:srgbClr val="212731"/>
                    </a:solidFill>
                  </a:tcPr>
                </a:tc>
                <a:tc>
                  <a:txBody>
                    <a:bodyPr/>
                    <a:lstStyle/>
                    <a:p>
                      <a:pPr>
                        <a:spcAft>
                          <a:spcPts val="0"/>
                        </a:spcAft>
                      </a:pPr>
                      <a:r>
                        <a:rPr sz="1200">
                          <a:solidFill>
                            <a:srgbClr val="6ED38A"/>
                          </a:solidFill>
                          <a:latin typeface="Segoe UI"/>
                        </a:rPr>
                        <a:t>CORRECT but padded — right answer, low band</a:t>
                      </a:r>
                    </a:p>
                  </a:txBody>
                  <a:tcPr>
                    <a:solidFill>
                      <a:srgbClr val="212731"/>
                    </a:solidFill>
                  </a:tcPr>
                </a:tc>
              </a:tr>
              <a:tr h="398417">
                <a:tc>
                  <a:txBody>
                    <a:bodyPr/>
                    <a:lstStyle/>
                    <a:p>
                      <a:pPr>
                        <a:spcAft>
                          <a:spcPts val="0"/>
                        </a:spcAft>
                      </a:pPr>
                      <a:r>
                        <a:rPr sz="1200">
                          <a:solidFill>
                            <a:srgbClr val="F27A7A"/>
                          </a:solidFill>
                          <a:latin typeface="Segoe UI"/>
                        </a:rPr>
                        <a:t>bias, since averaging corrects each tree's underfitting</a:t>
                      </a:r>
                    </a:p>
                  </a:txBody>
                  <a:tcPr>
                    <a:solidFill>
                      <a:srgbClr val="1A1F27"/>
                    </a:solidFill>
                  </a:tcPr>
                </a:tc>
                <a:tc>
                  <a:txBody>
                    <a:bodyPr/>
                    <a:lstStyle/>
                    <a:p>
                      <a:pPr>
                        <a:spcAft>
                          <a:spcPts val="0"/>
                        </a:spcAft>
                      </a:pPr>
                      <a:r>
                        <a:rPr sz="1200">
                          <a:solidFill>
                            <a:srgbClr val="F27A7A"/>
                          </a:solidFill>
                          <a:latin typeface="Segoe UI"/>
                        </a:rPr>
                        <a:t>0.45</a:t>
                      </a:r>
                    </a:p>
                  </a:txBody>
                  <a:tcPr>
                    <a:solidFill>
                      <a:srgbClr val="1A1F27"/>
                    </a:solidFill>
                  </a:tcPr>
                </a:tc>
                <a:tc>
                  <a:txBody>
                    <a:bodyPr/>
                    <a:lstStyle/>
                    <a:p>
                      <a:pPr>
                        <a:spcAft>
                          <a:spcPts val="0"/>
                        </a:spcAft>
                      </a:pPr>
                      <a:r>
                        <a:rPr sz="1200">
                          <a:solidFill>
                            <a:srgbClr val="F27A7A"/>
                          </a:solidFill>
                          <a:latin typeface="Segoe UI"/>
                        </a:rPr>
                        <a:t>commits to a named mechanism; the mechanism is wrong</a:t>
                      </a:r>
                    </a:p>
                  </a:txBody>
                  <a:tcPr>
                    <a:solidFill>
                      <a:srgbClr val="1A1F27"/>
                    </a:solidFill>
                  </a:tcPr>
                </a:tc>
              </a:tr>
              <a:tr h="398417">
                <a:tc>
                  <a:txBody>
                    <a:bodyPr/>
                    <a:lstStyle/>
                    <a:p>
                      <a:pPr>
                        <a:spcAft>
                          <a:spcPts val="0"/>
                        </a:spcAft>
                      </a:pPr>
                      <a:r>
                        <a:rPr sz="1200">
                          <a:solidFill>
                            <a:srgbClr val="F27A7A"/>
                          </a:solidFill>
                          <a:latin typeface="Segoe UI"/>
                        </a:rPr>
                        <a:t>it reduces total training time, the trees fit in parallel</a:t>
                      </a:r>
                    </a:p>
                  </a:txBody>
                  <a:tcPr>
                    <a:solidFill>
                      <a:srgbClr val="212731"/>
                    </a:solidFill>
                  </a:tcPr>
                </a:tc>
                <a:tc>
                  <a:txBody>
                    <a:bodyPr/>
                    <a:lstStyle/>
                    <a:p>
                      <a:pPr>
                        <a:spcAft>
                          <a:spcPts val="0"/>
                        </a:spcAft>
                      </a:pPr>
                      <a:r>
                        <a:rPr sz="1200">
                          <a:solidFill>
                            <a:srgbClr val="F27A7A"/>
                          </a:solidFill>
                          <a:latin typeface="Segoe UI"/>
                        </a:rPr>
                        <a:t>0.32</a:t>
                      </a:r>
                    </a:p>
                  </a:txBody>
                  <a:tcPr>
                    <a:solidFill>
                      <a:srgbClr val="212731"/>
                    </a:solidFill>
                  </a:tcPr>
                </a:tc>
                <a:tc>
                  <a:txBody>
                    <a:bodyPr/>
                    <a:lstStyle/>
                    <a:p>
                      <a:pPr>
                        <a:spcAft>
                          <a:spcPts val="0"/>
                        </a:spcAft>
                      </a:pPr>
                      <a:r>
                        <a:rPr sz="1200">
                          <a:solidFill>
                            <a:srgbClr val="F27A7A"/>
                          </a:solidFill>
                          <a:latin typeface="Segoe UI"/>
                        </a:rPr>
                        <a:t>true of bagging — answers a DIFFERENT question</a:t>
                      </a:r>
                    </a:p>
                  </a:txBody>
                  <a:tcPr>
                    <a:solidFill>
                      <a:srgbClr val="212731"/>
                    </a:solidFill>
                  </a:tcPr>
                </a:tc>
              </a:tr>
              <a:tr h="398417">
                <a:tc>
                  <a:txBody>
                    <a:bodyPr/>
                    <a:lstStyle/>
                    <a:p>
                      <a:pPr>
                        <a:spcAft>
                          <a:spcPts val="0"/>
                        </a:spcAft>
                      </a:pPr>
                      <a:r>
                        <a:rPr sz="1200">
                          <a:solidFill>
                            <a:srgbClr val="F27A7A"/>
                          </a:solidFill>
                          <a:latin typeface="Segoe UI"/>
                        </a:rPr>
                        <a:t>ensembles combine estimators to improve performance</a:t>
                      </a:r>
                    </a:p>
                  </a:txBody>
                  <a:tcPr>
                    <a:solidFill>
                      <a:srgbClr val="1A1F27"/>
                    </a:solidFill>
                  </a:tcPr>
                </a:tc>
                <a:tc>
                  <a:txBody>
                    <a:bodyPr/>
                    <a:lstStyle/>
                    <a:p>
                      <a:pPr>
                        <a:spcAft>
                          <a:spcPts val="0"/>
                        </a:spcAft>
                      </a:pPr>
                      <a:r>
                        <a:rPr sz="1200">
                          <a:solidFill>
                            <a:srgbClr val="F27A7A"/>
                          </a:solidFill>
                          <a:latin typeface="Segoe UI"/>
                        </a:rPr>
                        <a:t>0.18</a:t>
                      </a:r>
                    </a:p>
                  </a:txBody>
                  <a:tcPr>
                    <a:solidFill>
                      <a:srgbClr val="1A1F27"/>
                    </a:solidFill>
                  </a:tcPr>
                </a:tc>
                <a:tc>
                  <a:txBody>
                    <a:bodyPr/>
                    <a:lstStyle/>
                    <a:p>
                      <a:pPr>
                        <a:spcAft>
                          <a:spcPts val="0"/>
                        </a:spcAft>
                      </a:pPr>
                      <a:r>
                        <a:rPr sz="1200">
                          <a:solidFill>
                            <a:srgbClr val="F27A7A"/>
                          </a:solidFill>
                          <a:latin typeface="Segoe UI"/>
                        </a:rPr>
                        <a:t>on-topic; asserts nothing about this question</a:t>
                      </a:r>
                    </a:p>
                  </a:txBody>
                  <a:tcPr>
                    <a:solidFill>
                      <a:srgbClr val="1A1F27"/>
                    </a:solidFill>
                  </a:tcPr>
                </a:tc>
              </a:tr>
              <a:tr h="398418">
                <a:tc>
                  <a:txBody>
                    <a:bodyPr/>
                    <a:lstStyle/>
                    <a:p>
                      <a:pPr>
                        <a:spcAft>
                          <a:spcPts val="0"/>
                        </a:spcAft>
                      </a:pPr>
                      <a:r>
                        <a:rPr sz="1200">
                          <a:solidFill>
                            <a:srgbClr val="F27A7A"/>
                          </a:solidFill>
                          <a:latin typeface="Segoe UI"/>
                        </a:rPr>
                        <a:t>“Yes, that is the standard approach.”</a:t>
                      </a:r>
                    </a:p>
                  </a:txBody>
                  <a:tcPr>
                    <a:solidFill>
                      <a:srgbClr val="212731"/>
                    </a:solidFill>
                  </a:tcPr>
                </a:tc>
                <a:tc>
                  <a:txBody>
                    <a:bodyPr/>
                    <a:lstStyle/>
                    <a:p>
                      <a:pPr>
                        <a:spcAft>
                          <a:spcPts val="0"/>
                        </a:spcAft>
                      </a:pPr>
                      <a:r>
                        <a:rPr sz="1200">
                          <a:solidFill>
                            <a:srgbClr val="F27A7A"/>
                          </a:solidFill>
                          <a:latin typeface="Segoe UI"/>
                        </a:rPr>
                        <a:t>0.05</a:t>
                      </a:r>
                    </a:p>
                  </a:txBody>
                  <a:tcPr>
                    <a:solidFill>
                      <a:srgbClr val="212731"/>
                    </a:solidFill>
                  </a:tcPr>
                </a:tc>
                <a:tc>
                  <a:txBody>
                    <a:bodyPr/>
                    <a:lstStyle/>
                    <a:p>
                      <a:pPr>
                        <a:spcAft>
                          <a:spcPts val="0"/>
                        </a:spcAft>
                      </a:pPr>
                      <a:r>
                        <a:rPr sz="1200">
                          <a:solidFill>
                            <a:srgbClr val="F27A7A"/>
                          </a:solidFill>
                          <a:latin typeface="Segoe UI"/>
                        </a:rPr>
                        <a:t>content-free deferral — it never tried</a:t>
                      </a:r>
                    </a:p>
                  </a:txBody>
                  <a:tcPr>
                    <a:solidFill>
                      <a:srgbClr val="212731"/>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Good and bad on BOTH sides of correct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band</a:t>
                      </a:r>
                    </a:p>
                  </a:txBody>
                  <a:tcPr>
                    <a:solidFill>
                      <a:srgbClr val="5BC8F5"/>
                    </a:solidFill>
                  </a:tcPr>
                </a:tc>
                <a:tc>
                  <a:txBody>
                    <a:bodyPr/>
                    <a:lstStyle/>
                    <a:p>
                      <a:pPr>
                        <a:spcAft>
                          <a:spcPts val="0"/>
                        </a:spcAft>
                      </a:pPr>
                      <a:r>
                        <a:rPr sz="1300" b="1">
                          <a:solidFill>
                            <a:srgbClr val="12161C"/>
                          </a:solidFill>
                          <a:latin typeface="Segoe UI"/>
                        </a:rPr>
                        <a:t>example answer</a:t>
                      </a:r>
                    </a:p>
                  </a:txBody>
                  <a:tcPr>
                    <a:solidFill>
                      <a:srgbClr val="5BC8F5"/>
                    </a:solidFill>
                  </a:tcPr>
                </a:tc>
                <a:tc>
                  <a:txBody>
                    <a:bodyPr/>
                    <a:lstStyle/>
                    <a:p>
                      <a:pPr>
                        <a:spcAft>
                          <a:spcPts val="0"/>
                        </a:spcAft>
                      </a:pPr>
                      <a:r>
                        <a:rPr sz="1300" b="1">
                          <a:solidFill>
                            <a:srgbClr val="12161C"/>
                          </a:solidFill>
                          <a:latin typeface="Segoe UI"/>
                        </a:rPr>
                        <a:t>score</a:t>
                      </a:r>
                    </a:p>
                  </a:txBody>
                  <a:tcPr>
                    <a:solidFill>
                      <a:srgbClr val="5BC8F5"/>
                    </a:solidFill>
                  </a:tcPr>
                </a:tc>
                <a:tc>
                  <a:txBody>
                    <a:bodyPr/>
                    <a:lstStyle/>
                    <a:p>
                      <a:pPr>
                        <a:spcAft>
                          <a:spcPts val="0"/>
                        </a:spcAft>
                      </a:pPr>
                      <a:r>
                        <a:rPr sz="1300" b="1">
                          <a:solidFill>
                            <a:srgbClr val="12161C"/>
                          </a:solidFill>
                          <a:latin typeface="Segoe UI"/>
                        </a:rPr>
                        <a:t>why</a:t>
                      </a:r>
                    </a:p>
                  </a:txBody>
                  <a:tcPr>
                    <a:solidFill>
                      <a:srgbClr val="5BC8F5"/>
                    </a:solidFill>
                  </a:tcPr>
                </a:tc>
              </a:tr>
              <a:tr h="411480">
                <a:tc>
                  <a:txBody>
                    <a:bodyPr/>
                    <a:lstStyle/>
                    <a:p>
                      <a:pPr>
                        <a:spcAft>
                          <a:spcPts val="0"/>
                        </a:spcAft>
                      </a:pPr>
                      <a:r>
                        <a:rPr sz="1200">
                          <a:solidFill>
                            <a:srgbClr val="6ED38A"/>
                          </a:solidFill>
                          <a:latin typeface="Segoe UI"/>
                        </a:rPr>
                        <a:t>CORRECT, good</a:t>
                      </a:r>
                    </a:p>
                  </a:txBody>
                  <a:tcPr>
                    <a:solidFill>
                      <a:srgbClr val="1A1F27"/>
                    </a:solidFill>
                  </a:tcPr>
                </a:tc>
                <a:tc>
                  <a:txBody>
                    <a:bodyPr/>
                    <a:lstStyle/>
                    <a:p>
                      <a:pPr>
                        <a:spcAft>
                          <a:spcPts val="0"/>
                        </a:spcAft>
                      </a:pPr>
                      <a:r>
                        <a:rPr sz="1200">
                          <a:solidFill>
                            <a:srgbClr val="6ED38A"/>
                          </a:solidFill>
                          <a:latin typeface="Segoe UI"/>
                        </a:rPr>
                        <a:t>“correct: w'/w &lt; 1; incorrect: w'/w &gt; 1”</a:t>
                      </a:r>
                    </a:p>
                  </a:txBody>
                  <a:tcPr>
                    <a:solidFill>
                      <a:srgbClr val="1A1F27"/>
                    </a:solidFill>
                  </a:tcPr>
                </a:tc>
                <a:tc>
                  <a:txBody>
                    <a:bodyPr/>
                    <a:lstStyle/>
                    <a:p>
                      <a:pPr>
                        <a:spcAft>
                          <a:spcPts val="0"/>
                        </a:spcAft>
                      </a:pPr>
                      <a:r>
                        <a:rPr sz="1200">
                          <a:solidFill>
                            <a:srgbClr val="6ED38A"/>
                          </a:solidFill>
                          <a:latin typeface="Segoe UI"/>
                        </a:rPr>
                        <a:t>0.98</a:t>
                      </a:r>
                    </a:p>
                  </a:txBody>
                  <a:tcPr>
                    <a:solidFill>
                      <a:srgbClr val="1A1F27"/>
                    </a:solidFill>
                  </a:tcPr>
                </a:tc>
                <a:tc>
                  <a:txBody>
                    <a:bodyPr/>
                    <a:lstStyle/>
                    <a:p>
                      <a:pPr>
                        <a:spcAft>
                          <a:spcPts val="0"/>
                        </a:spcAft>
                      </a:pPr>
                      <a:r>
                        <a:rPr sz="1200">
                          <a:solidFill>
                            <a:srgbClr val="6ED38A"/>
                          </a:solidFill>
                          <a:latin typeface="Segoe UI"/>
                        </a:rPr>
                        <a:t>exact, complete, could not be shorter</a:t>
                      </a:r>
                    </a:p>
                  </a:txBody>
                  <a:tcPr>
                    <a:solidFill>
                      <a:srgbClr val="1A1F27"/>
                    </a:solidFill>
                  </a:tcPr>
                </a:tc>
              </a:tr>
              <a:tr h="411480">
                <a:tc>
                  <a:txBody>
                    <a:bodyPr/>
                    <a:lstStyle/>
                    <a:p>
                      <a:pPr>
                        <a:spcAft>
                          <a:spcPts val="0"/>
                        </a:spcAft>
                      </a:pPr>
                      <a:r>
                        <a:rPr sz="1200">
                          <a:solidFill>
                            <a:srgbClr val="6ED38A"/>
                          </a:solidFill>
                          <a:latin typeface="Segoe UI"/>
                        </a:rPr>
                        <a:t>CORRECT, bad</a:t>
                      </a:r>
                    </a:p>
                  </a:txBody>
                  <a:tcPr>
                    <a:solidFill>
                      <a:srgbClr val="212731"/>
                    </a:solidFill>
                  </a:tcPr>
                </a:tc>
                <a:tc>
                  <a:txBody>
                    <a:bodyPr/>
                    <a:lstStyle/>
                    <a:p>
                      <a:pPr>
                        <a:spcAft>
                          <a:spcPts val="0"/>
                        </a:spcAft>
                      </a:pPr>
                      <a:r>
                        <a:rPr sz="1200">
                          <a:solidFill>
                            <a:srgbClr val="6ED38A"/>
                          </a:solidFill>
                          <a:latin typeface="Segoe UI"/>
                        </a:rPr>
                        <a:t>“what averaging acts on here, statistically, is the variance of the base learners”</a:t>
                      </a:r>
                    </a:p>
                  </a:txBody>
                  <a:tcPr>
                    <a:solidFill>
                      <a:srgbClr val="212731"/>
                    </a:solidFill>
                  </a:tcPr>
                </a:tc>
                <a:tc>
                  <a:txBody>
                    <a:bodyPr/>
                    <a:lstStyle/>
                    <a:p>
                      <a:pPr>
                        <a:spcAft>
                          <a:spcPts val="0"/>
                        </a:spcAft>
                      </a:pPr>
                      <a:r>
                        <a:rPr sz="1200">
                          <a:solidFill>
                            <a:srgbClr val="6ED38A"/>
                          </a:solidFill>
                          <a:latin typeface="Segoe UI"/>
                        </a:rPr>
                        <a:t>0.72</a:t>
                      </a:r>
                    </a:p>
                  </a:txBody>
                  <a:tcPr>
                    <a:solidFill>
                      <a:srgbClr val="212731"/>
                    </a:solidFill>
                  </a:tcPr>
                </a:tc>
                <a:tc>
                  <a:txBody>
                    <a:bodyPr/>
                    <a:lstStyle/>
                    <a:p>
                      <a:pPr>
                        <a:spcAft>
                          <a:spcPts val="0"/>
                        </a:spcAft>
                      </a:pPr>
                      <a:r>
                        <a:rPr sz="1200">
                          <a:solidFill>
                            <a:srgbClr val="6ED38A"/>
                          </a:solidFill>
                          <a:latin typeface="Segoe UI"/>
                        </a:rPr>
                        <a:t>states the claim, takes too long — right answer, low band</a:t>
                      </a:r>
                    </a:p>
                  </a:txBody>
                  <a:tcPr>
                    <a:solidFill>
                      <a:srgbClr val="212731"/>
                    </a:solidFill>
                  </a:tcPr>
                </a:tc>
              </a:tr>
              <a:tr h="411480">
                <a:tc>
                  <a:txBody>
                    <a:bodyPr/>
                    <a:lstStyle/>
                    <a:p>
                      <a:pPr>
                        <a:spcAft>
                          <a:spcPts val="0"/>
                        </a:spcAft>
                      </a:pPr>
                      <a:r>
                        <a:rPr sz="1200">
                          <a:solidFill>
                            <a:srgbClr val="F27A7A"/>
                          </a:solidFill>
                          <a:latin typeface="Segoe UI"/>
                        </a:rPr>
                        <a:t>WRONG, good</a:t>
                      </a:r>
                    </a:p>
                  </a:txBody>
                  <a:tcPr>
                    <a:solidFill>
                      <a:srgbClr val="1A1F27"/>
                    </a:solidFill>
                  </a:tcPr>
                </a:tc>
                <a:tc>
                  <a:txBody>
                    <a:bodyPr/>
                    <a:lstStyle/>
                    <a:p>
                      <a:pPr>
                        <a:spcAft>
                          <a:spcPts val="0"/>
                        </a:spcAft>
                      </a:pPr>
                      <a:r>
                        <a:rPr sz="1200">
                          <a:solidFill>
                            <a:srgbClr val="F27A7A"/>
                          </a:solidFill>
                          <a:latin typeface="Segoe UI"/>
                        </a:rPr>
                        <a:t>“bias, since averaging corrects underfitting”</a:t>
                      </a:r>
                    </a:p>
                  </a:txBody>
                  <a:tcPr>
                    <a:solidFill>
                      <a:srgbClr val="1A1F27"/>
                    </a:solidFill>
                  </a:tcPr>
                </a:tc>
                <a:tc>
                  <a:txBody>
                    <a:bodyPr/>
                    <a:lstStyle/>
                    <a:p>
                      <a:pPr>
                        <a:spcAft>
                          <a:spcPts val="0"/>
                        </a:spcAft>
                      </a:pPr>
                      <a:r>
                        <a:rPr sz="1200">
                          <a:solidFill>
                            <a:srgbClr val="F27A7A"/>
                          </a:solidFill>
                          <a:latin typeface="Segoe UI"/>
                        </a:rPr>
                        <a:t>0.45</a:t>
                      </a:r>
                    </a:p>
                  </a:txBody>
                  <a:tcPr>
                    <a:solidFill>
                      <a:srgbClr val="1A1F27"/>
                    </a:solidFill>
                  </a:tcPr>
                </a:tc>
                <a:tc>
                  <a:txBody>
                    <a:bodyPr/>
                    <a:lstStyle/>
                    <a:p>
                      <a:pPr>
                        <a:spcAft>
                          <a:spcPts val="0"/>
                        </a:spcAft>
                      </a:pPr>
                      <a:r>
                        <a:rPr sz="1200">
                          <a:solidFill>
                            <a:srgbClr val="F27A7A"/>
                          </a:solidFill>
                          <a:latin typeface="Segoe UI"/>
                        </a:rPr>
                        <a:t>COMMITS to a named mechanism; the mechanism is false</a:t>
                      </a:r>
                    </a:p>
                  </a:txBody>
                  <a:tcPr>
                    <a:solidFill>
                      <a:srgbClr val="1A1F27"/>
                    </a:solidFill>
                  </a:tcPr>
                </a:tc>
              </a:tr>
              <a:tr h="411480">
                <a:tc>
                  <a:txBody>
                    <a:bodyPr/>
                    <a:lstStyle/>
                    <a:p>
                      <a:pPr>
                        <a:spcAft>
                          <a:spcPts val="0"/>
                        </a:spcAft>
                      </a:pPr>
                      <a:r>
                        <a:rPr sz="1200">
                          <a:solidFill>
                            <a:srgbClr val="F27A7A"/>
                          </a:solidFill>
                          <a:latin typeface="Segoe UI"/>
                        </a:rPr>
                        <a:t>WRONG, bad</a:t>
                      </a:r>
                    </a:p>
                  </a:txBody>
                  <a:tcPr>
                    <a:solidFill>
                      <a:srgbClr val="212731"/>
                    </a:solidFill>
                  </a:tcPr>
                </a:tc>
                <a:tc>
                  <a:txBody>
                    <a:bodyPr/>
                    <a:lstStyle/>
                    <a:p>
                      <a:pPr>
                        <a:spcAft>
                          <a:spcPts val="0"/>
                        </a:spcAft>
                      </a:pPr>
                      <a:r>
                        <a:rPr sz="1200">
                          <a:solidFill>
                            <a:srgbClr val="F27A7A"/>
                          </a:solidFill>
                          <a:latin typeface="Segoe UI"/>
                        </a:rPr>
                        <a:t>“Yes, that is the standard approach.”</a:t>
                      </a:r>
                    </a:p>
                  </a:txBody>
                  <a:tcPr>
                    <a:solidFill>
                      <a:srgbClr val="212731"/>
                    </a:solidFill>
                  </a:tcPr>
                </a:tc>
                <a:tc>
                  <a:txBody>
                    <a:bodyPr/>
                    <a:lstStyle/>
                    <a:p>
                      <a:pPr>
                        <a:spcAft>
                          <a:spcPts val="0"/>
                        </a:spcAft>
                      </a:pPr>
                      <a:r>
                        <a:rPr sz="1200">
                          <a:solidFill>
                            <a:srgbClr val="F27A7A"/>
                          </a:solidFill>
                          <a:latin typeface="Segoe UI"/>
                        </a:rPr>
                        <a:t>0.05</a:t>
                      </a:r>
                    </a:p>
                  </a:txBody>
                  <a:tcPr>
                    <a:solidFill>
                      <a:srgbClr val="212731"/>
                    </a:solidFill>
                  </a:tcPr>
                </a:tc>
                <a:tc>
                  <a:txBody>
                    <a:bodyPr/>
                    <a:lstStyle/>
                    <a:p>
                      <a:pPr>
                        <a:spcAft>
                          <a:spcPts val="0"/>
                        </a:spcAft>
                      </a:pPr>
                      <a:r>
                        <a:rPr sz="1200">
                          <a:solidFill>
                            <a:srgbClr val="F27A7A"/>
                          </a:solidFill>
                          <a:latin typeface="Segoe UI"/>
                        </a:rPr>
                        <a:t>content-free deferral — it asserted nothing, so nothing is wrong</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Verbose is not the same as vague. Length moves an answer WITHIN a band; commitment decides WHICH band.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Three models, three different jobs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Generation — OpenRouter qwen/qwen3.5-9b wrote the 748 QA items.</a:t>
            </a:r>
          </a:p>
          <a:p>
            <a:pPr>
              <a:spcAft>
                <a:spcPts val="900"/>
              </a:spcAft>
            </a:pPr>
            <a:r>
              <a:rPr sz="1800" b="1">
                <a:solidFill>
                  <a:srgbClr val="E8ECF1"/>
                </a:solidFill>
                <a:latin typeface="Segoe UI"/>
              </a:rPr>
              <a:t>Rubric authorship — the scale and its worked examples are the owner’s policy, set once.</a:t>
            </a:r>
          </a:p>
          <a:p>
            <a:pPr>
              <a:spcAft>
                <a:spcPts val="900"/>
              </a:spcAft>
            </a:pPr>
            <a:r>
              <a:rPr sz="1800" b="1">
                <a:solidFill>
                  <a:srgbClr val="5BC8F5"/>
                </a:solidFill>
                <a:latin typeface="Segoe UI"/>
              </a:rPr>
              <a:t>Judging — a local 4b APPLIES that policy at score time.</a:t>
            </a:r>
          </a:p>
          <a:p>
            <a:pPr>
              <a:spcAft>
                <a:spcPts val="400"/>
              </a:spcAft>
            </a:pPr>
            <a:r>
              <a:rPr sz="1500" b="0">
                <a:solidFill>
                  <a:srgbClr val="9AA6B4"/>
                </a:solidFill>
                <a:latin typeface="Segoe UI"/>
              </a:rPr>
              <a:t>     The judge is the cheap model interpreting a policy written by a stronger one.</a:t>
            </a:r>
          </a:p>
          <a:p>
            <a:pPr>
              <a:spcAft>
                <a:spcPts val="900"/>
              </a:spcAft>
            </a:pPr>
            <a:r>
              <a:rPr sz="1800" b="1">
                <a:solidFill>
                  <a:srgbClr val="F27A7A"/>
                </a:solidFill>
                <a:latin typeface="Segoe UI"/>
              </a:rPr>
              <a:t>2b was tested and REJECTED: it accepted 3 of 12 fluent-wrong answers where the 4b and the 9b teacher both rejected 12/12.</a:t>
            </a:r>
          </a:p>
          <a:p>
            <a:pPr>
              <a:spcAft>
                <a:spcPts val="400"/>
              </a:spcAft>
            </a:pPr>
            <a:r>
              <a:rPr sz="1500" b="0">
                <a:solidFill>
                  <a:srgbClr val="9AA6B4"/>
                </a:solidFill>
                <a:latin typeface="Segoe UI"/>
              </a:rPr>
              <a:t>     A judge fooled by fluency manufactures lift that looks real.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discovery: comparative scoring, not absolute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F27A7A"/>
                </a:solidFill>
                <a:latin typeface="Segoe UI"/>
              </a:rPr>
              <a:t>Every gold scored EXACTLY 0.980. Three runs. sd 0.0000. One distinct value.</a:t>
            </a:r>
          </a:p>
          <a:p>
            <a:pPr>
              <a:spcAft>
                <a:spcPts val="900"/>
              </a:spcAft>
            </a:pPr>
            <a:r>
              <a:rPr sz="1800" b="1">
                <a:solidFill>
                  <a:srgbClr val="E8ECF1"/>
                </a:solidFill>
                <a:latin typeface="Segoe UI"/>
              </a:rPr>
              <a:t>A day spent on the wrong fix: new exemplars spanning 0.72-0.98, reasoning generated before the score, three judge models swapped. Gold stayed flat.</a:t>
            </a:r>
          </a:p>
          <a:p>
            <a:pPr>
              <a:spcAft>
                <a:spcPts val="400"/>
              </a:spcAft>
            </a:pPr>
            <a:r>
              <a:rPr sz="1500" b="0">
                <a:solidFill>
                  <a:srgbClr val="9AA6B4"/>
                </a:solidFill>
                <a:latin typeface="Segoe UI"/>
              </a:rPr>
              <a:t>     Shown ONE correct answer, the only question a judge can answer is “is this correct?” — and every gold is correct.</a:t>
            </a:r>
          </a:p>
          <a:p>
            <a:pPr>
              <a:spcAft>
                <a:spcPts val="400"/>
              </a:spcAft>
            </a:pPr>
            <a:r>
              <a:rPr sz="1500" b="0">
                <a:solidFill>
                  <a:srgbClr val="5BC8F5"/>
                </a:solidFill>
                <a:latin typeface="Segoe UI"/>
              </a:rPr>
              <a:t>     Shown TWELVE, it must RANK them, and can see one states the claim in a clause while another takes three sentences.</a:t>
            </a:r>
          </a:p>
          <a:p>
            <a:pPr>
              <a:spcAft>
                <a:spcPts val="400"/>
              </a:spcAft>
            </a:pPr>
            <a:r>
              <a:rPr sz="1500" b="0">
                <a:solidFill>
                  <a:srgbClr val="6ED38A"/>
                </a:solidFill>
                <a:latin typeface="Segoe UI"/>
              </a:rPr>
              <a:t>     Exemplars teach a SCALE. A scale needs something to compare against.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Same answers, same judge, same rubric — only the protocol changed</a:t>
            </a:r>
          </a:p>
        </p:txBody>
      </p:sp>
      <p:graphicFrame>
        <p:nvGraphicFramePr>
          <p:cNvPr id="4" name="Table 3"/>
          <p:cNvGraphicFramePr>
            <a:graphicFrameLocks noGrp="1"/>
          </p:cNvGraphicFramePr>
          <p:nvPr/>
        </p:nvGraphicFramePr>
        <p:xfrm>
          <a:off x="868680" y="1463040"/>
          <a:ext cx="10424160" cy="2423160"/>
        </p:xfrm>
        <a:graphic>
          <a:graphicData uri="http://schemas.openxmlformats.org/drawingml/2006/table">
            <a:tbl>
              <a:tblPr>
                <a:tableStyleId>{5C22544A-7EE6-4342-B048-85BDC9FD1C3A}</a:tableStyleId>
              </a:tblPr>
              <a:tblGrid>
                <a:gridCol w="3474720"/>
                <a:gridCol w="3474720"/>
                <a:gridCol w="3474720"/>
              </a:tblGrid>
              <a:tr h="403860">
                <a:tc>
                  <a:txBody>
                    <a:bodyPr/>
                    <a:lstStyle/>
                    <a:p>
                      <a:pPr>
                        <a:spcAft>
                          <a:spcPts val="0"/>
                        </a:spcAft>
                      </a:pPr>
                    </a:p>
                  </a:txBody>
                  <a:tcPr>
                    <a:solidFill>
                      <a:srgbClr val="5BC8F5"/>
                    </a:solidFill>
                  </a:tcPr>
                </a:tc>
                <a:tc>
                  <a:txBody>
                    <a:bodyPr/>
                    <a:lstStyle/>
                    <a:p>
                      <a:pPr>
                        <a:spcAft>
                          <a:spcPts val="0"/>
                        </a:spcAft>
                      </a:pPr>
                      <a:r>
                        <a:rPr sz="1300" b="1">
                          <a:solidFill>
                            <a:srgbClr val="12161C"/>
                          </a:solidFill>
                          <a:latin typeface="Segoe UI"/>
                        </a:rPr>
                        <a:t>individually scored</a:t>
                      </a:r>
                    </a:p>
                  </a:txBody>
                  <a:tcPr>
                    <a:solidFill>
                      <a:srgbClr val="5BC8F5"/>
                    </a:solidFill>
                  </a:tcPr>
                </a:tc>
                <a:tc>
                  <a:txBody>
                    <a:bodyPr/>
                    <a:lstStyle/>
                    <a:p>
                      <a:pPr>
                        <a:spcAft>
                          <a:spcPts val="0"/>
                        </a:spcAft>
                      </a:pPr>
                      <a:r>
                        <a:rPr sz="1300" b="1">
                          <a:solidFill>
                            <a:srgbClr val="12161C"/>
                          </a:solidFill>
                          <a:latin typeface="Segoe UI"/>
                        </a:rPr>
                        <a:t>scored as a batch</a:t>
                      </a:r>
                    </a:p>
                  </a:txBody>
                  <a:tcPr>
                    <a:solidFill>
                      <a:srgbClr val="5BC8F5"/>
                    </a:solidFill>
                  </a:tcPr>
                </a:tc>
              </a:tr>
              <a:tr h="403860">
                <a:tc>
                  <a:txBody>
                    <a:bodyPr/>
                    <a:lstStyle/>
                    <a:p>
                      <a:pPr>
                        <a:spcAft>
                          <a:spcPts val="0"/>
                        </a:spcAft>
                      </a:pPr>
                      <a:r>
                        <a:rPr sz="1200">
                          <a:solidFill>
                            <a:srgbClr val="E8ECF1"/>
                          </a:solidFill>
                          <a:latin typeface="Segoe UI"/>
                        </a:rPr>
                        <a:t>gold spread (sd)</a:t>
                      </a:r>
                    </a:p>
                  </a:txBody>
                  <a:tcPr>
                    <a:solidFill>
                      <a:srgbClr val="1A1F27"/>
                    </a:solidFill>
                  </a:tcPr>
                </a:tc>
                <a:tc>
                  <a:txBody>
                    <a:bodyPr/>
                    <a:lstStyle/>
                    <a:p>
                      <a:pPr>
                        <a:spcAft>
                          <a:spcPts val="0"/>
                        </a:spcAft>
                      </a:pPr>
                      <a:r>
                        <a:rPr sz="1200">
                          <a:solidFill>
                            <a:srgbClr val="E8ECF1"/>
                          </a:solidFill>
                          <a:latin typeface="Segoe UI"/>
                        </a:rPr>
                        <a:t>0.0000</a:t>
                      </a:r>
                    </a:p>
                  </a:txBody>
                  <a:tcPr>
                    <a:solidFill>
                      <a:srgbClr val="1A1F27"/>
                    </a:solidFill>
                  </a:tcPr>
                </a:tc>
                <a:tc>
                  <a:txBody>
                    <a:bodyPr/>
                    <a:lstStyle/>
                    <a:p>
                      <a:pPr>
                        <a:spcAft>
                          <a:spcPts val="0"/>
                        </a:spcAft>
                      </a:pPr>
                      <a:r>
                        <a:rPr sz="1200">
                          <a:solidFill>
                            <a:srgbClr val="E8ECF1"/>
                          </a:solidFill>
                          <a:latin typeface="Segoe UI"/>
                        </a:rPr>
                        <a:t>0.0757</a:t>
                      </a:r>
                    </a:p>
                  </a:txBody>
                  <a:tcPr>
                    <a:solidFill>
                      <a:srgbClr val="1A1F27"/>
                    </a:solidFill>
                  </a:tcPr>
                </a:tc>
              </a:tr>
              <a:tr h="403860">
                <a:tc>
                  <a:txBody>
                    <a:bodyPr/>
                    <a:lstStyle/>
                    <a:p>
                      <a:pPr>
                        <a:spcAft>
                          <a:spcPts val="0"/>
                        </a:spcAft>
                      </a:pPr>
                      <a:r>
                        <a:rPr sz="1200">
                          <a:solidFill>
                            <a:srgbClr val="E8ECF1"/>
                          </a:solidFill>
                          <a:latin typeface="Segoe UI"/>
                        </a:rPr>
                        <a:t>distinct values</a:t>
                      </a:r>
                    </a:p>
                  </a:txBody>
                  <a:tcPr>
                    <a:solidFill>
                      <a:srgbClr val="212731"/>
                    </a:solidFill>
                  </a:tcPr>
                </a:tc>
                <a:tc>
                  <a:txBody>
                    <a:bodyPr/>
                    <a:lstStyle/>
                    <a:p>
                      <a:pPr>
                        <a:spcAft>
                          <a:spcPts val="0"/>
                        </a:spcAft>
                      </a:pPr>
                      <a:r>
                        <a:rPr sz="1200">
                          <a:solidFill>
                            <a:srgbClr val="E8ECF1"/>
                          </a:solidFill>
                          <a:latin typeface="Segoe UI"/>
                        </a:rPr>
                        <a:t>1</a:t>
                      </a:r>
                    </a:p>
                  </a:txBody>
                  <a:tcPr>
                    <a:solidFill>
                      <a:srgbClr val="212731"/>
                    </a:solidFill>
                  </a:tcPr>
                </a:tc>
                <a:tc>
                  <a:txBody>
                    <a:bodyPr/>
                    <a:lstStyle/>
                    <a:p>
                      <a:pPr>
                        <a:spcAft>
                          <a:spcPts val="0"/>
                        </a:spcAft>
                      </a:pPr>
                      <a:r>
                        <a:rPr sz="1200">
                          <a:solidFill>
                            <a:srgbClr val="E8ECF1"/>
                          </a:solidFill>
                          <a:latin typeface="Segoe UI"/>
                        </a:rPr>
                        <a:t>5</a:t>
                      </a:r>
                    </a:p>
                  </a:txBody>
                  <a:tcPr>
                    <a:solidFill>
                      <a:srgbClr val="212731"/>
                    </a:solidFill>
                  </a:tcPr>
                </a:tc>
              </a:tr>
              <a:tr h="403860">
                <a:tc>
                  <a:txBody>
                    <a:bodyPr/>
                    <a:lstStyle/>
                    <a:p>
                      <a:pPr>
                        <a:spcAft>
                          <a:spcPts val="0"/>
                        </a:spcAft>
                      </a:pPr>
                      <a:r>
                        <a:rPr sz="1200">
                          <a:solidFill>
                            <a:srgbClr val="E8ECF1"/>
                          </a:solidFill>
                          <a:latin typeface="Segoe UI"/>
                        </a:rPr>
                        <a:t>binary correct (base, n=48)</a:t>
                      </a:r>
                    </a:p>
                  </a:txBody>
                  <a:tcPr>
                    <a:solidFill>
                      <a:srgbClr val="1A1F27"/>
                    </a:solidFill>
                  </a:tcPr>
                </a:tc>
                <a:tc>
                  <a:txBody>
                    <a:bodyPr/>
                    <a:lstStyle/>
                    <a:p>
                      <a:pPr>
                        <a:spcAft>
                          <a:spcPts val="0"/>
                        </a:spcAft>
                      </a:pPr>
                      <a:r>
                        <a:rPr sz="1200">
                          <a:solidFill>
                            <a:srgbClr val="E8ECF1"/>
                          </a:solidFill>
                          <a:latin typeface="Segoe UI"/>
                        </a:rPr>
                        <a:t>12  (25.0%)</a:t>
                      </a:r>
                    </a:p>
                  </a:txBody>
                  <a:tcPr>
                    <a:solidFill>
                      <a:srgbClr val="1A1F27"/>
                    </a:solidFill>
                  </a:tcPr>
                </a:tc>
                <a:tc>
                  <a:txBody>
                    <a:bodyPr/>
                    <a:lstStyle/>
                    <a:p>
                      <a:pPr>
                        <a:spcAft>
                          <a:spcPts val="0"/>
                        </a:spcAft>
                      </a:pPr>
                      <a:r>
                        <a:rPr sz="1200">
                          <a:solidFill>
                            <a:srgbClr val="E8ECF1"/>
                          </a:solidFill>
                          <a:latin typeface="Segoe UI"/>
                        </a:rPr>
                        <a:t>16  (33.3%)</a:t>
                      </a:r>
                    </a:p>
                  </a:txBody>
                  <a:tcPr>
                    <a:solidFill>
                      <a:srgbClr val="1A1F27"/>
                    </a:solidFill>
                  </a:tcPr>
                </a:tc>
              </a:tr>
              <a:tr h="403860">
                <a:tc>
                  <a:txBody>
                    <a:bodyPr/>
                    <a:lstStyle/>
                    <a:p>
                      <a:pPr>
                        <a:spcAft>
                          <a:spcPts val="0"/>
                        </a:spcAft>
                      </a:pPr>
                      <a:r>
                        <a:rPr sz="1200">
                          <a:solidFill>
                            <a:srgbClr val="E8ECF1"/>
                          </a:solidFill>
                          <a:latin typeface="Segoe UI"/>
                        </a:rPr>
                        <a:t>items crossing 0.70</a:t>
                      </a:r>
                    </a:p>
                  </a:txBody>
                  <a:tcPr>
                    <a:solidFill>
                      <a:srgbClr val="212731"/>
                    </a:solidFill>
                  </a:tcPr>
                </a:tc>
                <a:tc>
                  <a:txBody>
                    <a:bodyPr/>
                    <a:lstStyle/>
                    <a:p>
                      <a:pPr>
                        <a:spcAft>
                          <a:spcPts val="0"/>
                        </a:spcAft>
                      </a:pPr>
                      <a:r>
                        <a:rPr sz="1200">
                          <a:solidFill>
                            <a:srgbClr val="E8ECF1"/>
                          </a:solidFill>
                          <a:latin typeface="Segoe UI"/>
                        </a:rPr>
                        <a:t>—</a:t>
                      </a:r>
                    </a:p>
                  </a:txBody>
                  <a:tcPr>
                    <a:solidFill>
                      <a:srgbClr val="212731"/>
                    </a:solidFill>
                  </a:tcPr>
                </a:tc>
                <a:tc>
                  <a:txBody>
                    <a:bodyPr/>
                    <a:lstStyle/>
                    <a:p>
                      <a:pPr>
                        <a:spcAft>
                          <a:spcPts val="0"/>
                        </a:spcAft>
                      </a:pPr>
                      <a:r>
                        <a:rPr sz="1200">
                          <a:solidFill>
                            <a:srgbClr val="E8ECF1"/>
                          </a:solidFill>
                          <a:latin typeface="Segoe UI"/>
                        </a:rPr>
                        <a:t>8</a:t>
                      </a:r>
                    </a:p>
                  </a:txBody>
                  <a:tcPr>
                    <a:solidFill>
                      <a:srgbClr val="212731"/>
                    </a:solidFill>
                  </a:tcPr>
                </a:tc>
              </a:tr>
              <a:tr h="403860">
                <a:tc>
                  <a:txBody>
                    <a:bodyPr/>
                    <a:lstStyle/>
                    <a:p>
                      <a:pPr>
                        <a:spcAft>
                          <a:spcPts val="0"/>
                        </a:spcAft>
                      </a:pPr>
                      <a:r>
                        <a:rPr sz="1200">
                          <a:solidFill>
                            <a:srgbClr val="E8ECF1"/>
                          </a:solidFill>
                          <a:latin typeface="Segoe UI"/>
                        </a:rPr>
                        <a:t>latency, 12 items</a:t>
                      </a:r>
                    </a:p>
                  </a:txBody>
                  <a:tcPr>
                    <a:solidFill>
                      <a:srgbClr val="1A1F27"/>
                    </a:solidFill>
                  </a:tcPr>
                </a:tc>
                <a:tc>
                  <a:txBody>
                    <a:bodyPr/>
                    <a:lstStyle/>
                    <a:p>
                      <a:pPr>
                        <a:spcAft>
                          <a:spcPts val="0"/>
                        </a:spcAft>
                      </a:pPr>
                      <a:r>
                        <a:rPr sz="1200">
                          <a:solidFill>
                            <a:srgbClr val="E8ECF1"/>
                          </a:solidFill>
                          <a:latin typeface="Segoe UI"/>
                        </a:rPr>
                        <a:t>146 s</a:t>
                      </a:r>
                    </a:p>
                  </a:txBody>
                  <a:tcPr>
                    <a:solidFill>
                      <a:srgbClr val="1A1F27"/>
                    </a:solidFill>
                  </a:tcPr>
                </a:tc>
                <a:tc>
                  <a:txBody>
                    <a:bodyPr/>
                    <a:lstStyle/>
                    <a:p>
                      <a:pPr>
                        <a:spcAft>
                          <a:spcPts val="0"/>
                        </a:spcAft>
                      </a:pPr>
                      <a:r>
                        <a:rPr sz="1200">
                          <a:solidFill>
                            <a:srgbClr val="E8ECF1"/>
                          </a:solidFill>
                          <a:latin typeface="Segoe UI"/>
                        </a:rPr>
                        <a:t>58 s</a:t>
                      </a:r>
                    </a:p>
                  </a:txBody>
                  <a:tcPr>
                    <a:solidFill>
                      <a:srgbClr val="1A1F2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ACT 4</a:t>
            </a:r>
          </a:p>
          <a:p>
            <a:pPr>
              <a:spcAft>
                <a:spcPts val="600"/>
              </a:spcAft>
            </a:pPr>
            <a:r>
              <a:rPr sz="3400" b="1">
                <a:solidFill>
                  <a:srgbClr val="E8ECF1"/>
                </a:solidFill>
                <a:latin typeface="Segoe UI"/>
              </a:rPr>
              <a:t>Eleven defects that all looked like success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Every one produced healthy-looking output</a:t>
            </a:r>
          </a:p>
        </p:txBody>
      </p:sp>
      <p:graphicFrame>
        <p:nvGraphicFramePr>
          <p:cNvPr id="4" name="Table 3"/>
          <p:cNvGraphicFramePr>
            <a:graphicFrameLocks noGrp="1"/>
          </p:cNvGraphicFramePr>
          <p:nvPr/>
        </p:nvGraphicFramePr>
        <p:xfrm>
          <a:off x="868680" y="1463040"/>
          <a:ext cx="10424160" cy="3520440"/>
        </p:xfrm>
        <a:graphic>
          <a:graphicData uri="http://schemas.openxmlformats.org/drawingml/2006/table">
            <a:tbl>
              <a:tblPr>
                <a:tableStyleId>{5C22544A-7EE6-4342-B048-85BDC9FD1C3A}</a:tableStyleId>
              </a:tblPr>
              <a:tblGrid>
                <a:gridCol w="5212080"/>
                <a:gridCol w="5212080"/>
              </a:tblGrid>
              <a:tr h="391160">
                <a:tc>
                  <a:txBody>
                    <a:bodyPr/>
                    <a:lstStyle/>
                    <a:p>
                      <a:pPr>
                        <a:spcAft>
                          <a:spcPts val="0"/>
                        </a:spcAft>
                      </a:pPr>
                      <a:r>
                        <a:rPr sz="1300" b="1">
                          <a:solidFill>
                            <a:srgbClr val="12161C"/>
                          </a:solidFill>
                          <a:latin typeface="Segoe UI"/>
                        </a:rPr>
                        <a:t>defect</a:t>
                      </a:r>
                    </a:p>
                  </a:txBody>
                  <a:tcPr>
                    <a:solidFill>
                      <a:srgbClr val="5BC8F5"/>
                    </a:solidFill>
                  </a:tcPr>
                </a:tc>
                <a:tc>
                  <a:txBody>
                    <a:bodyPr/>
                    <a:lstStyle/>
                    <a:p>
                      <a:pPr>
                        <a:spcAft>
                          <a:spcPts val="0"/>
                        </a:spcAft>
                      </a:pPr>
                      <a:r>
                        <a:rPr sz="1300" b="1">
                          <a:solidFill>
                            <a:srgbClr val="12161C"/>
                          </a:solidFill>
                          <a:latin typeface="Segoe UI"/>
                        </a:rPr>
                        <a:t>what made it invisible</a:t>
                      </a:r>
                    </a:p>
                  </a:txBody>
                  <a:tcPr>
                    <a:solidFill>
                      <a:srgbClr val="5BC8F5"/>
                    </a:solidFill>
                  </a:tcPr>
                </a:tc>
              </a:tr>
              <a:tr h="391160">
                <a:tc>
                  <a:txBody>
                    <a:bodyPr/>
                    <a:lstStyle/>
                    <a:p>
                      <a:pPr>
                        <a:spcAft>
                          <a:spcPts val="0"/>
                        </a:spcAft>
                      </a:pPr>
                      <a:r>
                        <a:rPr sz="1200">
                          <a:solidFill>
                            <a:srgbClr val="9AA6B4"/>
                          </a:solidFill>
                          <a:latin typeface="Segoe UI"/>
                        </a:rPr>
                        <a:t>plan_tasks() never called by main()</a:t>
                      </a:r>
                    </a:p>
                  </a:txBody>
                  <a:tcPr>
                    <a:solidFill>
                      <a:srgbClr val="1A1F27"/>
                    </a:solidFill>
                  </a:tcPr>
                </a:tc>
                <a:tc>
                  <a:txBody>
                    <a:bodyPr/>
                    <a:lstStyle/>
                    <a:p>
                      <a:pPr>
                        <a:spcAft>
                          <a:spcPts val="0"/>
                        </a:spcAft>
                      </a:pPr>
                      <a:r>
                        <a:rPr sz="1200">
                          <a:solidFill>
                            <a:srgbClr val="9AA6B4"/>
                          </a:solidFill>
                          <a:latin typeface="Segoe UI"/>
                        </a:rPr>
                        <a:t>spec asserted it was wired AND tested; neither was</a:t>
                      </a:r>
                    </a:p>
                  </a:txBody>
                  <a:tcPr>
                    <a:solidFill>
                      <a:srgbClr val="1A1F27"/>
                    </a:solidFill>
                  </a:tcPr>
                </a:tc>
              </a:tr>
              <a:tr h="391160">
                <a:tc>
                  <a:txBody>
                    <a:bodyPr/>
                    <a:lstStyle/>
                    <a:p>
                      <a:pPr>
                        <a:spcAft>
                          <a:spcPts val="0"/>
                        </a:spcAft>
                      </a:pPr>
                      <a:r>
                        <a:rPr sz="1200">
                          <a:solidFill>
                            <a:srgbClr val="9AA6B4"/>
                          </a:solidFill>
                          <a:latin typeface="Segoe UI"/>
                        </a:rPr>
                        <a:t>few-shot contradicted its own instruction</a:t>
                      </a:r>
                    </a:p>
                  </a:txBody>
                  <a:tcPr>
                    <a:solidFill>
                      <a:srgbClr val="212731"/>
                    </a:solidFill>
                  </a:tcPr>
                </a:tc>
                <a:tc>
                  <a:txBody>
                    <a:bodyPr/>
                    <a:lstStyle/>
                    <a:p>
                      <a:pPr>
                        <a:spcAft>
                          <a:spcPts val="0"/>
                        </a:spcAft>
                      </a:pPr>
                      <a:r>
                        <a:rPr sz="1200">
                          <a:solidFill>
                            <a:srgbClr val="9AA6B4"/>
                          </a:solidFill>
                          <a:latin typeface="Segoe UI"/>
                        </a:rPr>
                        <a:t>prompts were well-formed</a:t>
                      </a:r>
                    </a:p>
                  </a:txBody>
                  <a:tcPr>
                    <a:solidFill>
                      <a:srgbClr val="212731"/>
                    </a:solidFill>
                  </a:tcPr>
                </a:tc>
              </a:tr>
              <a:tr h="391160">
                <a:tc>
                  <a:txBody>
                    <a:bodyPr/>
                    <a:lstStyle/>
                    <a:p>
                      <a:pPr>
                        <a:spcAft>
                          <a:spcPts val="0"/>
                        </a:spcAft>
                      </a:pPr>
                      <a:r>
                        <a:rPr sz="1200">
                          <a:solidFill>
                            <a:srgbClr val="9AA6B4"/>
                          </a:solidFill>
                          <a:latin typeface="Segoe UI"/>
                        </a:rPr>
                        <a:t>num_predict unset → unbounded generation</a:t>
                      </a:r>
                    </a:p>
                  </a:txBody>
                  <a:tcPr>
                    <a:solidFill>
                      <a:srgbClr val="1A1F27"/>
                    </a:solidFill>
                  </a:tcPr>
                </a:tc>
                <a:tc>
                  <a:txBody>
                    <a:bodyPr/>
                    <a:lstStyle/>
                    <a:p>
                      <a:pPr>
                        <a:spcAft>
                          <a:spcPts val="0"/>
                        </a:spcAft>
                      </a:pPr>
                      <a:r>
                        <a:rPr sz="1200">
                          <a:solidFill>
                            <a:srgbClr val="9AA6B4"/>
                          </a:solidFill>
                          <a:latin typeface="Segoe UI"/>
                        </a:rPr>
                        <a:t>25 min at 100% GPU, ZERO items, no error</a:t>
                      </a:r>
                    </a:p>
                  </a:txBody>
                  <a:tcPr>
                    <a:solidFill>
                      <a:srgbClr val="1A1F27"/>
                    </a:solidFill>
                  </a:tcPr>
                </a:tc>
              </a:tr>
              <a:tr h="391160">
                <a:tc>
                  <a:txBody>
                    <a:bodyPr/>
                    <a:lstStyle/>
                    <a:p>
                      <a:pPr>
                        <a:spcAft>
                          <a:spcPts val="0"/>
                        </a:spcAft>
                      </a:pPr>
                      <a:r>
                        <a:rPr sz="1200">
                          <a:solidFill>
                            <a:srgbClr val="9AA6B4"/>
                          </a:solidFill>
                          <a:latin typeface="Segoe UI"/>
                        </a:rPr>
                        <a:t>3-hour zombie writing the same file</a:t>
                      </a:r>
                    </a:p>
                  </a:txBody>
                  <a:tcPr>
                    <a:solidFill>
                      <a:srgbClr val="212731"/>
                    </a:solidFill>
                  </a:tcPr>
                </a:tc>
                <a:tc>
                  <a:txBody>
                    <a:bodyPr/>
                    <a:lstStyle/>
                    <a:p>
                      <a:pPr>
                        <a:spcAft>
                          <a:spcPts val="0"/>
                        </a:spcAft>
                      </a:pPr>
                      <a:r>
                        <a:rPr sz="1200">
                          <a:solidFill>
                            <a:srgbClr val="9AA6B4"/>
                          </a:solidFill>
                          <a:latin typeface="Segoe UI"/>
                        </a:rPr>
                        <a:t>wc -l counted NUL padding as items</a:t>
                      </a:r>
                    </a:p>
                  </a:txBody>
                  <a:tcPr>
                    <a:solidFill>
                      <a:srgbClr val="212731"/>
                    </a:solidFill>
                  </a:tcPr>
                </a:tc>
              </a:tr>
              <a:tr h="391160">
                <a:tc>
                  <a:txBody>
                    <a:bodyPr/>
                    <a:lstStyle/>
                    <a:p>
                      <a:pPr>
                        <a:spcAft>
                          <a:spcPts val="0"/>
                        </a:spcAft>
                      </a:pPr>
                      <a:r>
                        <a:rPr sz="1200">
                          <a:solidFill>
                            <a:srgbClr val="9AA6B4"/>
                          </a:solidFill>
                          <a:latin typeface="Segoe UI"/>
                        </a:rPr>
                        <a:t>parse_json missing &lt;think&gt; stripping</a:t>
                      </a:r>
                    </a:p>
                  </a:txBody>
                  <a:tcPr>
                    <a:solidFill>
                      <a:srgbClr val="1A1F27"/>
                    </a:solidFill>
                  </a:tcPr>
                </a:tc>
                <a:tc>
                  <a:txBody>
                    <a:bodyPr/>
                    <a:lstStyle/>
                    <a:p>
                      <a:pPr>
                        <a:spcAft>
                          <a:spcPts val="0"/>
                        </a:spcAft>
                      </a:pPr>
                      <a:r>
                        <a:rPr sz="1200">
                          <a:solidFill>
                            <a:srgbClr val="9AA6B4"/>
                          </a:solidFill>
                          <a:latin typeface="Segoe UI"/>
                        </a:rPr>
                        <a:t>shipped a 2-skill eval silently</a:t>
                      </a:r>
                    </a:p>
                  </a:txBody>
                  <a:tcPr>
                    <a:solidFill>
                      <a:srgbClr val="1A1F27"/>
                    </a:solidFill>
                  </a:tcPr>
                </a:tc>
              </a:tr>
              <a:tr h="391160">
                <a:tc>
                  <a:txBody>
                    <a:bodyPr/>
                    <a:lstStyle/>
                    <a:p>
                      <a:pPr>
                        <a:spcAft>
                          <a:spcPts val="0"/>
                        </a:spcAft>
                      </a:pPr>
                      <a:r>
                        <a:rPr sz="1200">
                          <a:solidFill>
                            <a:srgbClr val="9AA6B4"/>
                          </a:solidFill>
                          <a:latin typeface="Segoe UI"/>
                        </a:rPr>
                        <a:t>timeout 900s under a MEASURED 1451s</a:t>
                      </a:r>
                    </a:p>
                  </a:txBody>
                  <a:tcPr>
                    <a:solidFill>
                      <a:srgbClr val="212731"/>
                    </a:solidFill>
                  </a:tcPr>
                </a:tc>
                <a:tc>
                  <a:txBody>
                    <a:bodyPr/>
                    <a:lstStyle/>
                    <a:p>
                      <a:pPr>
                        <a:spcAft>
                          <a:spcPts val="0"/>
                        </a:spcAft>
                      </a:pPr>
                      <a:r>
                        <a:rPr sz="1200">
                          <a:solidFill>
                            <a:srgbClr val="9AA6B4"/>
                          </a:solidFill>
                          <a:latin typeface="Segoe UI"/>
                        </a:rPr>
                        <a:t>timed out → retried → 49 min, no error</a:t>
                      </a:r>
                    </a:p>
                  </a:txBody>
                  <a:tcPr>
                    <a:solidFill>
                      <a:srgbClr val="212731"/>
                    </a:solidFill>
                  </a:tcPr>
                </a:tc>
              </a:tr>
              <a:tr h="391160">
                <a:tc>
                  <a:txBody>
                    <a:bodyPr/>
                    <a:lstStyle/>
                    <a:p>
                      <a:pPr>
                        <a:spcAft>
                          <a:spcPts val="0"/>
                        </a:spcAft>
                      </a:pPr>
                      <a:r>
                        <a:rPr sz="1200">
                          <a:solidFill>
                            <a:srgbClr val="9AA6B4"/>
                          </a:solidFill>
                          <a:latin typeface="Segoe UI"/>
                        </a:rPr>
                        <a:t>deixis blind to 'the ⟨noun⟩ above'</a:t>
                      </a:r>
                    </a:p>
                  </a:txBody>
                  <a:tcPr>
                    <a:solidFill>
                      <a:srgbClr val="1A1F27"/>
                    </a:solidFill>
                  </a:tcPr>
                </a:tc>
                <a:tc>
                  <a:txBody>
                    <a:bodyPr/>
                    <a:lstStyle/>
                    <a:p>
                      <a:pPr>
                        <a:spcAft>
                          <a:spcPts val="0"/>
                        </a:spcAft>
                      </a:pPr>
                      <a:r>
                        <a:rPr sz="1200">
                          <a:solidFill>
                            <a:srgbClr val="9AA6B4"/>
                          </a:solidFill>
                          <a:latin typeface="Segoe UI"/>
                        </a:rPr>
                        <a:t>'the pseudocode above' parsed cleanly</a:t>
                      </a:r>
                    </a:p>
                  </a:txBody>
                  <a:tcPr>
                    <a:solidFill>
                      <a:srgbClr val="1A1F27"/>
                    </a:solidFill>
                  </a:tcPr>
                </a:tc>
              </a:tr>
              <a:tr h="391160">
                <a:tc>
                  <a:txBody>
                    <a:bodyPr/>
                    <a:lstStyle/>
                    <a:p>
                      <a:pPr>
                        <a:spcAft>
                          <a:spcPts val="0"/>
                        </a:spcAft>
                      </a:pPr>
                      <a:r>
                        <a:rPr sz="1200">
                          <a:solidFill>
                            <a:srgbClr val="9AA6B4"/>
                          </a:solidFill>
                          <a:latin typeface="Segoe UI"/>
                        </a:rPr>
                        <a:t>resume compared cumulative vs remaining</a:t>
                      </a:r>
                    </a:p>
                  </a:txBody>
                  <a:tcPr>
                    <a:solidFill>
                      <a:srgbClr val="212731"/>
                    </a:solidFill>
                  </a:tcPr>
                </a:tc>
                <a:tc>
                  <a:txBody>
                    <a:bodyPr/>
                    <a:lstStyle/>
                    <a:p>
                      <a:pPr>
                        <a:spcAft>
                          <a:spcPts val="0"/>
                        </a:spcAft>
                      </a:pPr>
                      <a:r>
                        <a:rPr sz="1200">
                          <a:solidFill>
                            <a:srgbClr val="9AA6B4"/>
                          </a:solidFill>
                          <a:latin typeface="Segoe UI"/>
                        </a:rPr>
                        <a:t>resumed run exited having done nothing</a:t>
                      </a:r>
                    </a:p>
                  </a:txBody>
                  <a:tcPr>
                    <a:solidFill>
                      <a:srgbClr val="212731"/>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rules those earned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Validate the ARTIFACT, not a count.</a:t>
            </a:r>
          </a:p>
          <a:p>
            <a:pPr>
              <a:spcAft>
                <a:spcPts val="400"/>
              </a:spcAft>
            </a:pPr>
            <a:r>
              <a:rPr sz="1500" b="0">
                <a:solidFill>
                  <a:srgbClr val="9AA6B4"/>
                </a:solidFill>
                <a:latin typeface="Segoe UI"/>
              </a:rPr>
              <a:t>     Parse every record; report corrupt lines. wc -l cannot tell data from padding.</a:t>
            </a:r>
          </a:p>
          <a:p>
            <a:pPr>
              <a:spcAft>
                <a:spcPts val="900"/>
              </a:spcAft>
            </a:pPr>
            <a:r>
              <a:rPr sz="1800" b="1">
                <a:solidFill>
                  <a:srgbClr val="6ED38A"/>
                </a:solidFill>
                <a:latin typeface="Segoe UI"/>
              </a:rPr>
              <a:t>Record provenance per row, and check it.</a:t>
            </a:r>
          </a:p>
          <a:p>
            <a:pPr>
              <a:spcAft>
                <a:spcPts val="400"/>
              </a:spcAft>
            </a:pPr>
            <a:r>
              <a:rPr sz="1500" b="0">
                <a:solidFill>
                  <a:srgbClr val="9AA6B4"/>
                </a:solidFill>
                <a:latin typeface="Segoe UI"/>
              </a:rPr>
              <a:t>     gen_model on every item exposed a foreign writer immediately.</a:t>
            </a:r>
          </a:p>
          <a:p>
            <a:pPr>
              <a:spcAft>
                <a:spcPts val="900"/>
              </a:spcAft>
            </a:pPr>
            <a:r>
              <a:rPr sz="1800" b="1">
                <a:solidFill>
                  <a:srgbClr val="6ED38A"/>
                </a:solidFill>
                <a:latin typeface="Segoe UI"/>
              </a:rPr>
              <a:t>A guard that depends on another branch working is not a guard.</a:t>
            </a:r>
          </a:p>
          <a:p>
            <a:pPr>
              <a:spcAft>
                <a:spcPts val="400"/>
              </a:spcAft>
            </a:pPr>
            <a:r>
              <a:rPr sz="1500" b="0">
                <a:solidFill>
                  <a:srgbClr val="9AA6B4"/>
                </a:solidFill>
                <a:latin typeface="Segoe UI"/>
              </a:rPr>
              <a:t>     The Phase-C skip silently failed; only an independent assert caught it.</a:t>
            </a:r>
          </a:p>
          <a:p>
            <a:pPr>
              <a:spcAft>
                <a:spcPts val="900"/>
              </a:spcAft>
            </a:pPr>
            <a:r>
              <a:rPr sz="1800" b="1">
                <a:solidFill>
                  <a:srgbClr val="6ED38A"/>
                </a:solidFill>
                <a:latin typeface="Segoe UI"/>
              </a:rPr>
              <a:t>Three varied draws, never one.</a:t>
            </a:r>
          </a:p>
          <a:p>
            <a:pPr>
              <a:spcAft>
                <a:spcPts val="400"/>
              </a:spcAft>
            </a:pPr>
            <a:r>
              <a:rPr sz="1500" b="0">
                <a:solidFill>
                  <a:srgbClr val="9AA6B4"/>
                </a:solidFill>
                <a:latin typeface="Segoe UI"/>
              </a:rPr>
              <a:t>     A single lucky pass hid both the trace-budget bug and the deixis leak.</a:t>
            </a:r>
          </a:p>
          <a:p>
            <a:pPr>
              <a:spcAft>
                <a:spcPts val="900"/>
              </a:spcAft>
            </a:pPr>
            <a:r>
              <a:rPr sz="1800" b="1">
                <a:solidFill>
                  <a:srgbClr val="6ED38A"/>
                </a:solidFill>
                <a:latin typeface="Segoe UI"/>
              </a:rPr>
              <a:t>Measure the configuration you will actually run.</a:t>
            </a:r>
          </a:p>
          <a:p>
            <a:pPr>
              <a:spcAft>
                <a:spcPts val="400"/>
              </a:spcAft>
            </a:pPr>
            <a:r>
              <a:rPr sz="1500" b="0">
                <a:solidFill>
                  <a:srgbClr val="9AA6B4"/>
                </a:solidFill>
                <a:latin typeface="Segoe UI"/>
              </a:rPr>
              <a:t>     Timing one model at n=1 said nothing about another at n=10.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HOW WE MEASURE</a:t>
            </a:r>
          </a:p>
          <a:p>
            <a:pPr>
              <a:spcAft>
                <a:spcPts val="600"/>
              </a:spcAft>
            </a:pPr>
            <a:r>
              <a:rPr sz="3400" b="1">
                <a:solidFill>
                  <a:srgbClr val="E8ECF1"/>
                </a:solidFill>
                <a:latin typeface="Segoe UI"/>
              </a:rPr>
              <a:t>Apples to apples, or it is not a measurement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Every failure was ONE failure wearing different clothes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F27A7A"/>
                </a:solidFill>
                <a:latin typeface="Segoe UI"/>
              </a:rPr>
              <a:t>base scored with the OLD judge  vs  the next arm scored with the NEW one.</a:t>
            </a:r>
          </a:p>
          <a:p>
            <a:pPr>
              <a:spcAft>
                <a:spcPts val="900"/>
              </a:spcAft>
            </a:pPr>
            <a:r>
              <a:rPr sz="1800" b="1">
                <a:solidFill>
                  <a:srgbClr val="F27A7A"/>
                </a:solidFill>
                <a:latin typeface="Segoe UI"/>
              </a:rPr>
              <a:t>Gate B scored INDIVIDUALLY  vs  the follow-up scored COMPARATIVELY.</a:t>
            </a:r>
          </a:p>
          <a:p>
            <a:pPr>
              <a:spcAft>
                <a:spcPts val="900"/>
              </a:spcAft>
            </a:pPr>
            <a:r>
              <a:rPr sz="1800" b="1">
                <a:solidFill>
                  <a:srgbClr val="F27A7A"/>
                </a:solidFill>
                <a:latin typeface="Segoe UI"/>
              </a:rPr>
              <a:t>baseline compared on `reward_mean`  vs  trials compared on `rate`.</a:t>
            </a:r>
          </a:p>
          <a:p>
            <a:pPr>
              <a:spcAft>
                <a:spcPts val="400"/>
              </a:spcAft>
            </a:pPr>
            <a:r>
              <a:rPr sz="1500" b="0">
                <a:solidFill>
                  <a:srgbClr val="5BC8F5"/>
                </a:solidFill>
                <a:latin typeface="Segoe UI"/>
              </a:rPr>
              <a:t>     Not three bugs. One: ARMS WERE SCORED IN SEPARATE INVOCATIONS, so the instrument was free to drift between them.</a:t>
            </a:r>
          </a:p>
          <a:p>
            <a:pPr>
              <a:spcAft>
                <a:spcPts val="400"/>
              </a:spcAft>
            </a:pPr>
            <a:r>
              <a:rPr sz="1500" b="0">
                <a:solidFill>
                  <a:srgbClr val="9AA6B4"/>
                </a:solidFill>
                <a:latin typeface="Segoe UI"/>
              </a:rPr>
              <a:t>     A comparison is valid iff every arm is measured by the SAME function on the SAME inputs, differing only in the treatment.</a:t>
            </a:r>
          </a:p>
          <a:p>
            <a:pPr>
              <a:spcAft>
                <a:spcPts val="400"/>
              </a:spcAft>
            </a:pPr>
            <a:r>
              <a:rPr sz="1500" b="0">
                <a:solidFill>
                  <a:srgbClr val="6ED38A"/>
                </a:solidFill>
                <a:latin typeface="Segoe UI"/>
              </a:rPr>
              <a:t>     Fix is structural, not procedural: score every arm in ONE invocation. Constant by construction — there is no second invocation to drift from.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One instrument, three projections — all reported, always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Score once with the graded judge. Read it three ways. Declared BEFORE the run.</a:t>
            </a:r>
          </a:p>
          <a:p>
            <a:pPr>
              <a:spcAft>
                <a:spcPts val="900"/>
              </a:spcAft>
            </a:pPr>
            <a:r>
              <a:rPr sz="1800" b="1">
                <a:solidFill>
                  <a:srgbClr val="5BC8F5"/>
                </a:solidFill>
                <a:latin typeface="Segoe UI"/>
              </a:rPr>
              <a:t>1. BINARY RATE at the fixed 0.70 — the ladder. Comparable base → SFT → RL.</a:t>
            </a:r>
          </a:p>
          <a:p>
            <a:pPr>
              <a:spcAft>
                <a:spcPts val="900"/>
              </a:spcAft>
            </a:pPr>
            <a:r>
              <a:rPr sz="1800" b="1">
                <a:solidFill>
                  <a:srgbClr val="5BC8F5"/>
                </a:solidFill>
                <a:latin typeface="Segoe UI"/>
              </a:rPr>
              <a:t>2. MEAN SCORE WITHIN THE CORRECT CLASS — RL's target. Invisible to the binary.</a:t>
            </a:r>
          </a:p>
          <a:p>
            <a:pPr>
              <a:spcAft>
                <a:spcPts val="900"/>
              </a:spcAft>
            </a:pPr>
            <a:r>
              <a:rPr sz="1800" b="1">
                <a:solidFill>
                  <a:srgbClr val="5BC8F5"/>
                </a:solidFill>
                <a:latin typeface="Segoe UI"/>
              </a:rPr>
              <a:t>3. SEPARATION of the correct and incorrect distributions.</a:t>
            </a:r>
          </a:p>
          <a:p>
            <a:pPr>
              <a:spcAft>
                <a:spcPts val="400"/>
              </a:spcAft>
            </a:pPr>
            <a:r>
              <a:rPr sz="1500" b="0">
                <a:solidFill>
                  <a:srgbClr val="9AA6B4"/>
                </a:solidFill>
                <a:latin typeface="Segoe UI"/>
              </a:rPr>
              <a:t>     SFT moves answers ACROSS the line. RL sharpens them ABOVE it. Different objectives, one instrument — and BOTH publish all three.</a:t>
            </a:r>
          </a:p>
          <a:p>
            <a:pPr>
              <a:spcAft>
                <a:spcPts val="400"/>
              </a:spcAft>
            </a:pPr>
            <a:r>
              <a:rPr sz="1500" b="0">
                <a:solidFill>
                  <a:srgbClr val="6ED38A"/>
                </a:solidFill>
                <a:latin typeface="Segoe UI"/>
              </a:rPr>
              <a:t>     No stage may pick its headline after seeing results.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Why separation needs TWO numbers, not one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KL(correct || incorrect) SATURATES. It asks how badly the wrong-answer distribution fails to cover the right one — not how far apart they are.</a:t>
            </a:r>
          </a:p>
          <a:p>
            <a:pPr>
              <a:spcAft>
                <a:spcPts val="900"/>
              </a:spcAft>
            </a:pPr>
            <a:r>
              <a:rPr sz="1800" b="1">
                <a:solidFill>
                  <a:srgbClr val="F27A7A"/>
                </a:solidFill>
                <a:latin typeface="Segoe UI"/>
              </a:rPr>
              <a:t>Measured: correct ~0.95 vs wrong ~0.72 gives KL 2.58. The same correct vs wrong ~0.05 gives 2.53. FURTHER APART, LOWER KL.</a:t>
            </a:r>
          </a:p>
          <a:p>
            <a:pPr>
              <a:spcAft>
                <a:spcPts val="900"/>
              </a:spcAft>
            </a:pPr>
            <a:r>
              <a:rPr sz="1800" b="1">
                <a:solidFill>
                  <a:srgbClr val="E8ECF1"/>
                </a:solidFill>
                <a:latin typeface="Segoe UI"/>
              </a:rPr>
              <a:t>KL is still the right number for RL — it is the reward overlap GRPO actually sees within a group.</a:t>
            </a:r>
          </a:p>
          <a:p>
            <a:pPr>
              <a:spcAft>
                <a:spcPts val="900"/>
              </a:spcAft>
            </a:pPr>
            <a:r>
              <a:rPr sz="1800" b="1">
                <a:solidFill>
                  <a:srgbClr val="6ED38A"/>
                </a:solidFill>
                <a:latin typeface="Segoe UI"/>
              </a:rPr>
              <a:t>AUC is the monotone one: P(random correct outranks random wrong). 0.5 = none, 1.0 = perfect, and it is THRESHOLD-FREE.</a:t>
            </a:r>
          </a:p>
          <a:p>
            <a:pPr>
              <a:spcAft>
                <a:spcPts val="400"/>
              </a:spcAft>
            </a:pPr>
            <a:r>
              <a:rPr sz="1500" b="0">
                <a:solidFill>
                  <a:srgbClr val="5BC8F5"/>
                </a:solidFill>
                <a:latin typeface="Segoe UI"/>
              </a:rPr>
              <a:t>     So AUC guards the arbitrary 0.70 line, and KL describes what RL can learn from.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number that must never be quoted alone</a:t>
            </a:r>
          </a:p>
        </p:txBody>
      </p:sp>
      <p:graphicFrame>
        <p:nvGraphicFramePr>
          <p:cNvPr id="4" name="Table 3"/>
          <p:cNvGraphicFramePr>
            <a:graphicFrameLocks noGrp="1"/>
          </p:cNvGraphicFramePr>
          <p:nvPr/>
        </p:nvGraphicFramePr>
        <p:xfrm>
          <a:off x="868680" y="1463040"/>
          <a:ext cx="10424160" cy="960120"/>
        </p:xfrm>
        <a:graphic>
          <a:graphicData uri="http://schemas.openxmlformats.org/drawingml/2006/table">
            <a:tbl>
              <a:tblPr>
                <a:tableStyleId>{5C22544A-7EE6-4342-B048-85BDC9FD1C3A}</a:tableStyleId>
              </a:tblPr>
              <a:tblGrid>
                <a:gridCol w="2606040"/>
                <a:gridCol w="2606040"/>
                <a:gridCol w="2606040"/>
                <a:gridCol w="2606040"/>
              </a:tblGrid>
              <a:tr h="480060">
                <a:tc>
                  <a:txBody>
                    <a:bodyPr/>
                    <a:lstStyle/>
                    <a:p>
                      <a:pPr>
                        <a:spcAft>
                          <a:spcPts val="0"/>
                        </a:spcAft>
                      </a:pPr>
                      <a:r>
                        <a:rPr sz="1300" b="1">
                          <a:solidFill>
                            <a:srgbClr val="12161C"/>
                          </a:solidFill>
                          <a:latin typeface="Segoe UI"/>
                        </a:rPr>
                        <a:t>recorded result</a:t>
                      </a:r>
                    </a:p>
                  </a:txBody>
                  <a:tcPr>
                    <a:solidFill>
                      <a:srgbClr val="5BC8F5"/>
                    </a:solidFill>
                  </a:tcPr>
                </a:tc>
                <a:tc>
                  <a:txBody>
                    <a:bodyPr/>
                    <a:lstStyle/>
                    <a:p>
                      <a:pPr>
                        <a:spcAft>
                          <a:spcPts val="0"/>
                        </a:spcAft>
                      </a:pPr>
                      <a:r>
                        <a:rPr sz="1300" b="1">
                          <a:solidFill>
                            <a:srgbClr val="12161C"/>
                          </a:solidFill>
                          <a:latin typeface="Segoe UI"/>
                        </a:rPr>
                        <a:t>macroF1</a:t>
                      </a:r>
                    </a:p>
                  </a:txBody>
                  <a:tcPr>
                    <a:solidFill>
                      <a:srgbClr val="5BC8F5"/>
                    </a:solidFill>
                  </a:tcPr>
                </a:tc>
                <a:tc>
                  <a:txBody>
                    <a:bodyPr/>
                    <a:lstStyle/>
                    <a:p>
                      <a:pPr>
                        <a:spcAft>
                          <a:spcPts val="0"/>
                        </a:spcAft>
                      </a:pPr>
                      <a:r>
                        <a:rPr sz="1300" b="1">
                          <a:solidFill>
                            <a:srgbClr val="12161C"/>
                          </a:solidFill>
                          <a:latin typeface="Segoe UI"/>
                        </a:rPr>
                        <a:t>f1_answer</a:t>
                      </a:r>
                    </a:p>
                  </a:txBody>
                  <a:tcPr>
                    <a:solidFill>
                      <a:srgbClr val="5BC8F5"/>
                    </a:solidFill>
                  </a:tcPr>
                </a:tc>
                <a:tc>
                  <a:txBody>
                    <a:bodyPr/>
                    <a:lstStyle/>
                    <a:p>
                      <a:pPr>
                        <a:spcAft>
                          <a:spcPts val="0"/>
                        </a:spcAft>
                      </a:pPr>
                      <a:r>
                        <a:rPr sz="1300" b="1">
                          <a:solidFill>
                            <a:srgbClr val="12161C"/>
                          </a:solidFill>
                          <a:latin typeface="Segoe UI"/>
                        </a:rPr>
                        <a:t>f1_abstain</a:t>
                      </a:r>
                    </a:p>
                  </a:txBody>
                  <a:tcPr>
                    <a:solidFill>
                      <a:srgbClr val="5BC8F5"/>
                    </a:solidFill>
                  </a:tcPr>
                </a:tc>
              </a:tr>
              <a:tr h="480060">
                <a:tc>
                  <a:txBody>
                    <a:bodyPr/>
                    <a:lstStyle/>
                    <a:p>
                      <a:pPr>
                        <a:spcAft>
                          <a:spcPts val="0"/>
                        </a:spcAft>
                      </a:pPr>
                      <a:r>
                        <a:rPr sz="1200">
                          <a:solidFill>
                            <a:srgbClr val="E8ECF1"/>
                          </a:solidFill>
                          <a:latin typeface="Segoe UI"/>
                        </a:rPr>
                        <a:t>SFT → RL (LoRA r=16)</a:t>
                      </a:r>
                    </a:p>
                  </a:txBody>
                  <a:tcPr>
                    <a:solidFill>
                      <a:srgbClr val="1A1F27"/>
                    </a:solidFill>
                  </a:tcPr>
                </a:tc>
                <a:tc>
                  <a:txBody>
                    <a:bodyPr/>
                    <a:lstStyle/>
                    <a:p>
                      <a:pPr>
                        <a:spcAft>
                          <a:spcPts val="0"/>
                        </a:spcAft>
                      </a:pPr>
                      <a:r>
                        <a:rPr sz="1200">
                          <a:solidFill>
                            <a:srgbClr val="E8ECF1"/>
                          </a:solidFill>
                          <a:latin typeface="Segoe UI"/>
                        </a:rPr>
                        <a:t>0.452</a:t>
                      </a:r>
                    </a:p>
                  </a:txBody>
                  <a:tcPr>
                    <a:solidFill>
                      <a:srgbClr val="1A1F27"/>
                    </a:solidFill>
                  </a:tcPr>
                </a:tc>
                <a:tc>
                  <a:txBody>
                    <a:bodyPr/>
                    <a:lstStyle/>
                    <a:p>
                      <a:pPr>
                        <a:spcAft>
                          <a:spcPts val="0"/>
                        </a:spcAft>
                      </a:pPr>
                      <a:r>
                        <a:rPr sz="1200">
                          <a:solidFill>
                            <a:srgbClr val="E8ECF1"/>
                          </a:solidFill>
                          <a:latin typeface="Segoe UI"/>
                        </a:rPr>
                        <a:t>0.124</a:t>
                      </a:r>
                    </a:p>
                  </a:txBody>
                  <a:tcPr>
                    <a:solidFill>
                      <a:srgbClr val="1A1F27"/>
                    </a:solidFill>
                  </a:tcPr>
                </a:tc>
                <a:tc>
                  <a:txBody>
                    <a:bodyPr/>
                    <a:lstStyle/>
                    <a:p>
                      <a:pPr>
                        <a:spcAft>
                          <a:spcPts val="0"/>
                        </a:spcAft>
                      </a:pPr>
                      <a:r>
                        <a:rPr sz="1200">
                          <a:solidFill>
                            <a:srgbClr val="E8ECF1"/>
                          </a:solidFill>
                          <a:latin typeface="Segoe UI"/>
                        </a:rPr>
                        <a:t>0.780</a:t>
                      </a:r>
                    </a:p>
                  </a:txBody>
                  <a:tcPr>
                    <a:solidFill>
                      <a:srgbClr val="1A1F2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WHERE IT STANDS</a:t>
            </a:r>
          </a:p>
          <a:p>
            <a:pPr>
              <a:spcAft>
                <a:spcPts val="600"/>
              </a:spcAft>
            </a:pPr>
            <a:r>
              <a:rPr sz="3400" b="1">
                <a:solidFill>
                  <a:srgbClr val="E8ECF1"/>
                </a:solidFill>
                <a:latin typeface="Segoe UI"/>
              </a:rPr>
              <a:t>Proven, open, and next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Status</a:t>
            </a:r>
          </a:p>
        </p:txBody>
      </p:sp>
      <p:graphicFrame>
        <p:nvGraphicFramePr>
          <p:cNvPr id="4" name="Table 3"/>
          <p:cNvGraphicFramePr>
            <a:graphicFrameLocks noGrp="1"/>
          </p:cNvGraphicFramePr>
          <p:nvPr/>
        </p:nvGraphicFramePr>
        <p:xfrm>
          <a:off x="868680" y="1463040"/>
          <a:ext cx="10424160" cy="3154680"/>
        </p:xfrm>
        <a:graphic>
          <a:graphicData uri="http://schemas.openxmlformats.org/drawingml/2006/table">
            <a:tbl>
              <a:tblPr>
                <a:tableStyleId>{5C22544A-7EE6-4342-B048-85BDC9FD1C3A}</a:tableStyleId>
              </a:tblPr>
              <a:tblGrid>
                <a:gridCol w="5212080"/>
                <a:gridCol w="5212080"/>
              </a:tblGrid>
              <a:tr h="394335">
                <a:tc>
                  <a:txBody>
                    <a:bodyPr/>
                    <a:lstStyle/>
                    <a:p>
                      <a:pPr>
                        <a:spcAft>
                          <a:spcPts val="0"/>
                        </a:spcAft>
                      </a:pPr>
                      <a:r>
                        <a:rPr sz="1300" b="1">
                          <a:solidFill>
                            <a:srgbClr val="12161C"/>
                          </a:solidFill>
                          <a:latin typeface="Segoe UI"/>
                        </a:rPr>
                        <a:t>item</a:t>
                      </a:r>
                    </a:p>
                  </a:txBody>
                  <a:tcPr>
                    <a:solidFill>
                      <a:srgbClr val="5BC8F5"/>
                    </a:solidFill>
                  </a:tcPr>
                </a:tc>
                <a:tc>
                  <a:txBody>
                    <a:bodyPr/>
                    <a:lstStyle/>
                    <a:p>
                      <a:pPr>
                        <a:spcAft>
                          <a:spcPts val="0"/>
                        </a:spcAft>
                      </a:pPr>
                      <a:r>
                        <a:rPr sz="1300" b="1">
                          <a:solidFill>
                            <a:srgbClr val="12161C"/>
                          </a:solidFill>
                          <a:latin typeface="Segoe UI"/>
                        </a:rPr>
                        <a:t>state</a:t>
                      </a:r>
                    </a:p>
                  </a:txBody>
                  <a:tcPr>
                    <a:solidFill>
                      <a:srgbClr val="5BC8F5"/>
                    </a:solidFill>
                  </a:tcPr>
                </a:tc>
              </a:tr>
              <a:tr h="394335">
                <a:tc>
                  <a:txBody>
                    <a:bodyPr/>
                    <a:lstStyle/>
                    <a:p>
                      <a:pPr>
                        <a:spcAft>
                          <a:spcPts val="0"/>
                        </a:spcAft>
                      </a:pPr>
                      <a:r>
                        <a:rPr sz="1200">
                          <a:solidFill>
                            <a:srgbClr val="6ED38A"/>
                          </a:solidFill>
                          <a:latin typeface="Segoe UI"/>
                        </a:rPr>
                        <a:t>R3 dataset — 201 items, 4 splits</a:t>
                      </a:r>
                    </a:p>
                  </a:txBody>
                  <a:tcPr>
                    <a:solidFill>
                      <a:srgbClr val="1A1F27"/>
                    </a:solidFill>
                  </a:tcPr>
                </a:tc>
                <a:tc>
                  <a:txBody>
                    <a:bodyPr/>
                    <a:lstStyle/>
                    <a:p>
                      <a:pPr>
                        <a:spcAft>
                          <a:spcPts val="0"/>
                        </a:spcAft>
                      </a:pPr>
                      <a:r>
                        <a:rPr sz="1200">
                          <a:solidFill>
                            <a:srgbClr val="6ED38A"/>
                          </a:solidFill>
                          <a:latin typeface="Segoe UI"/>
                        </a:rPr>
                        <a:t>BUILT · hashed · manifest</a:t>
                      </a:r>
                    </a:p>
                  </a:txBody>
                  <a:tcPr>
                    <a:solidFill>
                      <a:srgbClr val="1A1F27"/>
                    </a:solidFill>
                  </a:tcPr>
                </a:tc>
              </a:tr>
              <a:tr h="394335">
                <a:tc>
                  <a:txBody>
                    <a:bodyPr/>
                    <a:lstStyle/>
                    <a:p>
                      <a:pPr>
                        <a:spcAft>
                          <a:spcPts val="0"/>
                        </a:spcAft>
                      </a:pPr>
                      <a:r>
                        <a:rPr sz="1200">
                          <a:solidFill>
                            <a:srgbClr val="6ED38A"/>
                          </a:solidFill>
                          <a:latin typeface="Segoe UI"/>
                        </a:rPr>
                        <a:t>Eval instrument — 20 items × k≈8</a:t>
                      </a:r>
                    </a:p>
                  </a:txBody>
                  <a:tcPr>
                    <a:solidFill>
                      <a:srgbClr val="212731"/>
                    </a:solidFill>
                  </a:tcPr>
                </a:tc>
                <a:tc>
                  <a:txBody>
                    <a:bodyPr/>
                    <a:lstStyle/>
                    <a:p>
                      <a:pPr>
                        <a:spcAft>
                          <a:spcPts val="0"/>
                        </a:spcAft>
                      </a:pPr>
                      <a:r>
                        <a:rPr sz="1200">
                          <a:solidFill>
                            <a:srgbClr val="6ED38A"/>
                          </a:solidFill>
                          <a:latin typeface="Segoe UI"/>
                        </a:rPr>
                        <a:t>BUILT · 160 observations</a:t>
                      </a:r>
                    </a:p>
                  </a:txBody>
                  <a:tcPr>
                    <a:solidFill>
                      <a:srgbClr val="212731"/>
                    </a:solidFill>
                  </a:tcPr>
                </a:tc>
              </a:tr>
              <a:tr h="394335">
                <a:tc>
                  <a:txBody>
                    <a:bodyPr/>
                    <a:lstStyle/>
                    <a:p>
                      <a:pPr>
                        <a:spcAft>
                          <a:spcPts val="0"/>
                        </a:spcAft>
                      </a:pPr>
                      <a:r>
                        <a:rPr sz="1200">
                          <a:solidFill>
                            <a:srgbClr val="F27A7A"/>
                          </a:solidFill>
                          <a:latin typeface="Segoe UI"/>
                        </a:rPr>
                        <a:t>Adapter-based injection</a:t>
                      </a:r>
                    </a:p>
                  </a:txBody>
                  <a:tcPr>
                    <a:solidFill>
                      <a:srgbClr val="1A1F27"/>
                    </a:solidFill>
                  </a:tcPr>
                </a:tc>
                <a:tc>
                  <a:txBody>
                    <a:bodyPr/>
                    <a:lstStyle/>
                    <a:p>
                      <a:pPr>
                        <a:spcAft>
                          <a:spcPts val="0"/>
                        </a:spcAft>
                      </a:pPr>
                      <a:r>
                        <a:rPr sz="1200">
                          <a:solidFill>
                            <a:srgbClr val="F27A7A"/>
                          </a:solidFill>
                          <a:latin typeface="Segoe UI"/>
                        </a:rPr>
                        <a:t>FALSIFIED · do not re-open</a:t>
                      </a:r>
                    </a:p>
                  </a:txBody>
                  <a:tcPr>
                    <a:solidFill>
                      <a:srgbClr val="1A1F27"/>
                    </a:solidFill>
                  </a:tcPr>
                </a:tc>
              </a:tr>
              <a:tr h="394335">
                <a:tc>
                  <a:txBody>
                    <a:bodyPr/>
                    <a:lstStyle/>
                    <a:p>
                      <a:pPr>
                        <a:spcAft>
                          <a:spcPts val="0"/>
                        </a:spcAft>
                      </a:pPr>
                      <a:r>
                        <a:rPr sz="1200">
                          <a:solidFill>
                            <a:srgbClr val="6ED38A"/>
                          </a:solidFill>
                          <a:latin typeface="Segoe UI"/>
                        </a:rPr>
                        <a:t>Full-param SFT → fresh LoRA RL</a:t>
                      </a:r>
                    </a:p>
                  </a:txBody>
                  <a:tcPr>
                    <a:solidFill>
                      <a:srgbClr val="212731"/>
                    </a:solidFill>
                  </a:tcPr>
                </a:tc>
                <a:tc>
                  <a:txBody>
                    <a:bodyPr/>
                    <a:lstStyle/>
                    <a:p>
                      <a:pPr>
                        <a:spcAft>
                          <a:spcPts val="0"/>
                        </a:spcAft>
                      </a:pPr>
                      <a:r>
                        <a:rPr sz="1200">
                          <a:solidFill>
                            <a:srgbClr val="6ED38A"/>
                          </a:solidFill>
                          <a:latin typeface="Segoe UI"/>
                        </a:rPr>
                        <a:t>PROVEN · 0.420 → 0.548</a:t>
                      </a:r>
                    </a:p>
                  </a:txBody>
                  <a:tcPr>
                    <a:solidFill>
                      <a:srgbClr val="212731"/>
                    </a:solidFill>
                  </a:tcPr>
                </a:tc>
              </a:tr>
              <a:tr h="394335">
                <a:tc>
                  <a:txBody>
                    <a:bodyPr/>
                    <a:lstStyle/>
                    <a:p>
                      <a:pPr>
                        <a:spcAft>
                          <a:spcPts val="0"/>
                        </a:spcAft>
                      </a:pPr>
                      <a:r>
                        <a:rPr sz="1200">
                          <a:solidFill>
                            <a:srgbClr val="F5C56B"/>
                          </a:solidFill>
                          <a:latin typeface="Segoe UI"/>
                        </a:rPr>
                        <a:t>CPT lift under the CORRECT objective</a:t>
                      </a:r>
                    </a:p>
                  </a:txBody>
                  <a:tcPr>
                    <a:solidFill>
                      <a:srgbClr val="1A1F27"/>
                    </a:solidFill>
                  </a:tcPr>
                </a:tc>
                <a:tc>
                  <a:txBody>
                    <a:bodyPr/>
                    <a:lstStyle/>
                    <a:p>
                      <a:pPr>
                        <a:spcAft>
                          <a:spcPts val="0"/>
                        </a:spcAft>
                      </a:pPr>
                      <a:r>
                        <a:rPr sz="1200">
                          <a:solidFill>
                            <a:srgbClr val="F5C56B"/>
                          </a:solidFill>
                          <a:latin typeface="Segoe UI"/>
                        </a:rPr>
                        <a:t>OPEN · Gate A unmet</a:t>
                      </a:r>
                    </a:p>
                  </a:txBody>
                  <a:tcPr>
                    <a:solidFill>
                      <a:srgbClr val="1A1F27"/>
                    </a:solidFill>
                  </a:tcPr>
                </a:tc>
              </a:tr>
              <a:tr h="394335">
                <a:tc>
                  <a:txBody>
                    <a:bodyPr/>
                    <a:lstStyle/>
                    <a:p>
                      <a:pPr>
                        <a:spcAft>
                          <a:spcPts val="0"/>
                        </a:spcAft>
                      </a:pPr>
                      <a:r>
                        <a:rPr sz="1200">
                          <a:solidFill>
                            <a:srgbClr val="F5C56B"/>
                          </a:solidFill>
                          <a:latin typeface="Segoe UI"/>
                        </a:rPr>
                        <a:t>Full-parameter RL</a:t>
                      </a:r>
                    </a:p>
                  </a:txBody>
                  <a:tcPr>
                    <a:solidFill>
                      <a:srgbClr val="212731"/>
                    </a:solidFill>
                  </a:tcPr>
                </a:tc>
                <a:tc>
                  <a:txBody>
                    <a:bodyPr/>
                    <a:lstStyle/>
                    <a:p>
                      <a:pPr>
                        <a:spcAft>
                          <a:spcPts val="0"/>
                        </a:spcAft>
                      </a:pPr>
                      <a:r>
                        <a:rPr sz="1200">
                          <a:solidFill>
                            <a:srgbClr val="F5C56B"/>
                          </a:solidFill>
                          <a:latin typeface="Segoe UI"/>
                        </a:rPr>
                        <a:t>DONE 2026-09-02 · 9/16 (held on complete re-judge; IPO lane 10)</a:t>
                      </a:r>
                    </a:p>
                  </a:txBody>
                  <a:tcPr>
                    <a:solidFill>
                      <a:srgbClr val="212731"/>
                    </a:solidFill>
                  </a:tcPr>
                </a:tc>
              </a:tr>
              <a:tr h="394335">
                <a:tc>
                  <a:txBody>
                    <a:bodyPr/>
                    <a:lstStyle/>
                    <a:p>
                      <a:pPr>
                        <a:spcAft>
                          <a:spcPts val="0"/>
                        </a:spcAft>
                      </a:pPr>
                      <a:r>
                        <a:rPr sz="1200">
                          <a:solidFill>
                            <a:srgbClr val="5BC8F5"/>
                          </a:solidFill>
                          <a:latin typeface="Segoe UI"/>
                        </a:rPr>
                        <a:t>Phase-ratio sweep</a:t>
                      </a:r>
                    </a:p>
                  </a:txBody>
                  <a:tcPr>
                    <a:solidFill>
                      <a:srgbClr val="1A1F27"/>
                    </a:solidFill>
                  </a:tcPr>
                </a:tc>
                <a:tc>
                  <a:txBody>
                    <a:bodyPr/>
                    <a:lstStyle/>
                    <a:p>
                      <a:pPr>
                        <a:spcAft>
                          <a:spcPts val="0"/>
                        </a:spcAft>
                      </a:pPr>
                      <a:r>
                        <a:rPr sz="1200">
                          <a:solidFill>
                            <a:srgbClr val="5BC8F5"/>
                          </a:solidFill>
                          <a:latin typeface="Segoe UI"/>
                        </a:rPr>
                        <a:t>DESIGNED · not run</a:t>
                      </a:r>
                    </a:p>
                  </a:txBody>
                  <a:tcPr>
                    <a:solidFill>
                      <a:srgbClr val="1A1F2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Next experiment — phase-ratio sweep</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Which stage's data buys the most end-to-end lift?</a:t>
            </a:r>
          </a:p>
          <a:p>
            <a:pPr>
              <a:spcAft>
                <a:spcPts val="900"/>
              </a:spcAft>
            </a:pPr>
            <a:r>
              <a:rPr sz="1800" b="1">
                <a:solidFill>
                  <a:srgbClr val="E8ECF1"/>
                </a:solidFill>
                <a:latin typeface="Segoe UI"/>
              </a:rPr>
              <a:t>Hold fixed: the same 20-item eval, seed 20260826, lr ladder, 3 epochs.</a:t>
            </a:r>
          </a:p>
          <a:p>
            <a:pPr>
              <a:spcAft>
                <a:spcPts val="900"/>
              </a:spcAft>
            </a:pPr>
            <a:r>
              <a:rPr sz="1800" b="1">
                <a:solidFill>
                  <a:srgbClr val="E8ECF1"/>
                </a:solidFill>
                <a:latin typeface="Segoe UI"/>
              </a:rPr>
              <a:t>Vary ONLY the split of 180 training items:</a:t>
            </a:r>
          </a:p>
          <a:p>
            <a:pPr>
              <a:spcAft>
                <a:spcPts val="400"/>
              </a:spcAft>
            </a:pPr>
            <a:r>
              <a:rPr sz="1500" b="0">
                <a:solidFill>
                  <a:srgbClr val="9AA6B4"/>
                </a:solidFill>
                <a:latin typeface="Segoe UI"/>
              </a:rPr>
              <a:t>     equal 60/60/60 (control) · CPT-heavy 100/40/40 · SFT-heavy 40/100/40 · RL-heavy 40/40/100</a:t>
            </a:r>
          </a:p>
          <a:p>
            <a:pPr>
              <a:spcAft>
                <a:spcPts val="900"/>
              </a:spcAft>
            </a:pPr>
            <a:r>
              <a:rPr sz="1800" b="1">
                <a:solidFill>
                  <a:srgbClr val="E8ECF1"/>
                </a:solidFill>
                <a:latin typeface="Segoe UI"/>
              </a:rPr>
              <a:t>Readout: binary R3 at k≈8, per stage AND end-to-end — so a ratio that helps CPT but costs RL is visible, not averaged away.</a:t>
            </a:r>
          </a:p>
          <a:p>
            <a:pPr>
              <a:spcAft>
                <a:spcPts val="900"/>
              </a:spcAft>
            </a:pPr>
            <a:r>
              <a:rPr sz="1800" b="1">
                <a:solidFill>
                  <a:srgbClr val="F5C56B"/>
                </a:solidFill>
                <a:latin typeface="Segoe UI"/>
              </a:rPr>
              <a:t>Gate: run the control first. No lift in the control → no sweep, or you are comparing four flavours of noise.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I'd tell the next person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A metric satisfiable two ways will be satisfied the easy way.</a:t>
            </a:r>
          </a:p>
          <a:p>
            <a:pPr>
              <a:spcAft>
                <a:spcPts val="400"/>
              </a:spcAft>
            </a:pPr>
            <a:r>
              <a:rPr sz="1500" b="0">
                <a:solidFill>
                  <a:srgbClr val="9AA6B4"/>
                </a:solidFill>
                <a:latin typeface="Segoe UI"/>
              </a:rPr>
              <a:t>     macroF1 rewarded abstention; the model took the discount.</a:t>
            </a:r>
          </a:p>
          <a:p>
            <a:pPr>
              <a:spcAft>
                <a:spcPts val="900"/>
              </a:spcAft>
            </a:pPr>
            <a:r>
              <a:rPr sz="1800" b="1">
                <a:solidFill>
                  <a:srgbClr val="5BC8F5"/>
                </a:solidFill>
                <a:latin typeface="Segoe UI"/>
              </a:rPr>
              <a:t>Falsification is cheaper than it looks.</a:t>
            </a:r>
          </a:p>
          <a:p>
            <a:pPr>
              <a:spcAft>
                <a:spcPts val="400"/>
              </a:spcAft>
            </a:pPr>
            <a:r>
              <a:rPr sz="1500" b="0">
                <a:solidFill>
                  <a:srgbClr val="9AA6B4"/>
                </a:solidFill>
                <a:latin typeface="Segoe UI"/>
              </a:rPr>
              <a:t>     Knowing adapter-injection is dead saved every downstream hour it would have consumed.</a:t>
            </a:r>
          </a:p>
          <a:p>
            <a:pPr>
              <a:spcAft>
                <a:spcPts val="900"/>
              </a:spcAft>
            </a:pPr>
            <a:r>
              <a:rPr sz="1800" b="1">
                <a:solidFill>
                  <a:srgbClr val="5BC8F5"/>
                </a:solidFill>
                <a:latin typeface="Segoe UI"/>
              </a:rPr>
              <a:t>Name what you did NOT test.</a:t>
            </a:r>
          </a:p>
          <a:p>
            <a:pPr>
              <a:spcAft>
                <a:spcPts val="400"/>
              </a:spcAft>
            </a:pPr>
            <a:r>
              <a:rPr sz="1500" b="0">
                <a:solidFill>
                  <a:srgbClr val="9AA6B4"/>
                </a:solidFill>
                <a:latin typeface="Segoe UI"/>
              </a:rPr>
              <a:t>     Full-param RL is absent from these results because of a 16 GB card — not because it lost a comparison.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PART TWO</a:t>
            </a:r>
          </a:p>
          <a:p>
            <a:pPr>
              <a:spcAft>
                <a:spcPts val="600"/>
              </a:spcAft>
            </a:pPr>
            <a:r>
              <a:rPr sz="3400" b="1">
                <a:solidFill>
                  <a:srgbClr val="E8ECF1"/>
                </a:solidFill>
                <a:latin typeface="Segoe UI"/>
              </a:rPr>
              <a:t>When the answer is no, ask a different question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domain lane closed negative — and said why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CPT did not fail to help. It removed what the base had.</a:t>
            </a:r>
          </a:p>
          <a:p>
            <a:pPr>
              <a:spcAft>
                <a:spcPts val="400"/>
              </a:spcAft>
            </a:pPr>
            <a:r>
              <a:rPr sz="1500" b="0">
                <a:solidFill>
                  <a:srgbClr val="9AA6B4"/>
                </a:solidFill>
                <a:latin typeface="Segoe UI"/>
              </a:rPr>
              <a:t>     base 7/160 correct  →  CPT 2/160   (k=8, 160 observations each)</a:t>
            </a:r>
          </a:p>
          <a:p>
            <a:pPr>
              <a:spcAft>
                <a:spcPts val="400"/>
              </a:spcAft>
            </a:pPr>
            <a:r>
              <a:rPr sz="1500" b="0">
                <a:solidFill>
                  <a:srgbClr val="9AA6B4"/>
                </a:solidFill>
                <a:latin typeface="Segoe UI"/>
              </a:rPr>
              <a:t>     Math 6/56 → 0/56 — wiped out the one category the base could do</a:t>
            </a:r>
          </a:p>
          <a:p>
            <a:pPr>
              <a:spcAft>
                <a:spcPts val="900"/>
              </a:spcAft>
            </a:pPr>
            <a:r>
              <a:rPr sz="1800" b="1">
                <a:solidFill>
                  <a:srgbClr val="E8ECF1"/>
                </a:solidFill>
                <a:latin typeface="Segoe UI"/>
              </a:rPr>
              <a:t>The pipeline was never broken.</a:t>
            </a:r>
          </a:p>
          <a:p>
            <a:pPr>
              <a:spcAft>
                <a:spcPts val="400"/>
              </a:spcAft>
            </a:pPr>
            <a:r>
              <a:rPr sz="1500" b="0">
                <a:solidFill>
                  <a:srgbClr val="9AA6B4"/>
                </a:solidFill>
                <a:latin typeface="Segoe UI"/>
              </a:rPr>
              <a:t>     Positive control — train on the eval answers — moved 1/20 → 9/20 (+7).</a:t>
            </a:r>
          </a:p>
          <a:p>
            <a:pPr>
              <a:spcAft>
                <a:spcPts val="400"/>
              </a:spcAft>
            </a:pPr>
            <a:r>
              <a:rPr sz="1500" b="0">
                <a:solidFill>
                  <a:srgbClr val="9AA6B4"/>
                </a:solidFill>
                <a:latin typeface="Segoe UI"/>
              </a:rPr>
              <a:t>     So every null was a real result, not a harness fault.</a:t>
            </a:r>
          </a:p>
          <a:p>
            <a:pPr>
              <a:spcAft>
                <a:spcPts val="900"/>
              </a:spcAft>
            </a:pPr>
            <a:r>
              <a:rPr sz="1800" b="1">
                <a:solidFill>
                  <a:srgbClr val="E8ECF1"/>
                </a:solidFill>
                <a:latin typeface="Segoe UI"/>
              </a:rPr>
              <a:t>It was not the knobs, the corpus size, replay, or prose.</a:t>
            </a:r>
          </a:p>
          <a:p>
            <a:pPr>
              <a:spcAft>
                <a:spcPts val="400"/>
              </a:spcAft>
            </a:pPr>
            <a:r>
              <a:rPr sz="1500" b="0">
                <a:solidFill>
                  <a:srgbClr val="9AA6B4"/>
                </a:solidFill>
                <a:latin typeface="Segoe UI"/>
              </a:rPr>
              <a:t>     Optuna TPE over 8 joint dimensions: uniform null.</a:t>
            </a:r>
          </a:p>
          <a:p>
            <a:pPr>
              <a:spcAft>
                <a:spcPts val="400"/>
              </a:spcAft>
            </a:pPr>
            <a:r>
              <a:rPr sz="1500" b="0">
                <a:solidFill>
                  <a:srgbClr val="9AA6B4"/>
                </a:solidFill>
                <a:latin typeface="Segoe UI"/>
              </a:rPr>
              <a:t>     179 → 700 records fixed degeneration; correctness never moved.</a:t>
            </a:r>
          </a:p>
          <a:p>
            <a:pPr>
              <a:spcAft>
                <a:spcPts val="400"/>
              </a:spcAft>
            </a:pPr>
            <a:r>
              <a:rPr sz="1500" b="0">
                <a:solidFill>
                  <a:srgbClr val="9AA6B4"/>
                </a:solidFill>
                <a:latin typeface="Segoe UI"/>
              </a:rPr>
              <a:t>     Source prose stated 9x: nothing. The same facts as QUESTIONS: +7.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proven lane reproduces — base → SFT → RL</a:t>
            </a:r>
          </a:p>
        </p:txBody>
      </p:sp>
      <p:graphicFrame>
        <p:nvGraphicFramePr>
          <p:cNvPr id="4" name="Table 3"/>
          <p:cNvGraphicFramePr>
            <a:graphicFrameLocks noGrp="1"/>
          </p:cNvGraphicFramePr>
          <p:nvPr/>
        </p:nvGraphicFramePr>
        <p:xfrm>
          <a:off x="868680" y="1463040"/>
          <a:ext cx="10424160" cy="1691640"/>
        </p:xfrm>
        <a:graphic>
          <a:graphicData uri="http://schemas.openxmlformats.org/drawingml/2006/table">
            <a:tbl>
              <a:tblPr>
                <a:tableStyleId>{5C22544A-7EE6-4342-B048-85BDC9FD1C3A}</a:tableStyleId>
              </a:tblPr>
              <a:tblGrid>
                <a:gridCol w="2084832"/>
                <a:gridCol w="2084832"/>
                <a:gridCol w="2084832"/>
                <a:gridCol w="2084832"/>
                <a:gridCol w="2084832"/>
              </a:tblGrid>
              <a:tr h="422910">
                <a:tc>
                  <a:txBody>
                    <a:bodyPr/>
                    <a:lstStyle/>
                    <a:p>
                      <a:pPr>
                        <a:spcAft>
                          <a:spcPts val="0"/>
                        </a:spcAft>
                      </a:pPr>
                      <a:r>
                        <a:rPr sz="1300" b="1">
                          <a:solidFill>
                            <a:srgbClr val="12161C"/>
                          </a:solidFill>
                          <a:latin typeface="Segoe UI"/>
                        </a:rPr>
                        <a:t>stage</a:t>
                      </a:r>
                    </a:p>
                  </a:txBody>
                  <a:tcPr>
                    <a:solidFill>
                      <a:srgbClr val="5BC8F5"/>
                    </a:solidFill>
                  </a:tcPr>
                </a:tc>
                <a:tc>
                  <a:txBody>
                    <a:bodyPr/>
                    <a:lstStyle/>
                    <a:p>
                      <a:pPr>
                        <a:spcAft>
                          <a:spcPts val="0"/>
                        </a:spcAft>
                      </a:pPr>
                      <a:r>
                        <a:rPr sz="1300" b="1">
                          <a:solidFill>
                            <a:srgbClr val="12161C"/>
                          </a:solidFill>
                          <a:latin typeface="Segoe UI"/>
                        </a:rPr>
                        <a:t>macroF1</a:t>
                      </a:r>
                    </a:p>
                  </a:txBody>
                  <a:tcPr>
                    <a:solidFill>
                      <a:srgbClr val="5BC8F5"/>
                    </a:solidFill>
                  </a:tcPr>
                </a:tc>
                <a:tc>
                  <a:txBody>
                    <a:bodyPr/>
                    <a:lstStyle/>
                    <a:p>
                      <a:pPr>
                        <a:spcAft>
                          <a:spcPts val="0"/>
                        </a:spcAft>
                      </a:pPr>
                      <a:r>
                        <a:rPr sz="1300" b="1">
                          <a:solidFill>
                            <a:srgbClr val="12161C"/>
                          </a:solidFill>
                          <a:latin typeface="Segoe UI"/>
                        </a:rPr>
                        <a:t>f1_answer</a:t>
                      </a:r>
                    </a:p>
                  </a:txBody>
                  <a:tcPr>
                    <a:solidFill>
                      <a:srgbClr val="5BC8F5"/>
                    </a:solidFill>
                  </a:tcPr>
                </a:tc>
                <a:tc>
                  <a:txBody>
                    <a:bodyPr/>
                    <a:lstStyle/>
                    <a:p>
                      <a:pPr>
                        <a:spcAft>
                          <a:spcPts val="0"/>
                        </a:spcAft>
                      </a:pPr>
                      <a:r>
                        <a:rPr sz="1300" b="1">
                          <a:solidFill>
                            <a:srgbClr val="12161C"/>
                          </a:solidFill>
                          <a:latin typeface="Segoe UI"/>
                        </a:rPr>
                        <a:t>f1_abstain</a:t>
                      </a:r>
                    </a:p>
                  </a:txBody>
                  <a:tcPr>
                    <a:solidFill>
                      <a:srgbClr val="5BC8F5"/>
                    </a:solidFill>
                  </a:tcPr>
                </a:tc>
                <a:tc>
                  <a:txBody>
                    <a:bodyPr/>
                    <a:lstStyle/>
                    <a:p>
                      <a:pPr>
                        <a:spcAft>
                          <a:spcPts val="0"/>
                        </a:spcAft>
                      </a:pPr>
                      <a:r>
                        <a:rPr sz="1300" b="1">
                          <a:solidFill>
                            <a:srgbClr val="12161C"/>
                          </a:solidFill>
                          <a:latin typeface="Segoe UI"/>
                        </a:rPr>
                        <a:t>vs base</a:t>
                      </a:r>
                    </a:p>
                  </a:txBody>
                  <a:tcPr>
                    <a:solidFill>
                      <a:srgbClr val="5BC8F5"/>
                    </a:solidFill>
                  </a:tcPr>
                </a:tc>
              </a:tr>
              <a:tr h="422910">
                <a:tc>
                  <a:txBody>
                    <a:bodyPr/>
                    <a:lstStyle/>
                    <a:p>
                      <a:pPr>
                        <a:spcAft>
                          <a:spcPts val="0"/>
                        </a:spcAft>
                      </a:pPr>
                      <a:r>
                        <a:rPr sz="1200">
                          <a:solidFill>
                            <a:srgbClr val="E8ECF1"/>
                          </a:solidFill>
                          <a:latin typeface="Segoe UI"/>
                        </a:rPr>
                        <a:t>base (skills_model)</a:t>
                      </a:r>
                    </a:p>
                  </a:txBody>
                  <a:tcPr>
                    <a:solidFill>
                      <a:srgbClr val="1A1F27"/>
                    </a:solidFill>
                  </a:tcPr>
                </a:tc>
                <a:tc>
                  <a:txBody>
                    <a:bodyPr/>
                    <a:lstStyle/>
                    <a:p>
                      <a:pPr>
                        <a:spcAft>
                          <a:spcPts val="0"/>
                        </a:spcAft>
                      </a:pPr>
                      <a:r>
                        <a:rPr sz="1200">
                          <a:solidFill>
                            <a:srgbClr val="E8ECF1"/>
                          </a:solidFill>
                          <a:latin typeface="Segoe UI"/>
                        </a:rPr>
                        <a:t>0.203</a:t>
                      </a:r>
                    </a:p>
                  </a:txBody>
                  <a:tcPr>
                    <a:solidFill>
                      <a:srgbClr val="1A1F27"/>
                    </a:solidFill>
                  </a:tcPr>
                </a:tc>
                <a:tc>
                  <a:txBody>
                    <a:bodyPr/>
                    <a:lstStyle/>
                    <a:p>
                      <a:pPr>
                        <a:spcAft>
                          <a:spcPts val="0"/>
                        </a:spcAft>
                      </a:pPr>
                      <a:r>
                        <a:rPr sz="1200">
                          <a:solidFill>
                            <a:srgbClr val="E8ECF1"/>
                          </a:solidFill>
                          <a:latin typeface="Segoe UI"/>
                        </a:rPr>
                        <a:t>0.109</a:t>
                      </a:r>
                    </a:p>
                  </a:txBody>
                  <a:tcPr>
                    <a:solidFill>
                      <a:srgbClr val="1A1F27"/>
                    </a:solidFill>
                  </a:tcPr>
                </a:tc>
                <a:tc>
                  <a:txBody>
                    <a:bodyPr/>
                    <a:lstStyle/>
                    <a:p>
                      <a:pPr>
                        <a:spcAft>
                          <a:spcPts val="0"/>
                        </a:spcAft>
                      </a:pPr>
                      <a:r>
                        <a:rPr sz="1200">
                          <a:solidFill>
                            <a:srgbClr val="E8ECF1"/>
                          </a:solidFill>
                          <a:latin typeface="Segoe UI"/>
                        </a:rPr>
                        <a:t>0.296</a:t>
                      </a:r>
                    </a:p>
                  </a:txBody>
                  <a:tcPr>
                    <a:solidFill>
                      <a:srgbClr val="1A1F27"/>
                    </a:solidFill>
                  </a:tcPr>
                </a:tc>
                <a:tc>
                  <a:txBody>
                    <a:bodyPr/>
                    <a:lstStyle/>
                    <a:p>
                      <a:pPr>
                        <a:spcAft>
                          <a:spcPts val="0"/>
                        </a:spcAft>
                      </a:pPr>
                      <a:r>
                        <a:rPr sz="1200">
                          <a:solidFill>
                            <a:srgbClr val="E8ECF1"/>
                          </a:solidFill>
                          <a:latin typeface="Segoe UI"/>
                        </a:rPr>
                        <a:t>—</a:t>
                      </a:r>
                    </a:p>
                  </a:txBody>
                  <a:tcPr>
                    <a:solidFill>
                      <a:srgbClr val="1A1F27"/>
                    </a:solidFill>
                  </a:tcPr>
                </a:tc>
              </a:tr>
              <a:tr h="422910">
                <a:tc>
                  <a:txBody>
                    <a:bodyPr/>
                    <a:lstStyle/>
                    <a:p>
                      <a:pPr>
                        <a:spcAft>
                          <a:spcPts val="0"/>
                        </a:spcAft>
                      </a:pPr>
                      <a:r>
                        <a:rPr sz="1200">
                          <a:solidFill>
                            <a:srgbClr val="E8ECF1"/>
                          </a:solidFill>
                          <a:latin typeface="Segoe UI"/>
                        </a:rPr>
                        <a:t>SFT full-param, lr 1e-5</a:t>
                      </a:r>
                    </a:p>
                  </a:txBody>
                  <a:tcPr>
                    <a:solidFill>
                      <a:srgbClr val="212731"/>
                    </a:solidFill>
                  </a:tcPr>
                </a:tc>
                <a:tc>
                  <a:txBody>
                    <a:bodyPr/>
                    <a:lstStyle/>
                    <a:p>
                      <a:pPr>
                        <a:spcAft>
                          <a:spcPts val="0"/>
                        </a:spcAft>
                      </a:pPr>
                      <a:r>
                        <a:rPr sz="1200">
                          <a:solidFill>
                            <a:srgbClr val="E8ECF1"/>
                          </a:solidFill>
                          <a:latin typeface="Segoe UI"/>
                        </a:rPr>
                        <a:t>0.328</a:t>
                      </a:r>
                    </a:p>
                  </a:txBody>
                  <a:tcPr>
                    <a:solidFill>
                      <a:srgbClr val="212731"/>
                    </a:solidFill>
                  </a:tcPr>
                </a:tc>
                <a:tc>
                  <a:txBody>
                    <a:bodyPr/>
                    <a:lstStyle/>
                    <a:p>
                      <a:pPr>
                        <a:spcAft>
                          <a:spcPts val="0"/>
                        </a:spcAft>
                      </a:pPr>
                      <a:r>
                        <a:rPr sz="1200">
                          <a:solidFill>
                            <a:srgbClr val="E8ECF1"/>
                          </a:solidFill>
                          <a:latin typeface="Segoe UI"/>
                        </a:rPr>
                        <a:t>0.127</a:t>
                      </a:r>
                    </a:p>
                  </a:txBody>
                  <a:tcPr>
                    <a:solidFill>
                      <a:srgbClr val="212731"/>
                    </a:solidFill>
                  </a:tcPr>
                </a:tc>
                <a:tc>
                  <a:txBody>
                    <a:bodyPr/>
                    <a:lstStyle/>
                    <a:p>
                      <a:pPr>
                        <a:spcAft>
                          <a:spcPts val="0"/>
                        </a:spcAft>
                      </a:pPr>
                      <a:r>
                        <a:rPr sz="1200">
                          <a:solidFill>
                            <a:srgbClr val="E8ECF1"/>
                          </a:solidFill>
                          <a:latin typeface="Segoe UI"/>
                        </a:rPr>
                        <a:t>0.529</a:t>
                      </a:r>
                    </a:p>
                  </a:txBody>
                  <a:tcPr>
                    <a:solidFill>
                      <a:srgbClr val="212731"/>
                    </a:solidFill>
                  </a:tcPr>
                </a:tc>
                <a:tc>
                  <a:txBody>
                    <a:bodyPr/>
                    <a:lstStyle/>
                    <a:p>
                      <a:pPr>
                        <a:spcAft>
                          <a:spcPts val="0"/>
                        </a:spcAft>
                      </a:pPr>
                      <a:r>
                        <a:rPr sz="1200">
                          <a:solidFill>
                            <a:srgbClr val="E8ECF1"/>
                          </a:solidFill>
                          <a:latin typeface="Segoe UI"/>
                        </a:rPr>
                        <a:t>+0.125</a:t>
                      </a:r>
                    </a:p>
                  </a:txBody>
                  <a:tcPr>
                    <a:solidFill>
                      <a:srgbClr val="212731"/>
                    </a:solidFill>
                  </a:tcPr>
                </a:tc>
              </a:tr>
              <a:tr h="422910">
                <a:tc>
                  <a:txBody>
                    <a:bodyPr/>
                    <a:lstStyle/>
                    <a:p>
                      <a:pPr>
                        <a:spcAft>
                          <a:spcPts val="0"/>
                        </a:spcAft>
                      </a:pPr>
                      <a:r>
                        <a:rPr sz="1200">
                          <a:solidFill>
                            <a:srgbClr val="E8ECF1"/>
                          </a:solidFill>
                          <a:latin typeface="Segoe UI"/>
                        </a:rPr>
                        <a:t>RL fresh LoRA r16/a64</a:t>
                      </a:r>
                    </a:p>
                  </a:txBody>
                  <a:tcPr>
                    <a:solidFill>
                      <a:srgbClr val="1A1F27"/>
                    </a:solidFill>
                  </a:tcPr>
                </a:tc>
                <a:tc>
                  <a:txBody>
                    <a:bodyPr/>
                    <a:lstStyle/>
                    <a:p>
                      <a:pPr>
                        <a:spcAft>
                          <a:spcPts val="0"/>
                        </a:spcAft>
                      </a:pPr>
                      <a:r>
                        <a:rPr sz="1200">
                          <a:solidFill>
                            <a:srgbClr val="E8ECF1"/>
                          </a:solidFill>
                          <a:latin typeface="Segoe UI"/>
                        </a:rPr>
                        <a:t>0.423</a:t>
                      </a:r>
                    </a:p>
                  </a:txBody>
                  <a:tcPr>
                    <a:solidFill>
                      <a:srgbClr val="1A1F27"/>
                    </a:solidFill>
                  </a:tcPr>
                </a:tc>
                <a:tc>
                  <a:txBody>
                    <a:bodyPr/>
                    <a:lstStyle/>
                    <a:p>
                      <a:pPr>
                        <a:spcAft>
                          <a:spcPts val="0"/>
                        </a:spcAft>
                      </a:pPr>
                      <a:r>
                        <a:rPr sz="1200">
                          <a:solidFill>
                            <a:srgbClr val="E8ECF1"/>
                          </a:solidFill>
                          <a:latin typeface="Segoe UI"/>
                        </a:rPr>
                        <a:t>0.123</a:t>
                      </a:r>
                    </a:p>
                  </a:txBody>
                  <a:tcPr>
                    <a:solidFill>
                      <a:srgbClr val="1A1F27"/>
                    </a:solidFill>
                  </a:tcPr>
                </a:tc>
                <a:tc>
                  <a:txBody>
                    <a:bodyPr/>
                    <a:lstStyle/>
                    <a:p>
                      <a:pPr>
                        <a:spcAft>
                          <a:spcPts val="0"/>
                        </a:spcAft>
                      </a:pPr>
                      <a:r>
                        <a:rPr sz="1200">
                          <a:solidFill>
                            <a:srgbClr val="E8ECF1"/>
                          </a:solidFill>
                          <a:latin typeface="Segoe UI"/>
                        </a:rPr>
                        <a:t>0.722</a:t>
                      </a:r>
                    </a:p>
                  </a:txBody>
                  <a:tcPr>
                    <a:solidFill>
                      <a:srgbClr val="1A1F27"/>
                    </a:solidFill>
                  </a:tcPr>
                </a:tc>
                <a:tc>
                  <a:txBody>
                    <a:bodyPr/>
                    <a:lstStyle/>
                    <a:p>
                      <a:pPr>
                        <a:spcAft>
                          <a:spcPts val="0"/>
                        </a:spcAft>
                      </a:pPr>
                      <a:r>
                        <a:rPr sz="1200">
                          <a:solidFill>
                            <a:srgbClr val="E8ECF1"/>
                          </a:solidFill>
                          <a:latin typeface="Segoe UI"/>
                        </a:rPr>
                        <a:t>+0.220</a:t>
                      </a:r>
                    </a:p>
                  </a:txBody>
                  <a:tcPr>
                    <a:solidFill>
                      <a:srgbClr val="1A1F2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Read the lift honestly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f1_answer is FLAT across all three stages.</a:t>
            </a:r>
          </a:p>
          <a:p>
            <a:pPr>
              <a:spcAft>
                <a:spcPts val="400"/>
              </a:spcAft>
            </a:pPr>
            <a:r>
              <a:rPr sz="1500" b="0">
                <a:solidFill>
                  <a:srgbClr val="9AA6B4"/>
                </a:solidFill>
                <a:latin typeface="Segoe UI"/>
              </a:rPr>
              <a:t>     0.109  →  0.127  →  0.123 — the model answers 1 of 62 correctly throughout.</a:t>
            </a:r>
          </a:p>
          <a:p>
            <a:pPr>
              <a:spcAft>
                <a:spcPts val="900"/>
              </a:spcAft>
            </a:pPr>
            <a:r>
              <a:rPr sz="1800" b="1">
                <a:solidFill>
                  <a:srgbClr val="E8ECF1"/>
                </a:solidFill>
                <a:latin typeface="Segoe UI"/>
              </a:rPr>
              <a:t>100% of the gain is calibration: learning to say 'unanswerable'.</a:t>
            </a:r>
          </a:p>
          <a:p>
            <a:pPr>
              <a:spcAft>
                <a:spcPts val="400"/>
              </a:spcAft>
            </a:pPr>
            <a:r>
              <a:rPr sz="1500" b="0">
                <a:solidFill>
                  <a:srgbClr val="9AA6B4"/>
                </a:solidFill>
                <a:latin typeface="Segoe UI"/>
              </a:rPr>
              <a:t>     f1_abstain 0.296 → 0.529 → 0.722.</a:t>
            </a:r>
          </a:p>
          <a:p>
            <a:pPr>
              <a:spcAft>
                <a:spcPts val="900"/>
              </a:spcAft>
            </a:pPr>
            <a:r>
              <a:rPr sz="1800" b="1">
                <a:solidFill>
                  <a:srgbClr val="E8ECF1"/>
                </a:solidFill>
                <a:latin typeface="Segoe UI"/>
              </a:rPr>
              <a:t>That is this lane's product question — and it is NOT knowledge deposit.</a:t>
            </a:r>
          </a:p>
          <a:p>
            <a:pPr>
              <a:spcAft>
                <a:spcPts val="400"/>
              </a:spcAft>
            </a:pPr>
            <a:r>
              <a:rPr sz="1500" b="0">
                <a:solidFill>
                  <a:srgbClr val="9AA6B4"/>
                </a:solidFill>
                <a:latin typeface="Segoe UI"/>
              </a:rPr>
              <a:t>     The earlier CPT 'lift' was the same shape, and was sold as deposit. It was not.</a:t>
            </a:r>
          </a:p>
          <a:p>
            <a:pPr>
              <a:spcAft>
                <a:spcPts val="900"/>
              </a:spcAft>
            </a:pPr>
            <a:r>
              <a:rPr sz="1800" b="1">
                <a:solidFill>
                  <a:srgbClr val="5BC8F5"/>
                </a:solidFill>
                <a:latin typeface="Segoe UI"/>
              </a:rPr>
              <a:t>A metric you cannot decompose is a metric you cannot trust.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Four parity bugs, one shape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Train and inference must be built by the SAME code path.</a:t>
            </a:r>
          </a:p>
          <a:p>
            <a:pPr>
              <a:spcAft>
                <a:spcPts val="400"/>
              </a:spcAft>
            </a:pPr>
            <a:r>
              <a:rPr sz="1500" b="0">
                <a:solidFill>
                  <a:srgbClr val="9AA6B4"/>
                </a:solidFill>
                <a:latin typeface="Segoe UI"/>
              </a:rPr>
              <a:t>     No chat template — the model wrote the next 'user' turn instead of answering.</a:t>
            </a:r>
          </a:p>
          <a:p>
            <a:pPr>
              <a:spcAft>
                <a:spcPts val="400"/>
              </a:spcAft>
            </a:pPr>
            <a:r>
              <a:rPr sz="1500" b="0">
                <a:solidFill>
                  <a:srgbClr val="9AA6B4"/>
                </a:solidFill>
                <a:latin typeface="Segoe UI"/>
              </a:rPr>
              <a:t>     No stop token — generation ran past the answer into the next turn.</a:t>
            </a:r>
          </a:p>
          <a:p>
            <a:pPr>
              <a:spcAft>
                <a:spcPts val="400"/>
              </a:spcAft>
            </a:pPr>
            <a:r>
              <a:rPr sz="1500" b="0">
                <a:solidFill>
                  <a:srgbClr val="9AA6B4"/>
                </a:solidFill>
                <a:latin typeface="Segoe UI"/>
              </a:rPr>
              <a:t>     An injected &lt;think&gt; block absent from 100% of the training data.</a:t>
            </a:r>
          </a:p>
          <a:p>
            <a:pPr>
              <a:spcAft>
                <a:spcPts val="400"/>
              </a:spcAft>
            </a:pPr>
            <a:r>
              <a:rPr sz="1500" b="0">
                <a:solidFill>
                  <a:srgbClr val="9AA6B4"/>
                </a:solidFill>
                <a:latin typeface="Segoe UI"/>
              </a:rPr>
              <a:t>     A system prompt that drifted between trainer and scorer.</a:t>
            </a:r>
          </a:p>
          <a:p>
            <a:pPr>
              <a:spcAft>
                <a:spcPts val="900"/>
              </a:spcAft>
            </a:pPr>
            <a:r>
              <a:rPr sz="1800" b="1">
                <a:solidFill>
                  <a:srgbClr val="E8ECF1"/>
                </a:solidFill>
                <a:latin typeface="Segoe UI"/>
              </a:rPr>
              <a:t>And the one that killed two RL runs:</a:t>
            </a:r>
          </a:p>
          <a:p>
            <a:pPr>
              <a:spcAft>
                <a:spcPts val="400"/>
              </a:spcAft>
            </a:pPr>
            <a:r>
              <a:rPr sz="1500" b="0">
                <a:solidFill>
                  <a:srgbClr val="9AA6B4"/>
                </a:solidFill>
                <a:latin typeface="Segoe UI"/>
              </a:rPr>
              <a:t>     rollouts used a prompt that FORBIDS declining; the eval PERMITS it.</a:t>
            </a:r>
          </a:p>
          <a:p>
            <a:pPr>
              <a:spcAft>
                <a:spcPts val="400"/>
              </a:spcAft>
            </a:pPr>
            <a:r>
              <a:rPr sz="1500" b="0">
                <a:solidFill>
                  <a:srgbClr val="9AA6B4"/>
                </a:solidFill>
                <a:latin typeface="Segoe UI"/>
              </a:rPr>
              <a:t>     Every completion was class='answer' by construction — calibration untrainable.</a:t>
            </a:r>
          </a:p>
          <a:p>
            <a:pPr>
              <a:spcAft>
                <a:spcPts val="900"/>
              </a:spcAft>
            </a:pPr>
            <a:r>
              <a:rPr sz="1800" b="1">
                <a:solidFill>
                  <a:srgbClr val="5BC8F5"/>
                </a:solidFill>
                <a:latin typeface="Segoe UI"/>
              </a:rPr>
              <a:t>All five were invisible in the metrics and obvious in the prompt text.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Fix the class, not the instance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A subprocess ran with cwd=&lt;repo&gt;/src while invoking 'src/eval.py'.</a:t>
            </a:r>
          </a:p>
          <a:p>
            <a:pPr>
              <a:spcAft>
                <a:spcPts val="400"/>
              </a:spcAft>
            </a:pPr>
            <a:r>
              <a:rPr sz="1500" b="0">
                <a:solidFill>
                  <a:srgbClr val="9AA6B4"/>
                </a:solidFill>
                <a:latin typeface="Segoe UI"/>
              </a:rPr>
              <a:t>     It resolved to src/src/eval.py, exited nonzero, and the score silently became 0.0.</a:t>
            </a:r>
          </a:p>
          <a:p>
            <a:pPr>
              <a:spcAft>
                <a:spcPts val="900"/>
              </a:spcAft>
            </a:pPr>
            <a:r>
              <a:rPr sz="1800" b="1">
                <a:solidFill>
                  <a:srgbClr val="E8ECF1"/>
                </a:solidFill>
                <a:latin typeface="Segoe UI"/>
              </a:rPr>
              <a:t>Found it in the SFT trainer at 08:00. Fixed that file. Moved on.</a:t>
            </a:r>
          </a:p>
          <a:p>
            <a:pPr>
              <a:spcAft>
                <a:spcPts val="900"/>
              </a:spcAft>
            </a:pPr>
            <a:r>
              <a:rPr sz="1800" b="1">
                <a:solidFill>
                  <a:srgbClr val="5BC8F5"/>
                </a:solidFill>
                <a:latin typeface="Segoe UI"/>
              </a:rPr>
              <a:t>The identical bug in the RL trainer killed a run 40 minutes in, at 10:29.</a:t>
            </a:r>
          </a:p>
          <a:p>
            <a:pPr>
              <a:spcAft>
                <a:spcPts val="400"/>
              </a:spcAft>
            </a:pPr>
            <a:r>
              <a:rPr sz="1500" b="0">
                <a:solidFill>
                  <a:srgbClr val="9AA6B4"/>
                </a:solidFill>
                <a:latin typeface="Segoe UI"/>
              </a:rPr>
              <a:t>     A repo-wide grep for the SHAPE found both sites in seconds.</a:t>
            </a:r>
          </a:p>
          <a:p>
            <a:pPr>
              <a:spcAft>
                <a:spcPts val="900"/>
              </a:spcAft>
            </a:pPr>
            <a:r>
              <a:rPr sz="1800" b="1">
                <a:solidFill>
                  <a:srgbClr val="E8ECF1"/>
                </a:solidFill>
                <a:latin typeface="Segoe UI"/>
              </a:rPr>
              <a:t>Cost of fixing the instance instead of the class: one 40-minute run.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over-optimises past its own best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Peak at step 28: macroF1 0.4225, f1_abstain 0.722.</a:t>
            </a:r>
          </a:p>
          <a:p>
            <a:pPr>
              <a:spcAft>
                <a:spcPts val="900"/>
              </a:spcAft>
            </a:pPr>
            <a:r>
              <a:rPr sz="1800" b="1">
                <a:solidFill>
                  <a:srgbClr val="5BC8F5"/>
                </a:solidFill>
                <a:latin typeface="Segoe UI"/>
              </a:rPr>
              <a:t>By step 43 it had collapsed to answering everything, and the run was killed.</a:t>
            </a:r>
          </a:p>
          <a:p>
            <a:pPr>
              <a:spcAft>
                <a:spcPts val="900"/>
              </a:spcAft>
            </a:pPr>
            <a:r>
              <a:rPr sz="1800" b="1">
                <a:solidFill>
                  <a:srgbClr val="E8ECF1"/>
                </a:solidFill>
                <a:latin typeface="Segoe UI"/>
              </a:rPr>
              <a:t>Two mechanisms saved the result — keep both:</a:t>
            </a:r>
          </a:p>
          <a:p>
            <a:pPr>
              <a:spcAft>
                <a:spcPts val="400"/>
              </a:spcAft>
            </a:pPr>
            <a:r>
              <a:rPr sz="1500" b="0">
                <a:solidFill>
                  <a:srgbClr val="9AA6B4"/>
                </a:solidFill>
                <a:latin typeface="Segoe UI"/>
              </a:rPr>
              <a:t>     Mid-round eval on the FULL eval persisted the best checkpoint before the collapse.</a:t>
            </a:r>
          </a:p>
          <a:p>
            <a:pPr>
              <a:spcAft>
                <a:spcPts val="400"/>
              </a:spcAft>
            </a:pPr>
            <a:r>
              <a:rPr sz="1500" b="0">
                <a:solidFill>
                  <a:srgbClr val="9AA6B4"/>
                </a:solidFill>
                <a:latin typeface="Segoe UI"/>
              </a:rPr>
              <a:t>     A class-collapse kill gate stopped the run instead of grinding to a worse endpoint.</a:t>
            </a:r>
          </a:p>
          <a:p>
            <a:pPr>
              <a:spcAft>
                <a:spcPts val="900"/>
              </a:spcAft>
            </a:pPr>
            <a:r>
              <a:rPr sz="1800" b="1">
                <a:solidFill>
                  <a:srgbClr val="E8ECF1"/>
                </a:solidFill>
                <a:latin typeface="Segoe UI"/>
              </a:rPr>
              <a:t>The reported 0.423 is a mid-round-1 checkpoint, not an end-of-training one.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It replicates — two independent runs, same endpoint</a:t>
            </a:r>
          </a:p>
        </p:txBody>
      </p:sp>
      <p:graphicFrame>
        <p:nvGraphicFramePr>
          <p:cNvPr id="4" name="Table 3"/>
          <p:cNvGraphicFramePr>
            <a:graphicFrameLocks noGrp="1"/>
          </p:cNvGraphicFramePr>
          <p:nvPr/>
        </p:nvGraphicFramePr>
        <p:xfrm>
          <a:off x="868680" y="1463040"/>
          <a:ext cx="10424160" cy="1325880"/>
        </p:xfrm>
        <a:graphic>
          <a:graphicData uri="http://schemas.openxmlformats.org/drawingml/2006/table">
            <a:tbl>
              <a:tblPr>
                <a:tableStyleId>{5C22544A-7EE6-4342-B048-85BDC9FD1C3A}</a:tableStyleId>
              </a:tblPr>
              <a:tblGrid>
                <a:gridCol w="2084832"/>
                <a:gridCol w="2084832"/>
                <a:gridCol w="2084832"/>
                <a:gridCol w="2084832"/>
                <a:gridCol w="2084832"/>
              </a:tblGrid>
              <a:tr h="441960">
                <a:tc>
                  <a:txBody>
                    <a:bodyPr/>
                    <a:lstStyle/>
                    <a:p>
                      <a:pPr>
                        <a:spcAft>
                          <a:spcPts val="0"/>
                        </a:spcAft>
                      </a:pPr>
                      <a:r>
                        <a:rPr sz="1300" b="1">
                          <a:solidFill>
                            <a:srgbClr val="12161C"/>
                          </a:solidFill>
                          <a:latin typeface="Segoe UI"/>
                        </a:rPr>
                        <a:t>run</a:t>
                      </a:r>
                    </a:p>
                  </a:txBody>
                  <a:tcPr>
                    <a:solidFill>
                      <a:srgbClr val="5BC8F5"/>
                    </a:solidFill>
                  </a:tcPr>
                </a:tc>
                <a:tc>
                  <a:txBody>
                    <a:bodyPr/>
                    <a:lstStyle/>
                    <a:p>
                      <a:pPr>
                        <a:spcAft>
                          <a:spcPts val="0"/>
                        </a:spcAft>
                      </a:pPr>
                      <a:r>
                        <a:rPr sz="1300" b="1">
                          <a:solidFill>
                            <a:srgbClr val="12161C"/>
                          </a:solidFill>
                          <a:latin typeface="Segoe UI"/>
                        </a:rPr>
                        <a:t>best step</a:t>
                      </a:r>
                    </a:p>
                  </a:txBody>
                  <a:tcPr>
                    <a:solidFill>
                      <a:srgbClr val="5BC8F5"/>
                    </a:solidFill>
                  </a:tcPr>
                </a:tc>
                <a:tc>
                  <a:txBody>
                    <a:bodyPr/>
                    <a:lstStyle/>
                    <a:p>
                      <a:pPr>
                        <a:spcAft>
                          <a:spcPts val="0"/>
                        </a:spcAft>
                      </a:pPr>
                      <a:r>
                        <a:rPr sz="1300" b="1">
                          <a:solidFill>
                            <a:srgbClr val="12161C"/>
                          </a:solidFill>
                          <a:latin typeface="Segoe UI"/>
                        </a:rPr>
                        <a:t>macroF1</a:t>
                      </a:r>
                    </a:p>
                  </a:txBody>
                  <a:tcPr>
                    <a:solidFill>
                      <a:srgbClr val="5BC8F5"/>
                    </a:solidFill>
                  </a:tcPr>
                </a:tc>
                <a:tc>
                  <a:txBody>
                    <a:bodyPr/>
                    <a:lstStyle/>
                    <a:p>
                      <a:pPr>
                        <a:spcAft>
                          <a:spcPts val="0"/>
                        </a:spcAft>
                      </a:pPr>
                      <a:r>
                        <a:rPr sz="1300" b="1">
                          <a:solidFill>
                            <a:srgbClr val="12161C"/>
                          </a:solidFill>
                          <a:latin typeface="Segoe UI"/>
                        </a:rPr>
                        <a:t>f1_answer</a:t>
                      </a:r>
                    </a:p>
                  </a:txBody>
                  <a:tcPr>
                    <a:solidFill>
                      <a:srgbClr val="5BC8F5"/>
                    </a:solidFill>
                  </a:tcPr>
                </a:tc>
                <a:tc>
                  <a:txBody>
                    <a:bodyPr/>
                    <a:lstStyle/>
                    <a:p>
                      <a:pPr>
                        <a:spcAft>
                          <a:spcPts val="0"/>
                        </a:spcAft>
                      </a:pPr>
                      <a:r>
                        <a:rPr sz="1300" b="1">
                          <a:solidFill>
                            <a:srgbClr val="12161C"/>
                          </a:solidFill>
                          <a:latin typeface="Segoe UI"/>
                        </a:rPr>
                        <a:t>f1_abstain</a:t>
                      </a:r>
                    </a:p>
                  </a:txBody>
                  <a:tcPr>
                    <a:solidFill>
                      <a:srgbClr val="5BC8F5"/>
                    </a:solidFill>
                  </a:tcPr>
                </a:tc>
              </a:tr>
              <a:tr h="441960">
                <a:tc>
                  <a:txBody>
                    <a:bodyPr/>
                    <a:lstStyle/>
                    <a:p>
                      <a:pPr>
                        <a:spcAft>
                          <a:spcPts val="0"/>
                        </a:spcAft>
                      </a:pPr>
                      <a:r>
                        <a:rPr sz="1200">
                          <a:solidFill>
                            <a:srgbClr val="E8ECF1"/>
                          </a:solidFill>
                          <a:latin typeface="Segoe UI"/>
                        </a:rPr>
                        <a:t>RL run 1  (eval every 28)</a:t>
                      </a:r>
                    </a:p>
                  </a:txBody>
                  <a:tcPr>
                    <a:solidFill>
                      <a:srgbClr val="1A1F27"/>
                    </a:solidFill>
                  </a:tcPr>
                </a:tc>
                <a:tc>
                  <a:txBody>
                    <a:bodyPr/>
                    <a:lstStyle/>
                    <a:p>
                      <a:pPr>
                        <a:spcAft>
                          <a:spcPts val="0"/>
                        </a:spcAft>
                      </a:pPr>
                      <a:r>
                        <a:rPr sz="1200">
                          <a:solidFill>
                            <a:srgbClr val="E8ECF1"/>
                          </a:solidFill>
                          <a:latin typeface="Segoe UI"/>
                        </a:rPr>
                        <a:t>28</a:t>
                      </a:r>
                    </a:p>
                  </a:txBody>
                  <a:tcPr>
                    <a:solidFill>
                      <a:srgbClr val="1A1F27"/>
                    </a:solidFill>
                  </a:tcPr>
                </a:tc>
                <a:tc>
                  <a:txBody>
                    <a:bodyPr/>
                    <a:lstStyle/>
                    <a:p>
                      <a:pPr>
                        <a:spcAft>
                          <a:spcPts val="0"/>
                        </a:spcAft>
                      </a:pPr>
                      <a:r>
                        <a:rPr sz="1200">
                          <a:solidFill>
                            <a:srgbClr val="E8ECF1"/>
                          </a:solidFill>
                          <a:latin typeface="Segoe UI"/>
                        </a:rPr>
                        <a:t>0.423</a:t>
                      </a:r>
                    </a:p>
                  </a:txBody>
                  <a:tcPr>
                    <a:solidFill>
                      <a:srgbClr val="1A1F27"/>
                    </a:solidFill>
                  </a:tcPr>
                </a:tc>
                <a:tc>
                  <a:txBody>
                    <a:bodyPr/>
                    <a:lstStyle/>
                    <a:p>
                      <a:pPr>
                        <a:spcAft>
                          <a:spcPts val="0"/>
                        </a:spcAft>
                      </a:pPr>
                      <a:r>
                        <a:rPr sz="1200">
                          <a:solidFill>
                            <a:srgbClr val="E8ECF1"/>
                          </a:solidFill>
                          <a:latin typeface="Segoe UI"/>
                        </a:rPr>
                        <a:t>0.123</a:t>
                      </a:r>
                    </a:p>
                  </a:txBody>
                  <a:tcPr>
                    <a:solidFill>
                      <a:srgbClr val="1A1F27"/>
                    </a:solidFill>
                  </a:tcPr>
                </a:tc>
                <a:tc>
                  <a:txBody>
                    <a:bodyPr/>
                    <a:lstStyle/>
                    <a:p>
                      <a:pPr>
                        <a:spcAft>
                          <a:spcPts val="0"/>
                        </a:spcAft>
                      </a:pPr>
                      <a:r>
                        <a:rPr sz="1200">
                          <a:solidFill>
                            <a:srgbClr val="E8ECF1"/>
                          </a:solidFill>
                          <a:latin typeface="Segoe UI"/>
                        </a:rPr>
                        <a:t>0.722</a:t>
                      </a:r>
                    </a:p>
                  </a:txBody>
                  <a:tcPr>
                    <a:solidFill>
                      <a:srgbClr val="1A1F27"/>
                    </a:solidFill>
                  </a:tcPr>
                </a:tc>
              </a:tr>
              <a:tr h="441960">
                <a:tc>
                  <a:txBody>
                    <a:bodyPr/>
                    <a:lstStyle/>
                    <a:p>
                      <a:pPr>
                        <a:spcAft>
                          <a:spcPts val="0"/>
                        </a:spcAft>
                      </a:pPr>
                      <a:r>
                        <a:rPr sz="1200">
                          <a:solidFill>
                            <a:srgbClr val="E8ECF1"/>
                          </a:solidFill>
                          <a:latin typeface="Segoe UI"/>
                        </a:rPr>
                        <a:t>RL run 2  (eval every 14)</a:t>
                      </a:r>
                    </a:p>
                  </a:txBody>
                  <a:tcPr>
                    <a:solidFill>
                      <a:srgbClr val="212731"/>
                    </a:solidFill>
                  </a:tcPr>
                </a:tc>
                <a:tc>
                  <a:txBody>
                    <a:bodyPr/>
                    <a:lstStyle/>
                    <a:p>
                      <a:pPr>
                        <a:spcAft>
                          <a:spcPts val="0"/>
                        </a:spcAft>
                      </a:pPr>
                      <a:r>
                        <a:rPr sz="1200">
                          <a:solidFill>
                            <a:srgbClr val="E8ECF1"/>
                          </a:solidFill>
                          <a:latin typeface="Segoe UI"/>
                        </a:rPr>
                        <a:t>42</a:t>
                      </a:r>
                    </a:p>
                  </a:txBody>
                  <a:tcPr>
                    <a:solidFill>
                      <a:srgbClr val="212731"/>
                    </a:solidFill>
                  </a:tcPr>
                </a:tc>
                <a:tc>
                  <a:txBody>
                    <a:bodyPr/>
                    <a:lstStyle/>
                    <a:p>
                      <a:pPr>
                        <a:spcAft>
                          <a:spcPts val="0"/>
                        </a:spcAft>
                      </a:pPr>
                      <a:r>
                        <a:rPr sz="1200">
                          <a:solidFill>
                            <a:srgbClr val="E8ECF1"/>
                          </a:solidFill>
                          <a:latin typeface="Segoe UI"/>
                        </a:rPr>
                        <a:t>0.423</a:t>
                      </a:r>
                    </a:p>
                  </a:txBody>
                  <a:tcPr>
                    <a:solidFill>
                      <a:srgbClr val="212731"/>
                    </a:solidFill>
                  </a:tcPr>
                </a:tc>
                <a:tc>
                  <a:txBody>
                    <a:bodyPr/>
                    <a:lstStyle/>
                    <a:p>
                      <a:pPr>
                        <a:spcAft>
                          <a:spcPts val="0"/>
                        </a:spcAft>
                      </a:pPr>
                      <a:r>
                        <a:rPr sz="1200">
                          <a:solidFill>
                            <a:srgbClr val="E8ECF1"/>
                          </a:solidFill>
                          <a:latin typeface="Segoe UI"/>
                        </a:rPr>
                        <a:t>0.115</a:t>
                      </a:r>
                    </a:p>
                  </a:txBody>
                  <a:tcPr>
                    <a:solidFill>
                      <a:srgbClr val="212731"/>
                    </a:solidFill>
                  </a:tcPr>
                </a:tc>
                <a:tc>
                  <a:txBody>
                    <a:bodyPr/>
                    <a:lstStyle/>
                    <a:p>
                      <a:pPr>
                        <a:spcAft>
                          <a:spcPts val="0"/>
                        </a:spcAft>
                      </a:pPr>
                      <a:r>
                        <a:rPr sz="1200">
                          <a:solidFill>
                            <a:srgbClr val="E8ECF1"/>
                          </a:solidFill>
                          <a:latin typeface="Segoe UI"/>
                        </a:rPr>
                        <a:t>0.732</a:t>
                      </a:r>
                    </a:p>
                  </a:txBody>
                  <a:tcPr>
                    <a:solidFill>
                      <a:srgbClr val="212731"/>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curve the endpoint hides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Finer eval cadence recovered the trajectory:</a:t>
            </a:r>
          </a:p>
          <a:p>
            <a:pPr>
              <a:spcAft>
                <a:spcPts val="400"/>
              </a:spcAft>
            </a:pPr>
            <a:r>
              <a:rPr sz="1500" b="0">
                <a:solidFill>
                  <a:srgbClr val="9AA6B4"/>
                </a:solidFill>
                <a:latin typeface="Segoe UI"/>
              </a:rPr>
              <a:t>     step 14   macroF1 0.261   f1_abstain 0.412</a:t>
            </a:r>
          </a:p>
          <a:p>
            <a:pPr>
              <a:spcAft>
                <a:spcPts val="400"/>
              </a:spcAft>
            </a:pPr>
            <a:r>
              <a:rPr sz="1500" b="0">
                <a:solidFill>
                  <a:srgbClr val="9AA6B4"/>
                </a:solidFill>
                <a:latin typeface="Segoe UI"/>
              </a:rPr>
              <a:t>     step 28   macroF1 0.354   f1_abstain 0.595</a:t>
            </a:r>
          </a:p>
          <a:p>
            <a:pPr>
              <a:spcAft>
                <a:spcPts val="400"/>
              </a:spcAft>
            </a:pPr>
            <a:r>
              <a:rPr sz="1500" b="0">
                <a:solidFill>
                  <a:srgbClr val="9AA6B4"/>
                </a:solidFill>
                <a:latin typeface="Segoe UI"/>
              </a:rPr>
              <a:t>     step 42   macroF1 0.423   f1_abstain 0.732      ← peak</a:t>
            </a:r>
          </a:p>
          <a:p>
            <a:pPr>
              <a:spcAft>
                <a:spcPts val="400"/>
              </a:spcAft>
            </a:pPr>
            <a:r>
              <a:rPr sz="1500" b="0">
                <a:solidFill>
                  <a:srgbClr val="5BC8F5"/>
                </a:solidFill>
                <a:latin typeface="Segoe UI"/>
              </a:rPr>
              <a:t>     step ~43  class collapse — run killed</a:t>
            </a:r>
          </a:p>
          <a:p>
            <a:pPr>
              <a:spcAft>
                <a:spcPts val="900"/>
              </a:spcAft>
            </a:pPr>
            <a:r>
              <a:rPr sz="1800" b="1">
                <a:solidFill>
                  <a:srgbClr val="E8ECF1"/>
                </a:solidFill>
                <a:latin typeface="Segoe UI"/>
              </a:rPr>
              <a:t>A clean monotonic climb, then a cliff.</a:t>
            </a:r>
          </a:p>
          <a:p>
            <a:pPr>
              <a:spcAft>
                <a:spcPts val="400"/>
              </a:spcAft>
            </a:pPr>
            <a:r>
              <a:rPr sz="1500" b="0">
                <a:solidFill>
                  <a:srgbClr val="9AA6B4"/>
                </a:solidFill>
                <a:latin typeface="Segoe UI"/>
              </a:rPr>
              <a:t>     Both runs collapse at the SAME step, so it is the configuration, not luck.</a:t>
            </a:r>
          </a:p>
          <a:p>
            <a:pPr>
              <a:spcAft>
                <a:spcPts val="900"/>
              </a:spcAft>
            </a:pPr>
            <a:r>
              <a:rPr sz="1800" b="1">
                <a:solidFill>
                  <a:srgbClr val="5BC8F5"/>
                </a:solidFill>
                <a:latin typeface="Segoe UI"/>
              </a:rPr>
              <a:t>An end-of-training number would have reported the cliff, not the climb.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A knob that looks like one thing and is two</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Hypothesis: both runs collapse at step ~43, so cap round 1 at 30 steps.</a:t>
            </a:r>
          </a:p>
          <a:p>
            <a:pPr>
              <a:spcAft>
                <a:spcPts val="400"/>
              </a:spcAft>
            </a:pPr>
            <a:r>
              <a:rPr sz="1500" b="0">
                <a:solidFill>
                  <a:srgbClr val="9AA6B4"/>
                </a:solidFill>
                <a:latin typeface="Segoe UI"/>
              </a:rPr>
              <a:t>     Stay under the cliff, and finally reach round 2.</a:t>
            </a:r>
          </a:p>
          <a:p>
            <a:pPr>
              <a:spcAft>
                <a:spcPts val="900"/>
              </a:spcAft>
            </a:pPr>
            <a:r>
              <a:rPr sz="1800" b="1">
                <a:solidFill>
                  <a:srgbClr val="5BC8F5"/>
                </a:solidFill>
                <a:latin typeface="Segoe UI"/>
              </a:rPr>
              <a:t>It failed for two reasons, neither of them the hypothesis.</a:t>
            </a:r>
          </a:p>
          <a:p>
            <a:pPr>
              <a:spcAft>
                <a:spcPts val="400"/>
              </a:spcAft>
            </a:pPr>
            <a:r>
              <a:rPr sz="1500" b="0">
                <a:solidFill>
                  <a:srgbClr val="9AA6B4"/>
                </a:solidFill>
                <a:latin typeface="Segoe UI"/>
              </a:rPr>
              <a:t>     --steps sets the COSINE DECAY HORIZON, not just the length.</a:t>
            </a:r>
          </a:p>
          <a:p>
            <a:pPr>
              <a:spcAft>
                <a:spcPts val="400"/>
              </a:spcAft>
            </a:pPr>
            <a:r>
              <a:rPr sz="1500" b="0">
                <a:solidFill>
                  <a:srgbClr val="9AA6B4"/>
                </a:solidFill>
                <a:latin typeface="Segoe UI"/>
              </a:rPr>
              <a:t>     At 30 steps the LR is ~1e-6 by step 30; at 57 it is still ~1.7e-5 there.</a:t>
            </a:r>
          </a:p>
          <a:p>
            <a:pPr>
              <a:spcAft>
                <a:spcPts val="400"/>
              </a:spcAft>
            </a:pPr>
            <a:r>
              <a:rPr sz="1500" b="0">
                <a:solidFill>
                  <a:srgbClr val="9AA6B4"/>
                </a:solidFill>
                <a:latin typeface="Segoe UI"/>
              </a:rPr>
              <a:t>     Peak fell from 0.423 to 0.300. Capping steps is a different experiment.</a:t>
            </a:r>
          </a:p>
          <a:p>
            <a:pPr>
              <a:spcAft>
                <a:spcPts val="400"/>
              </a:spcAft>
            </a:pPr>
            <a:r>
              <a:rPr sz="1500" b="0">
                <a:solidFill>
                  <a:srgbClr val="9AA6B4"/>
                </a:solidFill>
                <a:latin typeface="Segoe UI"/>
              </a:rPr>
              <a:t>     --steps 30 with --target-pool 57 is invalid: round 2's maxent needs a</a:t>
            </a:r>
          </a:p>
          <a:p>
            <a:pPr>
              <a:spcAft>
                <a:spcPts val="400"/>
              </a:spcAft>
            </a:pPr>
            <a:r>
              <a:rPr sz="1500" b="0">
                <a:solidFill>
                  <a:srgbClr val="9AA6B4"/>
                </a:solidFill>
                <a:latin typeface="Segoe UI"/>
              </a:rPr>
              <a:t>     reward history for every cohort prompt, and 27 were never sampled.</a:t>
            </a:r>
          </a:p>
          <a:p>
            <a:pPr>
              <a:spcAft>
                <a:spcPts val="900"/>
              </a:spcAft>
            </a:pPr>
            <a:r>
              <a:rPr sz="1800" b="1">
                <a:solidFill>
                  <a:srgbClr val="5BC8F5"/>
                </a:solidFill>
                <a:latin typeface="Segoe UI"/>
              </a:rPr>
              <a:t>57 steps turned out to be load-bearing, not incidental.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Measure the measurement first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At k=1 on 20 items, SE is ±1.3 items. Most of a night was spent inside the noise.</a:t>
            </a:r>
          </a:p>
          <a:p>
            <a:pPr>
              <a:spcAft>
                <a:spcPts val="400"/>
              </a:spcAft>
            </a:pPr>
            <a:r>
              <a:rPr sz="1500" b="0">
                <a:solidFill>
                  <a:srgbClr val="9AA6B4"/>
                </a:solidFill>
                <a:latin typeface="Segoe UI"/>
              </a:rPr>
              <a:t>     k=8 costs ~35 min/model and cuts SE to ±0.32 — four times tighter.</a:t>
            </a:r>
          </a:p>
          <a:p>
            <a:pPr>
              <a:spcAft>
                <a:spcPts val="900"/>
              </a:spcAft>
            </a:pPr>
            <a:r>
              <a:rPr sz="1800" b="1">
                <a:solidFill>
                  <a:srgbClr val="5BC8F5"/>
                </a:solidFill>
                <a:latin typeface="Segoe UI"/>
              </a:rPr>
              <a:t>Only compare numbers carrying the same n and the same eval file.</a:t>
            </a:r>
          </a:p>
          <a:p>
            <a:pPr>
              <a:spcAft>
                <a:spcPts val="400"/>
              </a:spcAft>
            </a:pPr>
            <a:r>
              <a:rPr sz="1500" b="0">
                <a:solidFill>
                  <a:srgbClr val="9AA6B4"/>
                </a:solidFill>
                <a:latin typeface="Segoe UI"/>
              </a:rPr>
              <a:t>     A sweep 'winner' at 0.362 was an n=12 split; the baseline was n=62. Not a comparison.</a:t>
            </a:r>
          </a:p>
          <a:p>
            <a:pPr>
              <a:spcAft>
                <a:spcPts val="900"/>
              </a:spcAft>
            </a:pPr>
            <a:r>
              <a:rPr sz="1800" b="1">
                <a:solidFill>
                  <a:srgbClr val="E8ECF1"/>
                </a:solidFill>
                <a:latin typeface="Segoe UI"/>
              </a:rPr>
              <a:t>Token overlap could not separate right from wrong on this eval.</a:t>
            </a:r>
          </a:p>
          <a:p>
            <a:pPr>
              <a:spcAft>
                <a:spcPts val="400"/>
              </a:spcAft>
            </a:pPr>
            <a:r>
              <a:rPr sz="1500" b="0">
                <a:solidFill>
                  <a:srgbClr val="9AA6B4"/>
                </a:solidFill>
                <a:latin typeface="Segoe UI"/>
              </a:rPr>
              <a:t>     Wrong answers scored 0.06–0.41; the one correct answer scored 0.528.</a:t>
            </a:r>
          </a:p>
          <a:p>
            <a:pPr>
              <a:spcAft>
                <a:spcPts val="400"/>
              </a:spcAft>
            </a:pPr>
            <a:r>
              <a:rPr sz="1500" b="0">
                <a:solidFill>
                  <a:srgbClr val="9AA6B4"/>
                </a:solidFill>
                <a:latin typeface="Segoe UI"/>
              </a:rPr>
              <a:t>     An LLM judge with a verdict — correct / incorrect / not_attempted — could.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PART FOUR</a:t>
            </a:r>
          </a:p>
          <a:p>
            <a:pPr>
              <a:spcAft>
                <a:spcPts val="600"/>
              </a:spcAft>
            </a:pPr>
            <a:r>
              <a:rPr sz="3400" b="1">
                <a:solidFill>
                  <a:srgbClr val="E8ECF1"/>
                </a:solidFill>
                <a:latin typeface="Segoe UI"/>
              </a:rPr>
              <a:t>The R3 lane, run to a verdict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vocabulary, in one place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R3 — CLOSED-BOOK domain QA. No context supplied, no abstention allowed.</a:t>
            </a:r>
          </a:p>
          <a:p>
            <a:pPr>
              <a:spcAft>
                <a:spcPts val="400"/>
              </a:spcAft>
            </a:pPr>
            <a:r>
              <a:rPr sz="1500" b="0">
                <a:solidFill>
                  <a:srgbClr val="9AA6B4"/>
                </a:solidFill>
                <a:latin typeface="Segoe UI"/>
              </a:rPr>
              <a:t>     The answer is in the weights or it is not. 240 items; 16 frozen as the eval.</a:t>
            </a:r>
          </a:p>
          <a:p>
            <a:pPr>
              <a:spcAft>
                <a:spcPts val="900"/>
              </a:spcAft>
            </a:pPr>
            <a:r>
              <a:rPr sz="1800" b="1">
                <a:solidFill>
                  <a:srgbClr val="E8ECF1"/>
                </a:solidFill>
                <a:latin typeface="Segoe UI"/>
              </a:rPr>
              <a:t>FOUR ANSWER CATEGORIES — Math, Code, STEM, Instruction.</a:t>
            </a:r>
          </a:p>
          <a:p>
            <a:pPr>
              <a:spcAft>
                <a:spcPts val="400"/>
              </a:spcAft>
            </a:pPr>
            <a:r>
              <a:rPr sz="1500" b="0">
                <a:solidFill>
                  <a:srgbClr val="9AA6B4"/>
                </a:solidFill>
                <a:latin typeface="Segoe UI"/>
              </a:rPr>
              <a:t>     Every score is reported per category; a mean over four hides three of them.</a:t>
            </a:r>
          </a:p>
          <a:p>
            <a:pPr>
              <a:spcAft>
                <a:spcPts val="900"/>
              </a:spcAft>
            </a:pPr>
            <a:r>
              <a:rPr sz="1800" b="1">
                <a:solidFill>
                  <a:srgbClr val="E8ECF1"/>
                </a:solidFill>
                <a:latin typeface="Segoe UI"/>
              </a:rPr>
              <a:t>THE JUDGE — a 4B model applying a written rubric, one isolated call per answer.</a:t>
            </a:r>
          </a:p>
          <a:p>
            <a:pPr>
              <a:spcAft>
                <a:spcPts val="400"/>
              </a:spcAft>
            </a:pPr>
            <a:r>
              <a:rPr sz="1500" b="0">
                <a:solidFill>
                  <a:srgbClr val="9AA6B4"/>
                </a:solidFill>
                <a:latin typeface="Segoe UI"/>
              </a:rPr>
              <a:t>     The 2B was REJECTED: it accepted 3/12 fluent-but-wrong decoys. RL would have</a:t>
            </a:r>
          </a:p>
          <a:p>
            <a:pPr>
              <a:spcAft>
                <a:spcPts val="400"/>
              </a:spcAft>
            </a:pPr>
            <a:r>
              <a:rPr sz="1500" b="0">
                <a:solidFill>
                  <a:srgbClr val="9AA6B4"/>
                </a:solidFill>
                <a:latin typeface="Segoe UI"/>
              </a:rPr>
              <a:t>     optimised straight into that hole.</a:t>
            </a:r>
          </a:p>
          <a:p>
            <a:pPr>
              <a:spcAft>
                <a:spcPts val="900"/>
              </a:spcAft>
            </a:pPr>
            <a:r>
              <a:rPr sz="1800" b="1">
                <a:solidFill>
                  <a:srgbClr val="E8ECF1"/>
                </a:solidFill>
                <a:latin typeface="Segoe UI"/>
              </a:rPr>
              <a:t>THE RUBRIC (REQ-J15) — verifier-style correctness, per category.</a:t>
            </a:r>
          </a:p>
          <a:p>
            <a:pPr>
              <a:spcAft>
                <a:spcPts val="400"/>
              </a:spcAft>
            </a:pPr>
            <a:r>
              <a:rPr sz="1500" b="0">
                <a:solidFill>
                  <a:srgbClr val="9AA6B4"/>
                </a:solidFill>
                <a:latin typeface="Segoe UI"/>
              </a:rPr>
              <a:t>     Math by the final answer, Code by what the code computes, STEM by the named</a:t>
            </a:r>
          </a:p>
          <a:p>
            <a:pPr>
              <a:spcAft>
                <a:spcPts val="400"/>
              </a:spcAft>
            </a:pPr>
            <a:r>
              <a:rPr sz="1500" b="0">
                <a:solidFill>
                  <a:srgbClr val="9AA6B4"/>
                </a:solidFill>
                <a:latin typeface="Segoe UI"/>
              </a:rPr>
              <a:t>     fact, Instruction by every constraint satisfied. All claims, or incorrect.</a:t>
            </a:r>
          </a:p>
          <a:p>
            <a:pPr>
              <a:spcAft>
                <a:spcPts val="900"/>
              </a:spcAft>
            </a:pPr>
            <a:r>
              <a:rPr sz="1800" b="1">
                <a:solidFill>
                  <a:srgbClr val="E8ECF1"/>
                </a:solidFill>
                <a:latin typeface="Segoe UI"/>
              </a:rPr>
              <a:t>THE FLOOR — 0.70. One constant, one home, imported everywhere.</a:t>
            </a:r>
          </a:p>
          <a:p>
            <a:pPr>
              <a:spcAft>
                <a:spcPts val="900"/>
              </a:spcAft>
            </a:pPr>
            <a:r>
              <a:rPr sz="1800" b="1">
                <a:solidFill>
                  <a:srgbClr val="E8ECF1"/>
                </a:solidFill>
                <a:latin typeface="Segoe UI"/>
              </a:rPr>
              <a:t>THE RESOLUTION — 0.0526, MEASURED: four copies of one checkpoint spread that far.</a:t>
            </a:r>
          </a:p>
          <a:p>
            <a:pPr>
              <a:spcAft>
                <a:spcPts val="400"/>
              </a:spcAft>
            </a:pPr>
            <a:r>
              <a:rPr sz="1500" b="0">
                <a:solidFill>
                  <a:srgbClr val="9AA6B4"/>
                </a:solidFill>
                <a:latin typeface="Segoe UI"/>
              </a:rPr>
              <a:t>     A 'lift' smaller than the instrument can resolve is not a lift.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Exploration under uncertainty — where MGPO sits in RL</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Classic RL explores what it is UNSURE of: count bonus (MCTS/UCT),</a:t>
            </a:r>
          </a:p>
          <a:p>
            <a:pPr>
              <a:spcAft>
                <a:spcPts val="400"/>
              </a:spcAft>
            </a:pPr>
            <a:r>
              <a:rPr sz="1500" b="0">
                <a:solidFill>
                  <a:srgbClr val="9AA6B4"/>
                </a:solidFill>
                <a:latin typeface="Segoe UI"/>
              </a:rPr>
              <a:t>     entropy (SAC), epsilon-greedy (blunt randomness).</a:t>
            </a:r>
          </a:p>
          <a:p>
            <a:pPr>
              <a:spcAft>
                <a:spcPts val="900"/>
              </a:spcAft>
            </a:pPr>
            <a:r>
              <a:rPr sz="1800" b="1">
                <a:solidFill>
                  <a:srgbClr val="E8ECF1"/>
                </a:solidFill>
                <a:latin typeface="Segoe UI"/>
              </a:rPr>
              <a:t>Two-model view: where two models trained on the same data DISAGREE,</a:t>
            </a:r>
          </a:p>
          <a:p>
            <a:pPr>
              <a:spcAft>
                <a:spcPts val="400"/>
              </a:spcAft>
            </a:pPr>
            <a:r>
              <a:rPr sz="1500" b="0">
                <a:solidFill>
                  <a:srgbClr val="9AA6B4"/>
                </a:solidFill>
                <a:latin typeface="Segoe UI"/>
              </a:rPr>
              <a:t>     you don't know — explore there (ensembles, RND).</a:t>
            </a:r>
          </a:p>
          <a:p>
            <a:pPr>
              <a:spcAft>
                <a:spcPts val="900"/>
              </a:spcAft>
            </a:pPr>
            <a:r>
              <a:rPr sz="1800" b="1">
                <a:solidFill>
                  <a:srgbClr val="E8ECF1"/>
                </a:solidFill>
                <a:latin typeface="Segoe UI"/>
              </a:rPr>
              <a:t>Most direct: 'surprise' = how much a sample MOVES the model when trained on</a:t>
            </a:r>
          </a:p>
          <a:p>
            <a:pPr>
              <a:spcAft>
                <a:spcPts val="400"/>
              </a:spcAft>
            </a:pPr>
            <a:r>
              <a:rPr sz="1500" b="0">
                <a:solidFill>
                  <a:srgbClr val="9AA6B4"/>
                </a:solidFill>
                <a:latin typeface="Segoe UI"/>
              </a:rPr>
              <a:t>     (learning progress) — but that costs a gradient step per candidate.</a:t>
            </a:r>
          </a:p>
          <a:p>
            <a:pPr>
              <a:spcAft>
                <a:spcPts val="900"/>
              </a:spcAft>
            </a:pPr>
            <a:r>
              <a:rPr sz="1800" b="1">
                <a:solidFill>
                  <a:srgbClr val="5BC8F5"/>
                </a:solidFill>
                <a:latin typeface="Segoe UI"/>
              </a:rPr>
              <a:t>MGPO's spanning selection is the FREE proxy: G answers splitting right/wrong</a:t>
            </a:r>
          </a:p>
          <a:p>
            <a:pPr>
              <a:spcAft>
                <a:spcPts val="400"/>
              </a:spcAft>
            </a:pPr>
            <a:r>
              <a:rPr sz="1500" b="0">
                <a:solidFill>
                  <a:srgbClr val="9AA6B4"/>
                </a:solidFill>
                <a:latin typeface="Segoe UI"/>
              </a:rPr>
              <a:t>     = max advantage variance = max expected gradient, from sampling alone.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MGPO as we modified it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BASE ALGORITHM (arXiv:2511.06221): sample prompts where the model is UNCERTAIN.</a:t>
            </a:r>
          </a:p>
          <a:p>
            <a:pPr>
              <a:spcAft>
                <a:spcPts val="400"/>
              </a:spcAft>
            </a:pPr>
            <a:r>
              <a:rPr sz="1500" b="0">
                <a:solidFill>
                  <a:srgbClr val="9AA6B4"/>
                </a:solidFill>
                <a:latin typeface="Segoe UI"/>
              </a:rPr>
              <a:t>     Uncertainty = within-group reward standard deviation. Maximal at pass rate 0.5,</a:t>
            </a:r>
          </a:p>
          <a:p>
            <a:pPr>
              <a:spcAft>
                <a:spcPts val="400"/>
              </a:spcAft>
            </a:pPr>
            <a:r>
              <a:rPr sz="1500" b="0">
                <a:solidFill>
                  <a:srgbClr val="9AA6B4"/>
                </a:solidFill>
                <a:latin typeface="Segoe UI"/>
              </a:rPr>
              <a:t>     and it is exactly the quantity GRPO's advantage divides by.</a:t>
            </a:r>
          </a:p>
          <a:p>
            <a:pPr>
              <a:spcAft>
                <a:spcPts val="900"/>
              </a:spcAft>
            </a:pPr>
            <a:r>
              <a:rPr sz="1800" b="1">
                <a:solidFill>
                  <a:srgbClr val="5BC8F5"/>
                </a:solidFill>
                <a:latin typeface="Segoe UI"/>
              </a:rPr>
              <a:t>OUR REWARD — replaced the raw judge score with a two-part signal:</a:t>
            </a:r>
          </a:p>
          <a:p>
            <a:pPr>
              <a:spcAft>
                <a:spcPts val="400"/>
              </a:spcAft>
            </a:pPr>
            <a:r>
              <a:rPr sz="1500" b="0">
                <a:solidFill>
                  <a:srgbClr val="9AA6B4"/>
                </a:solidFill>
                <a:latin typeface="Segoe UI"/>
              </a:rPr>
              <a:t>     1. BINARY GATE at 0.70. Correct = 1.0, wrong = EXACTLY 0.0.</a:t>
            </a:r>
          </a:p>
          <a:p>
            <a:pPr>
              <a:spcAft>
                <a:spcPts val="400"/>
              </a:spcAft>
            </a:pPr>
            <a:r>
              <a:rPr sz="1500" b="0">
                <a:solidFill>
                  <a:srgbClr val="9AA6B4"/>
                </a:solidFill>
                <a:latin typeface="Segoe UI"/>
              </a:rPr>
              <a:t>     The old raw-score reward paid ~0.5 for confident wrongness — measured: it</a:t>
            </a:r>
          </a:p>
          <a:p>
            <a:pPr>
              <a:spcAft>
                <a:spcPts val="400"/>
              </a:spcAft>
            </a:pPr>
            <a:r>
              <a:rPr sz="1500" b="0">
                <a:solidFill>
                  <a:srgbClr val="9AA6B4"/>
                </a:solidFill>
                <a:latin typeface="Segoe UI"/>
              </a:rPr>
              <a:t>     could not even see the SFT lift (base 0.5608 vs SFT 0.5578).</a:t>
            </a:r>
          </a:p>
          <a:p>
            <a:pPr>
              <a:spcAft>
                <a:spcPts val="400"/>
              </a:spcAft>
            </a:pPr>
            <a:r>
              <a:rPr sz="1500" b="0">
                <a:solidFill>
                  <a:srgbClr val="9AA6B4"/>
                </a:solidFill>
                <a:latin typeface="Segoe UI"/>
              </a:rPr>
              <a:t>     2. LONG2SHORT, zero-sum WITHIN the correct answers of each prompt group.</a:t>
            </a:r>
          </a:p>
          <a:p>
            <a:pPr>
              <a:spcAft>
                <a:spcPts val="400"/>
              </a:spcAft>
            </a:pPr>
            <a:r>
              <a:rPr sz="1500" b="0">
                <a:solidFill>
                  <a:srgbClr val="9AA6B4"/>
                </a:solidFill>
                <a:latin typeface="Segoe UI"/>
              </a:rPr>
              <a:t>     Shorter correct answers gain what longer ones give up, ±0.2 max. Zero-sum by</a:t>
            </a:r>
          </a:p>
          <a:p>
            <a:pPr>
              <a:spcAft>
                <a:spcPts val="400"/>
              </a:spcAft>
            </a:pPr>
            <a:r>
              <a:rPr sz="1500" b="0">
                <a:solidFill>
                  <a:srgbClr val="9AA6B4"/>
                </a:solidFill>
                <a:latin typeface="Segoe UI"/>
              </a:rPr>
              <a:t>     construction, so the GRPO group baseline does not move. Logged drift: 0.0e+00.</a:t>
            </a:r>
          </a:p>
          <a:p>
            <a:pPr>
              <a:spcAft>
                <a:spcPts val="900"/>
              </a:spcAft>
            </a:pPr>
            <a:r>
              <a:rPr sz="1800" b="1">
                <a:solidFill>
                  <a:srgbClr val="E8ECF1"/>
                </a:solidFill>
                <a:latin typeface="Segoe UI"/>
              </a:rPr>
              <a:t>OTHER R3 CHANGES: class-collapse tripwire DISARMED (one class IS the spec here);</a:t>
            </a:r>
          </a:p>
          <a:p>
            <a:pPr>
              <a:spcAft>
                <a:spcPts val="400"/>
              </a:spcAft>
            </a:pPr>
            <a:r>
              <a:rPr sz="1500" b="0">
                <a:solidFill>
                  <a:srgbClr val="9AA6B4"/>
                </a:solidFill>
                <a:latin typeface="Segoe UI"/>
              </a:rPr>
              <a:t>     patience watches the ladder metric, not the abstention macroF1 from another lane.</a:t>
            </a:r>
          </a:p>
          <a:p>
            <a:pPr>
              <a:spcAft>
                <a:spcPts val="900"/>
              </a:spcAft>
            </a:pPr>
            <a:r>
              <a:rPr sz="1800" b="1">
                <a:solidFill>
                  <a:srgbClr val="E8ECF1"/>
                </a:solidFill>
                <a:latin typeface="Segoe UI"/>
              </a:rPr>
              <a:t>Structure: one prompt x G=4 completions per batch; 2 rounds; fresh zero-init LoRA</a:t>
            </a:r>
          </a:p>
          <a:p>
            <a:pPr>
              <a:spcAft>
                <a:spcPts val="400"/>
              </a:spcAft>
            </a:pPr>
            <a:r>
              <a:rPr sz="1500" b="0">
                <a:solidFill>
                  <a:srgbClr val="9AA6B4"/>
                </a:solidFill>
                <a:latin typeface="Segoe UI"/>
              </a:rPr>
              <a:t>     r=16 a=64 (10.8M params) on top of the full-param SFT checkpoint.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MGPO with the borrowed parts labeled</a:t>
            </a:r>
          </a:p>
        </p:txBody>
      </p:sp>
      <p:graphicFrame>
        <p:nvGraphicFramePr>
          <p:cNvPr id="4" name="Table 3"/>
          <p:cNvGraphicFramePr>
            <a:graphicFrameLocks noGrp="1"/>
          </p:cNvGraphicFramePr>
          <p:nvPr/>
        </p:nvGraphicFramePr>
        <p:xfrm>
          <a:off x="868680" y="1463040"/>
          <a:ext cx="10424160" cy="3154680"/>
        </p:xfrm>
        <a:graphic>
          <a:graphicData uri="http://schemas.openxmlformats.org/drawingml/2006/table">
            <a:tbl>
              <a:tblPr>
                <a:tableStyleId>{5C22544A-7EE6-4342-B048-85BDC9FD1C3A}</a:tableStyleId>
              </a:tblPr>
              <a:tblGrid>
                <a:gridCol w="3474720"/>
                <a:gridCol w="3474720"/>
                <a:gridCol w="3474720"/>
              </a:tblGrid>
              <a:tr h="394335">
                <a:tc>
                  <a:txBody>
                    <a:bodyPr/>
                    <a:lstStyle/>
                    <a:p>
                      <a:pPr>
                        <a:spcAft>
                          <a:spcPts val="0"/>
                        </a:spcAft>
                      </a:pPr>
                      <a:r>
                        <a:rPr sz="1300" b="1">
                          <a:solidFill>
                            <a:srgbClr val="12161C"/>
                          </a:solidFill>
                          <a:latin typeface="Segoe UI"/>
                        </a:rPr>
                        <a:t>mechanism in our code</a:t>
                      </a:r>
                    </a:p>
                  </a:txBody>
                  <a:tcPr>
                    <a:solidFill>
                      <a:srgbClr val="5BC8F5"/>
                    </a:solidFill>
                  </a:tcPr>
                </a:tc>
                <a:tc>
                  <a:txBody>
                    <a:bodyPr/>
                    <a:lstStyle/>
                    <a:p>
                      <a:pPr>
                        <a:spcAft>
                          <a:spcPts val="0"/>
                        </a:spcAft>
                      </a:pPr>
                      <a:r>
                        <a:rPr sz="1300" b="1">
                          <a:solidFill>
                            <a:srgbClr val="12161C"/>
                          </a:solidFill>
                          <a:latin typeface="Segoe UI"/>
                        </a:rPr>
                        <a:t>borrowed from</a:t>
                      </a:r>
                    </a:p>
                  </a:txBody>
                  <a:tcPr>
                    <a:solidFill>
                      <a:srgbClr val="5BC8F5"/>
                    </a:solidFill>
                  </a:tcPr>
                </a:tc>
                <a:tc>
                  <a:txBody>
                    <a:bodyPr/>
                    <a:lstStyle/>
                    <a:p>
                      <a:pPr>
                        <a:spcAft>
                          <a:spcPts val="0"/>
                        </a:spcAft>
                      </a:pPr>
                      <a:r>
                        <a:rPr sz="1300" b="1">
                          <a:solidFill>
                            <a:srgbClr val="12161C"/>
                          </a:solidFill>
                          <a:latin typeface="Segoe UI"/>
                        </a:rPr>
                        <a:t>tried → kept?</a:t>
                      </a:r>
                    </a:p>
                  </a:txBody>
                  <a:tcPr>
                    <a:solidFill>
                      <a:srgbClr val="5BC8F5"/>
                    </a:solidFill>
                  </a:tcPr>
                </a:tc>
              </a:tr>
              <a:tr h="394335">
                <a:tc>
                  <a:txBody>
                    <a:bodyPr/>
                    <a:lstStyle/>
                    <a:p>
                      <a:pPr>
                        <a:spcAft>
                          <a:spcPts val="0"/>
                        </a:spcAft>
                      </a:pPr>
                      <a:r>
                        <a:rPr sz="1200">
                          <a:solidFill>
                            <a:srgbClr val="E8ECF1"/>
                          </a:solidFill>
                          <a:latin typeface="Segoe UI"/>
                        </a:rPr>
                        <a:t>group-relative advantage, no critic</a:t>
                      </a:r>
                    </a:p>
                  </a:txBody>
                  <a:tcPr>
                    <a:solidFill>
                      <a:srgbClr val="1A1F27"/>
                    </a:solidFill>
                  </a:tcPr>
                </a:tc>
                <a:tc>
                  <a:txBody>
                    <a:bodyPr/>
                    <a:lstStyle/>
                    <a:p>
                      <a:pPr>
                        <a:spcAft>
                          <a:spcPts val="0"/>
                        </a:spcAft>
                      </a:pPr>
                      <a:r>
                        <a:rPr sz="1200">
                          <a:solidFill>
                            <a:srgbClr val="E8ECF1"/>
                          </a:solidFill>
                          <a:latin typeface="Segoe UI"/>
                        </a:rPr>
                        <a:t>GRPO (DeepSeek) — critic-free PPO</a:t>
                      </a:r>
                    </a:p>
                  </a:txBody>
                  <a:tcPr>
                    <a:solidFill>
                      <a:srgbClr val="1A1F27"/>
                    </a:solidFill>
                  </a:tcPr>
                </a:tc>
                <a:tc>
                  <a:txBody>
                    <a:bodyPr/>
                    <a:lstStyle/>
                    <a:p>
                      <a:pPr>
                        <a:spcAft>
                          <a:spcPts val="0"/>
                        </a:spcAft>
                      </a:pPr>
                      <a:r>
                        <a:rPr sz="1200">
                          <a:solidFill>
                            <a:srgbClr val="E8ECF1"/>
                          </a:solidFill>
                          <a:latin typeface="Segoe UI"/>
                        </a:rPr>
                        <a:t>KEPT — core of every run</a:t>
                      </a:r>
                    </a:p>
                  </a:txBody>
                  <a:tcPr>
                    <a:solidFill>
                      <a:srgbClr val="1A1F27"/>
                    </a:solidFill>
                  </a:tcPr>
                </a:tc>
              </a:tr>
              <a:tr h="394335">
                <a:tc>
                  <a:txBody>
                    <a:bodyPr/>
                    <a:lstStyle/>
                    <a:p>
                      <a:pPr>
                        <a:spcAft>
                          <a:spcPts val="0"/>
                        </a:spcAft>
                      </a:pPr>
                      <a:r>
                        <a:rPr sz="1200">
                          <a:solidFill>
                            <a:srgbClr val="E8ECF1"/>
                          </a:solidFill>
                          <a:latin typeface="Segoe UI"/>
                        </a:rPr>
                        <a:t>reward scaling (÷ group std)</a:t>
                      </a:r>
                    </a:p>
                  </a:txBody>
                  <a:tcPr>
                    <a:solidFill>
                      <a:srgbClr val="212731"/>
                    </a:solidFill>
                  </a:tcPr>
                </a:tc>
                <a:tc>
                  <a:txBody>
                    <a:bodyPr/>
                    <a:lstStyle/>
                    <a:p>
                      <a:pPr>
                        <a:spcAft>
                          <a:spcPts val="0"/>
                        </a:spcAft>
                      </a:pPr>
                      <a:r>
                        <a:rPr sz="1200">
                          <a:solidFill>
                            <a:srgbClr val="E8ECF1"/>
                          </a:solidFill>
                          <a:latin typeface="Segoe UI"/>
                        </a:rPr>
                        <a:t>GRPO default; removed = 'Dr. GRPO'</a:t>
                      </a:r>
                    </a:p>
                  </a:txBody>
                  <a:tcPr>
                    <a:solidFill>
                      <a:srgbClr val="212731"/>
                    </a:solidFill>
                  </a:tcPr>
                </a:tc>
                <a:tc>
                  <a:txBody>
                    <a:bodyPr/>
                    <a:lstStyle/>
                    <a:p>
                      <a:pPr>
                        <a:spcAft>
                          <a:spcPts val="0"/>
                        </a:spcAft>
                      </a:pPr>
                      <a:r>
                        <a:rPr sz="1200">
                          <a:solidFill>
                            <a:srgbClr val="E8ECF1"/>
                          </a:solidFill>
                          <a:latin typeface="Segoe UI"/>
                        </a:rPr>
                        <a:t>REMOVED: 8/14 — the winning RL pass</a:t>
                      </a:r>
                    </a:p>
                  </a:txBody>
                  <a:tcPr>
                    <a:solidFill>
                      <a:srgbClr val="212731"/>
                    </a:solidFill>
                  </a:tcPr>
                </a:tc>
              </a:tr>
              <a:tr h="394335">
                <a:tc>
                  <a:txBody>
                    <a:bodyPr/>
                    <a:lstStyle/>
                    <a:p>
                      <a:pPr>
                        <a:spcAft>
                          <a:spcPts val="0"/>
                        </a:spcAft>
                      </a:pPr>
                      <a:r>
                        <a:rPr sz="1200">
                          <a:solidFill>
                            <a:srgbClr val="E8ECF1"/>
                          </a:solidFill>
                          <a:latin typeface="Segoe UI"/>
                        </a:rPr>
                        <a:t>KL anchor (beta 0.3)</a:t>
                      </a:r>
                    </a:p>
                  </a:txBody>
                  <a:tcPr>
                    <a:solidFill>
                      <a:srgbClr val="1A1F27"/>
                    </a:solidFill>
                  </a:tcPr>
                </a:tc>
                <a:tc>
                  <a:txBody>
                    <a:bodyPr/>
                    <a:lstStyle/>
                    <a:p>
                      <a:pPr>
                        <a:spcAft>
                          <a:spcPts val="0"/>
                        </a:spcAft>
                      </a:pPr>
                      <a:r>
                        <a:rPr sz="1200">
                          <a:solidFill>
                            <a:srgbClr val="E8ECF1"/>
                          </a:solidFill>
                          <a:latin typeface="Segoe UI"/>
                        </a:rPr>
                        <a:t>Build a Reasoning Model Ch7 §7.5; DeepSeek-R1 kl_coeff 0.02</a:t>
                      </a:r>
                    </a:p>
                  </a:txBody>
                  <a:tcPr>
                    <a:solidFill>
                      <a:srgbClr val="1A1F27"/>
                    </a:solidFill>
                  </a:tcPr>
                </a:tc>
                <a:tc>
                  <a:txBody>
                    <a:bodyPr/>
                    <a:lstStyle/>
                    <a:p>
                      <a:pPr>
                        <a:spcAft>
                          <a:spcPts val="0"/>
                        </a:spcAft>
                      </a:pPr>
                      <a:r>
                        <a:rPr sz="1200">
                          <a:solidFill>
                            <a:srgbClr val="E8ECF1"/>
                          </a:solidFill>
                          <a:latin typeface="Segoe UI"/>
                        </a:rPr>
                        <a:t>0.02 tried: climbed 4→8, scored 8/15 — kept 0.3</a:t>
                      </a:r>
                    </a:p>
                  </a:txBody>
                  <a:tcPr>
                    <a:solidFill>
                      <a:srgbClr val="1A1F27"/>
                    </a:solidFill>
                  </a:tcPr>
                </a:tc>
              </a:tr>
              <a:tr h="394335">
                <a:tc>
                  <a:txBody>
                    <a:bodyPr/>
                    <a:lstStyle/>
                    <a:p>
                      <a:pPr>
                        <a:spcAft>
                          <a:spcPts val="0"/>
                        </a:spcAft>
                      </a:pPr>
                      <a:r>
                        <a:rPr sz="1200">
                          <a:solidFill>
                            <a:srgbClr val="E8ECF1"/>
                          </a:solidFill>
                          <a:latin typeface="Segoe UI"/>
                        </a:rPr>
                        <a:t>clipped policy ratio (epsilon 0.2)</a:t>
                      </a:r>
                    </a:p>
                  </a:txBody>
                  <a:tcPr>
                    <a:solidFill>
                      <a:srgbClr val="212731"/>
                    </a:solidFill>
                  </a:tcPr>
                </a:tc>
                <a:tc>
                  <a:txBody>
                    <a:bodyPr/>
                    <a:lstStyle/>
                    <a:p>
                      <a:pPr>
                        <a:spcAft>
                          <a:spcPts val="0"/>
                        </a:spcAft>
                      </a:pPr>
                      <a:r>
                        <a:rPr sz="1200">
                          <a:solidFill>
                            <a:srgbClr val="E8ECF1"/>
                          </a:solidFill>
                          <a:latin typeface="Segoe UI"/>
                        </a:rPr>
                        <a:t>Ch7 §7.4 / PPO; silently inherited from TRL, then exposed. DAPO top: 0.28</a:t>
                      </a:r>
                    </a:p>
                  </a:txBody>
                  <a:tcPr>
                    <a:solidFill>
                      <a:srgbClr val="212731"/>
                    </a:solidFill>
                  </a:tcPr>
                </a:tc>
                <a:tc>
                  <a:txBody>
                    <a:bodyPr/>
                    <a:lstStyle/>
                    <a:p>
                      <a:pPr>
                        <a:spcAft>
                          <a:spcPts val="0"/>
                        </a:spcAft>
                      </a:pPr>
                      <a:r>
                        <a:rPr sz="1200">
                          <a:solidFill>
                            <a:srgbClr val="E8ECF1"/>
                          </a:solidFill>
                          <a:latin typeface="Segoe UI"/>
                        </a:rPr>
                        <a:t>0.28 tried: 4/15, worst — kept 0.2</a:t>
                      </a:r>
                    </a:p>
                  </a:txBody>
                  <a:tcPr>
                    <a:solidFill>
                      <a:srgbClr val="212731"/>
                    </a:solidFill>
                  </a:tcPr>
                </a:tc>
              </a:tr>
              <a:tr h="394335">
                <a:tc>
                  <a:txBody>
                    <a:bodyPr/>
                    <a:lstStyle/>
                    <a:p>
                      <a:pPr>
                        <a:spcAft>
                          <a:spcPts val="0"/>
                        </a:spcAft>
                      </a:pPr>
                      <a:r>
                        <a:rPr sz="1200">
                          <a:solidFill>
                            <a:srgbClr val="E8ECF1"/>
                          </a:solidFill>
                          <a:latin typeface="Segoe UI"/>
                        </a:rPr>
                        <a:t>zero-gradient filter + mixed-outcome sampling</a:t>
                      </a:r>
                    </a:p>
                  </a:txBody>
                  <a:tcPr>
                    <a:solidFill>
                      <a:srgbClr val="1A1F27"/>
                    </a:solidFill>
                  </a:tcPr>
                </a:tc>
                <a:tc>
                  <a:txBody>
                    <a:bodyPr/>
                    <a:lstStyle/>
                    <a:p>
                      <a:pPr>
                        <a:spcAft>
                          <a:spcPts val="0"/>
                        </a:spcAft>
                      </a:pPr>
                      <a:r>
                        <a:rPr sz="1200">
                          <a:solidFill>
                            <a:srgbClr val="E8ECF1"/>
                          </a:solidFill>
                          <a:latin typeface="Segoe UI"/>
                        </a:rPr>
                        <a:t>Ch7 §7.6.3 (DAPO 1-2) — our MaxEnt spanning selection</a:t>
                      </a:r>
                    </a:p>
                  </a:txBody>
                  <a:tcPr>
                    <a:solidFill>
                      <a:srgbClr val="1A1F27"/>
                    </a:solidFill>
                  </a:tcPr>
                </a:tc>
                <a:tc>
                  <a:txBody>
                    <a:bodyPr/>
                    <a:lstStyle/>
                    <a:p>
                      <a:pPr>
                        <a:spcAft>
                          <a:spcPts val="0"/>
                        </a:spcAft>
                      </a:pPr>
                      <a:r>
                        <a:rPr sz="1200">
                          <a:solidFill>
                            <a:srgbClr val="E8ECF1"/>
                          </a:solidFill>
                          <a:latin typeface="Segoe UI"/>
                        </a:rPr>
                        <a:t>KEPT — never ablated</a:t>
                      </a:r>
                    </a:p>
                  </a:txBody>
                  <a:tcPr>
                    <a:solidFill>
                      <a:srgbClr val="1A1F27"/>
                    </a:solidFill>
                  </a:tcPr>
                </a:tc>
              </a:tr>
              <a:tr h="394335">
                <a:tc>
                  <a:txBody>
                    <a:bodyPr/>
                    <a:lstStyle/>
                    <a:p>
                      <a:pPr>
                        <a:spcAft>
                          <a:spcPts val="0"/>
                        </a:spcAft>
                      </a:pPr>
                      <a:r>
                        <a:rPr sz="1200">
                          <a:solidFill>
                            <a:srgbClr val="E8ECF1"/>
                          </a:solidFill>
                          <a:latin typeface="Segoe UI"/>
                        </a:rPr>
                        <a:t>token-level DAPO loss</a:t>
                      </a:r>
                    </a:p>
                  </a:txBody>
                  <a:tcPr>
                    <a:solidFill>
                      <a:srgbClr val="212731"/>
                    </a:solidFill>
                  </a:tcPr>
                </a:tc>
                <a:tc>
                  <a:txBody>
                    <a:bodyPr/>
                    <a:lstStyle/>
                    <a:p>
                      <a:pPr>
                        <a:spcAft>
                          <a:spcPts val="0"/>
                        </a:spcAft>
                      </a:pPr>
                      <a:r>
                        <a:rPr sz="1200">
                          <a:solidFill>
                            <a:srgbClr val="E8ECF1"/>
                          </a:solidFill>
                          <a:latin typeface="Segoe UI"/>
                        </a:rPr>
                        <a:t>Ch7 §7.6.3 item 3</a:t>
                      </a:r>
                    </a:p>
                  </a:txBody>
                  <a:tcPr>
                    <a:solidFill>
                      <a:srgbClr val="212731"/>
                    </a:solidFill>
                  </a:tcPr>
                </a:tc>
                <a:tc>
                  <a:txBody>
                    <a:bodyPr/>
                    <a:lstStyle/>
                    <a:p>
                      <a:pPr>
                        <a:spcAft>
                          <a:spcPts val="0"/>
                        </a:spcAft>
                      </a:pPr>
                      <a:r>
                        <a:rPr sz="1200">
                          <a:solidFill>
                            <a:srgbClr val="E8ECF1"/>
                          </a:solidFill>
                          <a:latin typeface="Segoe UI"/>
                        </a:rPr>
                        <a:t>KEPT (our default)</a:t>
                      </a:r>
                    </a:p>
                  </a:txBody>
                  <a:tcPr>
                    <a:solidFill>
                      <a:srgbClr val="212731"/>
                    </a:solidFill>
                  </a:tcPr>
                </a:tc>
              </a:tr>
              <a:tr h="394335">
                <a:tc>
                  <a:txBody>
                    <a:bodyPr/>
                    <a:lstStyle/>
                    <a:p>
                      <a:pPr>
                        <a:spcAft>
                          <a:spcPts val="0"/>
                        </a:spcAft>
                      </a:pPr>
                      <a:r>
                        <a:rPr sz="1200">
                          <a:solidFill>
                            <a:srgbClr val="E8ECF1"/>
                          </a:solidFill>
                          <a:latin typeface="Segoe UI"/>
                        </a:rPr>
                        <a:t>zero-sum brevity, CORRECT answers only</a:t>
                      </a:r>
                    </a:p>
                  </a:txBody>
                  <a:tcPr>
                    <a:solidFill>
                      <a:srgbClr val="1A1F27"/>
                    </a:solidFill>
                  </a:tcPr>
                </a:tc>
                <a:tc>
                  <a:txBody>
                    <a:bodyPr/>
                    <a:lstStyle/>
                    <a:p>
                      <a:pPr>
                        <a:spcAft>
                          <a:spcPts val="0"/>
                        </a:spcAft>
                      </a:pPr>
                      <a:r>
                        <a:rPr sz="1200">
                          <a:solidFill>
                            <a:srgbClr val="E8ECF1"/>
                          </a:solidFill>
                          <a:latin typeface="Segoe UI"/>
                        </a:rPr>
                        <a:t>ours — Ch7 §7.6.2 shows the naive version collapsing accuracy</a:t>
                      </a:r>
                    </a:p>
                  </a:txBody>
                  <a:tcPr>
                    <a:solidFill>
                      <a:srgbClr val="1A1F27"/>
                    </a:solidFill>
                  </a:tcPr>
                </a:tc>
                <a:tc>
                  <a:txBody>
                    <a:bodyPr/>
                    <a:lstStyle/>
                    <a:p>
                      <a:pPr>
                        <a:spcAft>
                          <a:spcPts val="0"/>
                        </a:spcAft>
                      </a:pPr>
                      <a:r>
                        <a:rPr sz="1200">
                          <a:solidFill>
                            <a:srgbClr val="E8ECF1"/>
                          </a:solidFill>
                          <a:latin typeface="Segoe UI"/>
                        </a:rPr>
                        <a:t>KEPT at 0.2; OFF never tried</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Knobs tried one at a time, same start, same seed (2026-09-05); numbers = correct of the frozen eval. mgpo.py docstrings carry the citations.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FAQ — do uncertain prompts go back to SFT?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prompt bin</a:t>
                      </a:r>
                    </a:p>
                  </a:txBody>
                  <a:tcPr>
                    <a:solidFill>
                      <a:srgbClr val="5BC8F5"/>
                    </a:solidFill>
                  </a:tcPr>
                </a:tc>
                <a:tc>
                  <a:txBody>
                    <a:bodyPr/>
                    <a:lstStyle/>
                    <a:p>
                      <a:pPr>
                        <a:spcAft>
                          <a:spcPts val="0"/>
                        </a:spcAft>
                      </a:pPr>
                      <a:r>
                        <a:rPr sz="1300" b="1">
                          <a:solidFill>
                            <a:srgbClr val="12161C"/>
                          </a:solidFill>
                          <a:latin typeface="Segoe UI"/>
                        </a:rPr>
                        <a:t>signal</a:t>
                      </a:r>
                    </a:p>
                  </a:txBody>
                  <a:tcPr>
                    <a:solidFill>
                      <a:srgbClr val="5BC8F5"/>
                    </a:solidFill>
                  </a:tcPr>
                </a:tc>
                <a:tc>
                  <a:txBody>
                    <a:bodyPr/>
                    <a:lstStyle/>
                    <a:p>
                      <a:pPr>
                        <a:spcAft>
                          <a:spcPts val="0"/>
                        </a:spcAft>
                      </a:pPr>
                      <a:r>
                        <a:rPr sz="1300" b="1">
                          <a:solidFill>
                            <a:srgbClr val="12161C"/>
                          </a:solidFill>
                          <a:latin typeface="Segoe UI"/>
                        </a:rPr>
                        <a:t>route</a:t>
                      </a:r>
                    </a:p>
                  </a:txBody>
                  <a:tcPr>
                    <a:solidFill>
                      <a:srgbClr val="5BC8F5"/>
                    </a:solidFill>
                  </a:tcPr>
                </a:tc>
              </a:tr>
              <a:tr h="411480">
                <a:tc>
                  <a:txBody>
                    <a:bodyPr/>
                    <a:lstStyle/>
                    <a:p>
                      <a:pPr>
                        <a:spcAft>
                          <a:spcPts val="0"/>
                        </a:spcAft>
                      </a:pPr>
                      <a:r>
                        <a:rPr sz="1200">
                          <a:solidFill>
                            <a:srgbClr val="E8ECF1"/>
                          </a:solidFill>
                          <a:latin typeface="Segoe UI"/>
                        </a:rPr>
                        <a:t>always-right</a:t>
                      </a:r>
                    </a:p>
                  </a:txBody>
                  <a:tcPr>
                    <a:solidFill>
                      <a:srgbClr val="1A1F27"/>
                    </a:solidFill>
                  </a:tcPr>
                </a:tc>
                <a:tc>
                  <a:txBody>
                    <a:bodyPr/>
                    <a:lstStyle/>
                    <a:p>
                      <a:pPr>
                        <a:spcAft>
                          <a:spcPts val="0"/>
                        </a:spcAft>
                      </a:pPr>
                      <a:r>
                        <a:rPr sz="1200">
                          <a:solidFill>
                            <a:srgbClr val="E8ECF1"/>
                          </a:solidFill>
                          <a:latin typeface="Segoe UI"/>
                        </a:rPr>
                        <a:t>zero spread — settled</a:t>
                      </a:r>
                    </a:p>
                  </a:txBody>
                  <a:tcPr>
                    <a:solidFill>
                      <a:srgbClr val="1A1F27"/>
                    </a:solidFill>
                  </a:tcPr>
                </a:tc>
                <a:tc>
                  <a:txBody>
                    <a:bodyPr/>
                    <a:lstStyle/>
                    <a:p>
                      <a:pPr>
                        <a:spcAft>
                          <a:spcPts val="0"/>
                        </a:spcAft>
                      </a:pPr>
                      <a:r>
                        <a:rPr sz="1200">
                          <a:solidFill>
                            <a:srgbClr val="E8ECF1"/>
                          </a:solidFill>
                          <a:latin typeface="Segoe UI"/>
                        </a:rPr>
                        <a:t>drop (nothing to learn)</a:t>
                      </a:r>
                    </a:p>
                  </a:txBody>
                  <a:tcPr>
                    <a:solidFill>
                      <a:srgbClr val="1A1F27"/>
                    </a:solidFill>
                  </a:tcPr>
                </a:tc>
              </a:tr>
              <a:tr h="411480">
                <a:tc>
                  <a:txBody>
                    <a:bodyPr/>
                    <a:lstStyle/>
                    <a:p>
                      <a:pPr>
                        <a:spcAft>
                          <a:spcPts val="0"/>
                        </a:spcAft>
                      </a:pPr>
                      <a:r>
                        <a:rPr sz="1200">
                          <a:solidFill>
                            <a:srgbClr val="E8ECF1"/>
                          </a:solidFill>
                          <a:latin typeface="Segoe UI"/>
                        </a:rPr>
                        <a:t>spread</a:t>
                      </a:r>
                    </a:p>
                  </a:txBody>
                  <a:tcPr>
                    <a:solidFill>
                      <a:srgbClr val="212731"/>
                    </a:solidFill>
                  </a:tcPr>
                </a:tc>
                <a:tc>
                  <a:txBody>
                    <a:bodyPr/>
                    <a:lstStyle/>
                    <a:p>
                      <a:pPr>
                        <a:spcAft>
                          <a:spcPts val="0"/>
                        </a:spcAft>
                      </a:pPr>
                      <a:r>
                        <a:rPr sz="1200">
                          <a:solidFill>
                            <a:srgbClr val="E8ECF1"/>
                          </a:solidFill>
                          <a:latin typeface="Segoe UI"/>
                        </a:rPr>
                        <a:t>measured uncertainty</a:t>
                      </a:r>
                    </a:p>
                  </a:txBody>
                  <a:tcPr>
                    <a:solidFill>
                      <a:srgbClr val="212731"/>
                    </a:solidFill>
                  </a:tcPr>
                </a:tc>
                <a:tc>
                  <a:txBody>
                    <a:bodyPr/>
                    <a:lstStyle/>
                    <a:p>
                      <a:pPr>
                        <a:spcAft>
                          <a:spcPts val="0"/>
                        </a:spcAft>
                      </a:pPr>
                      <a:r>
                        <a:rPr sz="1200">
                          <a:solidFill>
                            <a:srgbClr val="E8ECF1"/>
                          </a:solidFill>
                          <a:latin typeface="Segoe UI"/>
                        </a:rPr>
                        <a:t>RL cache — iterate here</a:t>
                      </a:r>
                    </a:p>
                  </a:txBody>
                  <a:tcPr>
                    <a:solidFill>
                      <a:srgbClr val="212731"/>
                    </a:solidFill>
                  </a:tcPr>
                </a:tc>
              </a:tr>
              <a:tr h="411480">
                <a:tc>
                  <a:txBody>
                    <a:bodyPr/>
                    <a:lstStyle/>
                    <a:p>
                      <a:pPr>
                        <a:spcAft>
                          <a:spcPts val="0"/>
                        </a:spcAft>
                      </a:pPr>
                      <a:r>
                        <a:rPr sz="1200">
                          <a:solidFill>
                            <a:srgbClr val="E8ECF1"/>
                          </a:solidFill>
                          <a:latin typeface="Segoe UI"/>
                        </a:rPr>
                        <a:t>always-wrong</a:t>
                      </a:r>
                    </a:p>
                  </a:txBody>
                  <a:tcPr>
                    <a:solidFill>
                      <a:srgbClr val="1A1F27"/>
                    </a:solidFill>
                  </a:tcPr>
                </a:tc>
                <a:tc>
                  <a:txBody>
                    <a:bodyPr/>
                    <a:lstStyle/>
                    <a:p>
                      <a:pPr>
                        <a:spcAft>
                          <a:spcPts val="0"/>
                        </a:spcAft>
                      </a:pPr>
                      <a:r>
                        <a:rPr sz="1200">
                          <a:solidFill>
                            <a:srgbClr val="E8ECF1"/>
                          </a:solidFill>
                          <a:latin typeface="Segoe UI"/>
                        </a:rPr>
                        <a:t>zero spread = ZERO gradient</a:t>
                      </a:r>
                    </a:p>
                  </a:txBody>
                  <a:tcPr>
                    <a:solidFill>
                      <a:srgbClr val="1A1F27"/>
                    </a:solidFill>
                  </a:tcPr>
                </a:tc>
                <a:tc>
                  <a:txBody>
                    <a:bodyPr/>
                    <a:lstStyle/>
                    <a:p>
                      <a:pPr>
                        <a:spcAft>
                          <a:spcPts val="0"/>
                        </a:spcAft>
                      </a:pPr>
                      <a:r>
                        <a:rPr sz="1200">
                          <a:solidFill>
                            <a:srgbClr val="E8ECF1"/>
                          </a:solidFill>
                          <a:latin typeface="Segoe UI"/>
                        </a:rPr>
                        <a:t>→ next SFT deposit, then OUT of RL pools</a:t>
                      </a:r>
                    </a:p>
                  </a:txBody>
                  <a:tcPr>
                    <a:solidFill>
                      <a:srgbClr val="1A1F27"/>
                    </a:solidFill>
                  </a:tcPr>
                </a:tc>
              </a:tr>
              <a:tr h="411480">
                <a:tc>
                  <a:txBody>
                    <a:bodyPr/>
                    <a:lstStyle/>
                    <a:p>
                      <a:pPr>
                        <a:spcAft>
                          <a:spcPts val="0"/>
                        </a:spcAft>
                      </a:pPr>
                      <a:r>
                        <a:rPr sz="1200">
                          <a:solidFill>
                            <a:srgbClr val="E8ECF1"/>
                          </a:solidFill>
                          <a:latin typeface="Segoe UI"/>
                        </a:rPr>
                        <a:t>unseen</a:t>
                      </a:r>
                    </a:p>
                  </a:txBody>
                  <a:tcPr>
                    <a:solidFill>
                      <a:srgbClr val="212731"/>
                    </a:solidFill>
                  </a:tcPr>
                </a:tc>
                <a:tc>
                  <a:txBody>
                    <a:bodyPr/>
                    <a:lstStyle/>
                    <a:p>
                      <a:pPr>
                        <a:spcAft>
                          <a:spcPts val="0"/>
                        </a:spcAft>
                      </a:pPr>
                      <a:r>
                        <a:rPr sz="1200">
                          <a:solidFill>
                            <a:srgbClr val="E8ECF1"/>
                          </a:solidFill>
                          <a:latin typeface="Segoe UI"/>
                        </a:rPr>
                        <a:t>novelty (count = 0)</a:t>
                      </a:r>
                    </a:p>
                  </a:txBody>
                  <a:tcPr>
                    <a:solidFill>
                      <a:srgbClr val="212731"/>
                    </a:solidFill>
                  </a:tcPr>
                </a:tc>
                <a:tc>
                  <a:txBody>
                    <a:bodyPr/>
                    <a:lstStyle/>
                    <a:p>
                      <a:pPr>
                        <a:spcAft>
                          <a:spcPts val="0"/>
                        </a:spcAft>
                      </a:pPr>
                      <a:r>
                        <a:rPr sz="1200">
                          <a:solidFill>
                            <a:srgbClr val="E8ECF1"/>
                          </a:solidFill>
                          <a:latin typeface="Segoe UI"/>
                        </a:rPr>
                        <a:t>inject small batches, no replacement</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Uncertainty is measurable only for SAMPLED prompts; unseen ones carry novelty optimism (UCT). Precedent: TailSFT, STaR, ReST.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replay buffer: train the boundary, not the settled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Round 1 samples uniformly and RECORDS every judge outcome per prompt.</a:t>
            </a:r>
          </a:p>
          <a:p>
            <a:pPr>
              <a:spcAft>
                <a:spcPts val="900"/>
              </a:spcAft>
            </a:pPr>
            <a:r>
              <a:rPr sz="1800" b="1">
                <a:solidFill>
                  <a:srgbClr val="5BC8F5"/>
                </a:solidFill>
                <a:latin typeface="Segoe UI"/>
              </a:rPr>
              <a:t>Round 2 keeps a prompt only if its outcomes SPAN the 0.70 threshold —</a:t>
            </a:r>
          </a:p>
          <a:p>
            <a:pPr>
              <a:spcAft>
                <a:spcPts val="400"/>
              </a:spcAft>
            </a:pPr>
            <a:r>
              <a:rPr sz="1500" b="0">
                <a:solidFill>
                  <a:srgbClr val="9AA6B4"/>
                </a:solidFill>
                <a:latin typeface="Segoe UI"/>
              </a:rPr>
              <a:t>     at least one outcome below, at least one at or above.</a:t>
            </a:r>
          </a:p>
          <a:p>
            <a:pPr>
              <a:spcAft>
                <a:spcPts val="400"/>
              </a:spcAft>
            </a:pPr>
            <a:r>
              <a:rPr sz="1500" b="0">
                <a:solidFill>
                  <a:srgbClr val="9AA6B4"/>
                </a:solidFill>
                <a:latin typeface="Segoe UI"/>
              </a:rPr>
              <a:t>     Dropped: prompts the model always gets right (nothing left to teach) and</a:t>
            </a:r>
          </a:p>
          <a:p>
            <a:pPr>
              <a:spcAft>
                <a:spcPts val="400"/>
              </a:spcAft>
            </a:pPr>
            <a:r>
              <a:rPr sz="1500" b="0">
                <a:solidFill>
                  <a:srgbClr val="9AA6B4"/>
                </a:solidFill>
                <a:latin typeface="Segoe UI"/>
              </a:rPr>
              <a:t>     prompts it always gets wrong (zero-variance group = EXACTLY zero gradient).</a:t>
            </a:r>
          </a:p>
          <a:p>
            <a:pPr>
              <a:spcAft>
                <a:spcPts val="900"/>
              </a:spcAft>
            </a:pPr>
            <a:r>
              <a:rPr sz="1800" b="1">
                <a:solidFill>
                  <a:srgbClr val="E8ECF1"/>
                </a:solidFill>
                <a:latin typeface="Segoe UI"/>
              </a:rPr>
              <a:t>A fixed band around the threshold was REJECTED as a heuristic: [0.65, 0.68] is</a:t>
            </a:r>
          </a:p>
          <a:p>
            <a:pPr>
              <a:spcAft>
                <a:spcPts val="400"/>
              </a:spcAft>
            </a:pPr>
            <a:r>
              <a:rPr sz="1500" b="0">
                <a:solidFill>
                  <a:srgbClr val="9AA6B4"/>
                </a:solidFill>
                <a:latin typeface="Segoe UI"/>
              </a:rPr>
              <a:t>     two buckets that both mean WRONG. Spanning is a property of outcomes, not scores.</a:t>
            </a:r>
          </a:p>
          <a:p>
            <a:pPr>
              <a:spcAft>
                <a:spcPts val="900"/>
              </a:spcAft>
            </a:pPr>
            <a:r>
              <a:rPr sz="1800" b="1">
                <a:solidFill>
                  <a:srgbClr val="E8ECF1"/>
                </a:solidFill>
                <a:latin typeface="Segoe UI"/>
              </a:rPr>
              <a:t>Survivors are re-weighted by Box-Cox diversity; every drop is counted and printed.</a:t>
            </a:r>
          </a:p>
          <a:p>
            <a:pPr>
              <a:spcAft>
                <a:spcPts val="400"/>
              </a:spcAft>
            </a:pPr>
            <a:r>
              <a:rPr sz="1500" b="0">
                <a:solidFill>
                  <a:srgbClr val="9AA6B4"/>
                </a:solidFill>
                <a:latin typeface="Segoe UI"/>
              </a:rPr>
              <a:t>     Live: 'dropped 4/6 prompts from round 2 (4 not threshold-spanning at 0.7,</a:t>
            </a:r>
          </a:p>
          <a:p>
            <a:pPr>
              <a:spcAft>
                <a:spcPts val="400"/>
              </a:spcAft>
            </a:pPr>
            <a:r>
              <a:rPr sz="1500" b="0">
                <a:solidFill>
                  <a:srgbClr val="9AA6B4"/>
                </a:solidFill>
                <a:latin typeface="Segoe UI"/>
              </a:rPr>
              <a:t>     0 zero bucket-diversity)'.</a:t>
            </a:r>
          </a:p>
          <a:p>
            <a:pPr>
              <a:spcAft>
                <a:spcPts val="900"/>
              </a:spcAft>
            </a:pPr>
            <a:r>
              <a:rPr sz="1800" b="1">
                <a:solidFill>
                  <a:srgbClr val="E8ECF1"/>
                </a:solidFill>
                <a:latin typeface="Segoe UI"/>
              </a:rPr>
              <a:t>Cost of getting this wrong is the whole round: 6 draws with replacement from ~2</a:t>
            </a:r>
          </a:p>
          <a:p>
            <a:pPr>
              <a:spcAft>
                <a:spcPts val="400"/>
              </a:spcAft>
            </a:pPr>
            <a:r>
              <a:rPr sz="1500" b="0">
                <a:solidFill>
                  <a:srgbClr val="9AA6B4"/>
                </a:solidFill>
                <a:latin typeface="Segoe UI"/>
              </a:rPr>
              <a:t>     surviving prompts at full LR is what killed several round-1 peaks.</a:t>
            </a:r>
          </a:p>
        </p:txBody>
      </p:sp>
      <p:sp>
        <p:nvSpPr>
          <p:cNvPr id="5" name="Rounded Rectangle 4"/>
          <p:cNvSpPr/>
          <p:nvPr/>
        </p:nvSpPr>
        <p:spPr>
          <a:xfrm rot="21240000">
            <a:off x="9921240" y="4617720"/>
            <a:ext cx="1600200" cy="1051560"/>
          </a:xfrm>
          <a:prstGeom prst="roundRect">
            <a:avLst/>
          </a:prstGeom>
          <a:solidFill>
            <a:srgbClr val="2A333F"/>
          </a:solidFill>
          <a:ln w="19050">
            <a:solidFill>
              <a:srgbClr val="9AA6B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9AA6B4"/>
                </a:solidFill>
              </a:defRPr>
            </a:pPr>
            <a:r>
              <a:t>mastered</a:t>
            </a:r>
          </a:p>
        </p:txBody>
      </p:sp>
      <p:sp>
        <p:nvSpPr>
          <p:cNvPr id="6" name="Rounded Rectangle 5"/>
          <p:cNvSpPr/>
          <p:nvPr/>
        </p:nvSpPr>
        <p:spPr>
          <a:xfrm rot="180000">
            <a:off x="9464040" y="4800600"/>
            <a:ext cx="1600200" cy="1051560"/>
          </a:xfrm>
          <a:prstGeom prst="roundRect">
            <a:avLst/>
          </a:prstGeom>
          <a:solidFill>
            <a:srgbClr val="3A2F28"/>
          </a:solidFill>
          <a:ln w="19050">
            <a:solidFill>
              <a:srgbClr val="F5C56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5C56B"/>
                </a:solidFill>
              </a:defRPr>
            </a:pPr>
            <a:r>
              <a:t>new 50/50</a:t>
            </a:r>
          </a:p>
        </p:txBody>
      </p:sp>
      <p:sp>
        <p:nvSpPr>
          <p:cNvPr id="7" name="Rounded Rectangle 6"/>
          <p:cNvSpPr/>
          <p:nvPr/>
        </p:nvSpPr>
        <p:spPr>
          <a:xfrm rot="21480000">
            <a:off x="9006840" y="4983480"/>
            <a:ext cx="1600200" cy="1051560"/>
          </a:xfrm>
          <a:prstGeom prst="roundRect">
            <a:avLst/>
          </a:prstGeom>
          <a:solidFill>
            <a:srgbClr val="3D282C"/>
          </a:solidFill>
          <a:ln w="19050">
            <a:solidFill>
              <a:srgbClr val="F27A7A"/>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27A7A"/>
                </a:solidFill>
              </a:defRPr>
            </a:pPr>
            <a:r>
              <a:t>missed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R3 is measured — and where the lift landed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ONE judge invocation scores every arm together, then is read three ways:</a:t>
            </a:r>
          </a:p>
          <a:p>
            <a:pPr>
              <a:spcAft>
                <a:spcPts val="400"/>
              </a:spcAft>
            </a:pPr>
            <a:r>
              <a:rPr sz="1500" b="0">
                <a:solidFill>
                  <a:srgbClr val="9AA6B4"/>
                </a:solidFill>
                <a:latin typeface="Segoe UI"/>
              </a:rPr>
              <a:t>     binary rate at 0.70 (the ladder) · mean score within correct · separation.</a:t>
            </a:r>
          </a:p>
          <a:p>
            <a:pPr>
              <a:spcAft>
                <a:spcPts val="900"/>
              </a:spcAft>
            </a:pPr>
            <a:r>
              <a:rPr sz="1800" b="1">
                <a:solidFill>
                  <a:srgbClr val="5BC8F5"/>
                </a:solidFill>
                <a:latin typeface="Segoe UI"/>
              </a:rPr>
              <a:t>TWO instruments, deliberately:</a:t>
            </a:r>
          </a:p>
          <a:p>
            <a:pPr>
              <a:spcAft>
                <a:spcPts val="400"/>
              </a:spcAft>
            </a:pPr>
            <a:r>
              <a:rPr sz="1500" b="0">
                <a:solidFill>
                  <a:srgbClr val="9AA6B4"/>
                </a:solidFill>
                <a:latin typeface="Segoe UI"/>
              </a:rPr>
              <a:t>     k=1 GREEDY, deterministic — the GATE. No sampling noise to hide in.</a:t>
            </a:r>
          </a:p>
          <a:p>
            <a:pPr>
              <a:spcAft>
                <a:spcPts val="400"/>
              </a:spcAft>
            </a:pPr>
            <a:r>
              <a:rPr sz="1500" b="0">
                <a:solidFill>
                  <a:srgbClr val="9AA6B4"/>
                </a:solidFill>
                <a:latin typeface="Segoe UI"/>
              </a:rPr>
              <a:t>     k=4 SAMPLED with 95% intervals — the CONTRAST. Wider, but distribution-aware.</a:t>
            </a:r>
          </a:p>
          <a:p>
            <a:pPr>
              <a:spcAft>
                <a:spcPts val="900"/>
              </a:spcAft>
            </a:pPr>
            <a:r>
              <a:rPr sz="1800" b="1">
                <a:solidFill>
                  <a:srgbClr val="6ED38A"/>
                </a:solidFill>
                <a:latin typeface="Segoe UI"/>
              </a:rPr>
              <a:t>RL lift by category, full-train contrast (same invocation, k=4):</a:t>
            </a:r>
          </a:p>
          <a:p>
            <a:pPr>
              <a:spcAft>
                <a:spcPts val="400"/>
              </a:spcAft>
            </a:pPr>
            <a:r>
              <a:rPr sz="1500" b="0">
                <a:solidFill>
                  <a:srgbClr val="6ED38A"/>
                </a:solidFill>
                <a:latin typeface="Segoe UI"/>
              </a:rPr>
              <a:t>     Instruction  0.20 → 0.67          Math  0.11 → 0.45</a:t>
            </a:r>
          </a:p>
          <a:p>
            <a:pPr>
              <a:spcAft>
                <a:spcPts val="400"/>
              </a:spcAft>
            </a:pPr>
            <a:r>
              <a:rPr sz="1500" b="0">
                <a:solidFill>
                  <a:srgbClr val="9AA6B4"/>
                </a:solidFill>
                <a:latin typeface="Segoe UI"/>
              </a:rPr>
              <a:t>     Code  0.78 → 0.73                 STEM  0.40 → 0.38</a:t>
            </a:r>
          </a:p>
          <a:p>
            <a:pPr>
              <a:spcAft>
                <a:spcPts val="900"/>
              </a:spcAft>
            </a:pPr>
            <a:r>
              <a:rPr sz="1800" b="1">
                <a:solidFill>
                  <a:srgbClr val="E8ECF1"/>
                </a:solidFill>
                <a:latin typeface="Segoe UI"/>
              </a:rPr>
              <a:t>The two categories the SFT checkpoint was WEAKEST in are the two that moved.</a:t>
            </a:r>
          </a:p>
          <a:p>
            <a:pPr>
              <a:spcAft>
                <a:spcPts val="400"/>
              </a:spcAft>
            </a:pPr>
            <a:r>
              <a:rPr sz="1500" b="0">
                <a:solidFill>
                  <a:srgbClr val="9AA6B4"/>
                </a:solidFill>
                <a:latin typeface="Segoe UI"/>
              </a:rPr>
              <a:t>     The strong ones held — the gain is concentrated, not a global shift.</a:t>
            </a:r>
          </a:p>
          <a:p>
            <a:pPr>
              <a:spcAft>
                <a:spcPts val="900"/>
              </a:spcAft>
            </a:pPr>
            <a:r>
              <a:rPr sz="1800" b="1">
                <a:solidFill>
                  <a:srgbClr val="6ED38A"/>
                </a:solidFill>
                <a:latin typeface="Segoe UI"/>
              </a:rPr>
              <a:t>Correct-answer COUNT is what moved: 12 → 22 and 23 → 28 correct.</a:t>
            </a:r>
          </a:p>
          <a:p>
            <a:pPr>
              <a:spcAft>
                <a:spcPts val="900"/>
              </a:spcAft>
            </a:pPr>
            <a:r>
              <a:rPr sz="1800" b="1">
                <a:solidFill>
                  <a:srgbClr val="F5C56B"/>
                </a:solidFill>
                <a:latin typeface="Segoe UI"/>
              </a:rPr>
              <a:t>Whether the correct answers got BETTER is an OPEN QUESTION, not a null:</a:t>
            </a:r>
          </a:p>
          <a:p>
            <a:pPr>
              <a:spcAft>
                <a:spcPts val="400"/>
              </a:spcAft>
            </a:pPr>
            <a:r>
              <a:rPr sz="1500" b="0">
                <a:solidFill>
                  <a:srgbClr val="9AA6B4"/>
                </a:solidFill>
                <a:latin typeface="Segoe UI"/>
              </a:rPr>
              <a:t>     score-among-correct shifted ±0.02 in opposite directions across two runs, and</a:t>
            </a:r>
          </a:p>
          <a:p>
            <a:pPr>
              <a:spcAft>
                <a:spcPts val="400"/>
              </a:spcAft>
            </a:pPr>
            <a:r>
              <a:rPr sz="1500" b="0">
                <a:solidFill>
                  <a:srgbClr val="9AA6B4"/>
                </a:solidFill>
                <a:latin typeface="Segoe UI"/>
              </a:rPr>
              <a:t>     sits at 0.92-0.98 where the rubric leaves it no headroom to move. Detecting</a:t>
            </a:r>
          </a:p>
          <a:p>
            <a:pPr>
              <a:spcAft>
                <a:spcPts val="400"/>
              </a:spcAft>
            </a:pPr>
            <a:r>
              <a:rPr sz="1500" b="0">
                <a:solidFill>
                  <a:srgbClr val="9AA6B4"/>
                </a:solidFill>
                <a:latin typeface="Segoe UI"/>
              </a:rPr>
              <a:t>     quality needs a scale that spreads correct answers instead of saturating them.</a:t>
            </a:r>
          </a:p>
          <a:p>
            <a:pPr>
              <a:spcAft>
                <a:spcPts val="900"/>
              </a:spcAft>
            </a:pPr>
            <a:r>
              <a:rPr sz="1800" b="1">
                <a:solidFill>
                  <a:srgbClr val="6ED38A"/>
                </a:solidFill>
                <a:latin typeface="Segoe UI"/>
              </a:rPr>
              <a:t>Chain-final: never-solved questions fell from 3 to 1 of 16.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chain IS ReLoRA: three in-run lifts, patience 0</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The chain has a name: ReLoRA (arXiv:2307.05695). Train a low-rank adapter,</a:t>
            </a:r>
          </a:p>
          <a:p>
            <a:pPr>
              <a:spcAft>
                <a:spcPts val="400"/>
              </a:spcAft>
            </a:pPr>
            <a:r>
              <a:rPr sz="1500" b="0">
                <a:solidFill>
                  <a:srgbClr val="9AA6B4"/>
                </a:solidFill>
                <a:latin typeface="Segoe UI"/>
              </a:rPr>
              <a:t>     MERGE it into the weights, reset the optimiser, attach a fresh zero-init</a:t>
            </a:r>
          </a:p>
          <a:p>
            <a:pPr>
              <a:spcAft>
                <a:spcPts val="400"/>
              </a:spcAft>
            </a:pPr>
            <a:r>
              <a:rPr sz="1500" b="0">
                <a:solidFill>
                  <a:srgbClr val="9AA6B4"/>
                </a:solidFill>
                <a:latin typeface="Segoe UI"/>
              </a:rPr>
              <a:t>     adapter, repeat. rank(A+B) ≤ rank(A)+rank(B), so k cycles at rank r reach</a:t>
            </a:r>
          </a:p>
          <a:p>
            <a:pPr>
              <a:spcAft>
                <a:spcPts val="400"/>
              </a:spcAft>
            </a:pPr>
            <a:r>
              <a:rPr sz="1500" b="0">
                <a:solidFill>
                  <a:srgbClr val="9AA6B4"/>
                </a:solidFill>
                <a:latin typeface="Segoe UI"/>
              </a:rPr>
              <a:t>     effective rank up to k·r — high-rank capacity at low-rank memory cost.</a:t>
            </a:r>
          </a:p>
          <a:p>
            <a:pPr>
              <a:spcAft>
                <a:spcPts val="900"/>
              </a:spcAft>
            </a:pPr>
            <a:r>
              <a:rPr sz="1800" b="1">
                <a:solidFill>
                  <a:srgbClr val="E8ECF1"/>
                </a:solidFill>
                <a:latin typeface="Segoe UI"/>
              </a:rPr>
              <a:t>A single RL run climbs ONCE, then plateaus or crashes. 17 HPO trials, six</a:t>
            </a:r>
          </a:p>
          <a:p>
            <a:pPr>
              <a:spcAft>
                <a:spcPts val="400"/>
              </a:spcAft>
            </a:pPr>
            <a:r>
              <a:rPr sz="1500" b="0">
                <a:solidFill>
                  <a:srgbClr val="9AA6B4"/>
                </a:solidFill>
                <a:latin typeface="Segoe UI"/>
              </a:rPr>
              <a:t>     configs reaching exactly one in-run lift, none reaching two.</a:t>
            </a:r>
          </a:p>
          <a:p>
            <a:pPr>
              <a:spcAft>
                <a:spcPts val="900"/>
              </a:spcAft>
            </a:pPr>
            <a:r>
              <a:rPr sz="1800" b="1">
                <a:solidFill>
                  <a:srgbClr val="5BC8F5"/>
                </a:solidFill>
                <a:latin typeface="Segoe UI"/>
              </a:rPr>
              <a:t>So each run's climb is BANKED and the next run starts from it:</a:t>
            </a:r>
          </a:p>
          <a:p>
            <a:pPr>
              <a:spcAft>
                <a:spcPts val="900"/>
              </a:spcAft>
            </a:pPr>
            <a:r>
              <a:rPr sz="1800" b="1">
                <a:solidFill>
                  <a:srgbClr val="6ED38A"/>
                </a:solidFill>
                <a:latin typeface="Segoe UI"/>
              </a:rPr>
              <a:t>0.2500  →  0.3125  →  0.3750  →  0.5000</a:t>
            </a:r>
          </a:p>
          <a:p>
            <a:pPr>
              <a:spcAft>
                <a:spcPts val="400"/>
              </a:spcAft>
            </a:pPr>
            <a:r>
              <a:rPr sz="1500" b="0">
                <a:solidFill>
                  <a:srgbClr val="9AA6B4"/>
                </a:solidFill>
                <a:latin typeface="Segoe UI"/>
              </a:rPr>
              <a:t>     Fresh LoRA + fresh prompt cohort per link; merge into the weights; repeat.</a:t>
            </a:r>
          </a:p>
          <a:p>
            <a:pPr>
              <a:spcAft>
                <a:spcPts val="400"/>
              </a:spcAft>
            </a:pPr>
            <a:r>
              <a:rPr sz="1500" b="0">
                <a:solidFill>
                  <a:srgbClr val="9AA6B4"/>
                </a:solidFill>
                <a:latin typeface="Segoe UI"/>
              </a:rPr>
              <a:t>     Every step clears the 0.0526 resolution floor on the frozen 16-item eval.</a:t>
            </a:r>
          </a:p>
          <a:p>
            <a:pPr>
              <a:spcAft>
                <a:spcPts val="900"/>
              </a:spcAft>
            </a:pPr>
            <a:r>
              <a:rPr sz="1800" b="1">
                <a:solidFill>
                  <a:srgbClr val="E8ECF1"/>
                </a:solidFill>
                <a:latin typeface="Segoe UI"/>
              </a:rPr>
              <a:t>Why it works: a fresh run resets the optimiser, the LR schedule and the cohort,</a:t>
            </a:r>
          </a:p>
          <a:p>
            <a:pPr>
              <a:spcAft>
                <a:spcPts val="400"/>
              </a:spcAft>
            </a:pPr>
            <a:r>
              <a:rPr sz="1500" b="0">
                <a:solidFill>
                  <a:srgbClr val="9AA6B4"/>
                </a:solidFill>
                <a:latin typeface="Segoe UI"/>
              </a:rPr>
              <a:t>     harvesting the climb before the crash phase can take it back.</a:t>
            </a:r>
          </a:p>
          <a:p>
            <a:pPr>
              <a:spcAft>
                <a:spcPts val="900"/>
              </a:spcAft>
            </a:pPr>
            <a:r>
              <a:rPr sz="1800" b="1">
                <a:solidFill>
                  <a:srgbClr val="E8ECF1"/>
                </a:solidFill>
                <a:latin typeface="Segoe UI"/>
              </a:rPr>
              <a:t>Three measured failure modes it routes around: the trajectory dips before it</a:t>
            </a:r>
          </a:p>
          <a:p>
            <a:pPr>
              <a:spcAft>
                <a:spcPts val="400"/>
              </a:spcAft>
            </a:pPr>
            <a:r>
              <a:rPr sz="1500" b="0">
                <a:solidFill>
                  <a:srgbClr val="9AA6B4"/>
                </a:solidFill>
                <a:latin typeface="Segoe UI"/>
              </a:rPr>
              <a:t>     climbs; the round-2 curriculum hammers ~2 prompts; steps-per-round secretly</a:t>
            </a:r>
          </a:p>
          <a:p>
            <a:pPr>
              <a:spcAft>
                <a:spcPts val="400"/>
              </a:spcAft>
            </a:pPr>
            <a:r>
              <a:rPr sz="1500" b="0">
                <a:solidFill>
                  <a:srgbClr val="9AA6B4"/>
                </a:solidFill>
                <a:latin typeface="Segoe UI"/>
              </a:rPr>
              <a:t>     sets the LR decay horizon, so longer rounds run hotter.</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hard is the proof? Two pictures</a:t>
            </a:r>
          </a:p>
        </p:txBody>
      </p:sp>
      <p:pic>
        <p:nvPicPr>
          <p:cNvPr id="4" name="Picture 3" descr="rl_evidence_ci_vs_chain.png"/>
          <p:cNvPicPr>
            <a:picLocks noChangeAspect="1"/>
          </p:cNvPicPr>
          <p:nvPr/>
        </p:nvPicPr>
        <p:blipFill>
          <a:blip r:embed="rId2"/>
          <a:stretch>
            <a:fillRect/>
          </a:stretch>
        </p:blipFill>
        <p:spPr>
          <a:xfrm>
            <a:off x="457200" y="1234440"/>
            <a:ext cx="11277295" cy="4510918"/>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Durability, not capacity — the full-param vs adapter axis</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how the knowledge was written</a:t>
                      </a:r>
                    </a:p>
                  </a:txBody>
                  <a:tcPr>
                    <a:solidFill>
                      <a:srgbClr val="5BC8F5"/>
                    </a:solidFill>
                  </a:tcPr>
                </a:tc>
                <a:tc>
                  <a:txBody>
                    <a:bodyPr/>
                    <a:lstStyle/>
                    <a:p>
                      <a:pPr>
                        <a:spcAft>
                          <a:spcPts val="0"/>
                        </a:spcAft>
                      </a:pPr>
                      <a:r>
                        <a:rPr sz="1300" b="1">
                          <a:solidFill>
                            <a:srgbClr val="12161C"/>
                          </a:solidFill>
                          <a:latin typeface="Segoe UI"/>
                        </a:rPr>
                        <a:t>deposit</a:t>
                      </a:r>
                    </a:p>
                  </a:txBody>
                  <a:tcPr>
                    <a:solidFill>
                      <a:srgbClr val="5BC8F5"/>
                    </a:solidFill>
                  </a:tcPr>
                </a:tc>
                <a:tc>
                  <a:txBody>
                    <a:bodyPr/>
                    <a:lstStyle/>
                    <a:p>
                      <a:pPr>
                        <a:spcAft>
                          <a:spcPts val="0"/>
                        </a:spcAft>
                      </a:pPr>
                      <a:r>
                        <a:rPr sz="1300" b="1">
                          <a:solidFill>
                            <a:srgbClr val="12161C"/>
                          </a:solidFill>
                          <a:latin typeface="Segoe UI"/>
                        </a:rPr>
                        <a:t>after RL on top</a:t>
                      </a:r>
                    </a:p>
                  </a:txBody>
                  <a:tcPr>
                    <a:solidFill>
                      <a:srgbClr val="5BC8F5"/>
                    </a:solidFill>
                  </a:tcPr>
                </a:tc>
              </a:tr>
              <a:tr h="411480">
                <a:tc>
                  <a:txBody>
                    <a:bodyPr/>
                    <a:lstStyle/>
                    <a:p>
                      <a:pPr>
                        <a:spcAft>
                          <a:spcPts val="0"/>
                        </a:spcAft>
                      </a:pPr>
                      <a:r>
                        <a:rPr sz="1200">
                          <a:solidFill>
                            <a:srgbClr val="F27A7A"/>
                          </a:solidFill>
                          <a:latin typeface="Segoe UI"/>
                        </a:rPr>
                        <a:t>LoRA SFT</a:t>
                      </a:r>
                    </a:p>
                  </a:txBody>
                  <a:tcPr>
                    <a:solidFill>
                      <a:srgbClr val="1A1F27"/>
                    </a:solidFill>
                  </a:tcPr>
                </a:tc>
                <a:tc>
                  <a:txBody>
                    <a:bodyPr/>
                    <a:lstStyle/>
                    <a:p>
                      <a:pPr>
                        <a:spcAft>
                          <a:spcPts val="0"/>
                        </a:spcAft>
                      </a:pPr>
                      <a:r>
                        <a:rPr sz="1200">
                          <a:solidFill>
                            <a:srgbClr val="F27A7A"/>
                          </a:solidFill>
                          <a:latin typeface="Segoe UI"/>
                        </a:rPr>
                        <a:t>0.327</a:t>
                      </a:r>
                    </a:p>
                  </a:txBody>
                  <a:tcPr>
                    <a:solidFill>
                      <a:srgbClr val="1A1F27"/>
                    </a:solidFill>
                  </a:tcPr>
                </a:tc>
                <a:tc>
                  <a:txBody>
                    <a:bodyPr/>
                    <a:lstStyle/>
                    <a:p>
                      <a:pPr>
                        <a:spcAft>
                          <a:spcPts val="0"/>
                        </a:spcAft>
                      </a:pPr>
                      <a:r>
                        <a:rPr sz="1200">
                          <a:solidFill>
                            <a:srgbClr val="F27A7A"/>
                          </a:solidFill>
                          <a:latin typeface="Segoe UI"/>
                        </a:rPr>
                        <a:t>0.170   destroyed</a:t>
                      </a:r>
                    </a:p>
                  </a:txBody>
                  <a:tcPr>
                    <a:solidFill>
                      <a:srgbClr val="1A1F27"/>
                    </a:solidFill>
                  </a:tcPr>
                </a:tc>
              </a:tr>
              <a:tr h="411480">
                <a:tc>
                  <a:txBody>
                    <a:bodyPr/>
                    <a:lstStyle/>
                    <a:p>
                      <a:pPr>
                        <a:spcAft>
                          <a:spcPts val="0"/>
                        </a:spcAft>
                      </a:pPr>
                      <a:r>
                        <a:rPr sz="1200">
                          <a:solidFill>
                            <a:srgbClr val="F27A7A"/>
                          </a:solidFill>
                          <a:latin typeface="Segoe UI"/>
                        </a:rPr>
                        <a:t>LoRA SFT, merged, alpha matched</a:t>
                      </a:r>
                    </a:p>
                  </a:txBody>
                  <a:tcPr>
                    <a:solidFill>
                      <a:srgbClr val="212731"/>
                    </a:solidFill>
                  </a:tcPr>
                </a:tc>
                <a:tc>
                  <a:txBody>
                    <a:bodyPr/>
                    <a:lstStyle/>
                    <a:p>
                      <a:pPr>
                        <a:spcAft>
                          <a:spcPts val="0"/>
                        </a:spcAft>
                      </a:pPr>
                      <a:r>
                        <a:rPr sz="1200">
                          <a:solidFill>
                            <a:srgbClr val="F27A7A"/>
                          </a:solidFill>
                          <a:latin typeface="Segoe UI"/>
                        </a:rPr>
                        <a:t>0.442</a:t>
                      </a:r>
                    </a:p>
                  </a:txBody>
                  <a:tcPr>
                    <a:solidFill>
                      <a:srgbClr val="212731"/>
                    </a:solidFill>
                  </a:tcPr>
                </a:tc>
                <a:tc>
                  <a:txBody>
                    <a:bodyPr/>
                    <a:lstStyle/>
                    <a:p>
                      <a:pPr>
                        <a:spcAft>
                          <a:spcPts val="0"/>
                        </a:spcAft>
                      </a:pPr>
                      <a:r>
                        <a:rPr sz="1200">
                          <a:solidFill>
                            <a:srgbClr val="F27A7A"/>
                          </a:solidFill>
                          <a:latin typeface="Segoe UI"/>
                        </a:rPr>
                        <a:t>0.288   destroyed</a:t>
                      </a:r>
                    </a:p>
                  </a:txBody>
                  <a:tcPr>
                    <a:solidFill>
                      <a:srgbClr val="212731"/>
                    </a:solidFill>
                  </a:tcPr>
                </a:tc>
              </a:tr>
              <a:tr h="411480">
                <a:tc>
                  <a:txBody>
                    <a:bodyPr/>
                    <a:lstStyle/>
                    <a:p>
                      <a:pPr>
                        <a:spcAft>
                          <a:spcPts val="0"/>
                        </a:spcAft>
                      </a:pPr>
                      <a:r>
                        <a:rPr sz="1200">
                          <a:solidFill>
                            <a:srgbClr val="F27A7A"/>
                          </a:solidFill>
                          <a:latin typeface="Segoe UI"/>
                        </a:rPr>
                        <a:t>LoRA SFT, adapter continued into RL</a:t>
                      </a:r>
                    </a:p>
                  </a:txBody>
                  <a:tcPr>
                    <a:solidFill>
                      <a:srgbClr val="1A1F27"/>
                    </a:solidFill>
                  </a:tcPr>
                </a:tc>
                <a:tc>
                  <a:txBody>
                    <a:bodyPr/>
                    <a:lstStyle/>
                    <a:p>
                      <a:pPr>
                        <a:spcAft>
                          <a:spcPts val="0"/>
                        </a:spcAft>
                      </a:pPr>
                      <a:r>
                        <a:rPr sz="1200">
                          <a:solidFill>
                            <a:srgbClr val="F27A7A"/>
                          </a:solidFill>
                          <a:latin typeface="Segoe UI"/>
                        </a:rPr>
                        <a:t>0.442</a:t>
                      </a:r>
                    </a:p>
                  </a:txBody>
                  <a:tcPr>
                    <a:solidFill>
                      <a:srgbClr val="1A1F27"/>
                    </a:solidFill>
                  </a:tcPr>
                </a:tc>
                <a:tc>
                  <a:txBody>
                    <a:bodyPr/>
                    <a:lstStyle/>
                    <a:p>
                      <a:pPr>
                        <a:spcAft>
                          <a:spcPts val="0"/>
                        </a:spcAft>
                      </a:pPr>
                      <a:r>
                        <a:rPr sz="1200">
                          <a:solidFill>
                            <a:srgbClr val="F27A7A"/>
                          </a:solidFill>
                          <a:latin typeface="Segoe UI"/>
                        </a:rPr>
                        <a:t>~0.26   destroyed</a:t>
                      </a:r>
                    </a:p>
                  </a:txBody>
                  <a:tcPr>
                    <a:solidFill>
                      <a:srgbClr val="1A1F27"/>
                    </a:solidFill>
                  </a:tcPr>
                </a:tc>
              </a:tr>
              <a:tr h="411480">
                <a:tc>
                  <a:txBody>
                    <a:bodyPr/>
                    <a:lstStyle/>
                    <a:p>
                      <a:pPr>
                        <a:spcAft>
                          <a:spcPts val="0"/>
                        </a:spcAft>
                      </a:pPr>
                      <a:r>
                        <a:rPr sz="1200">
                          <a:solidFill>
                            <a:srgbClr val="6ED38A"/>
                          </a:solidFill>
                          <a:latin typeface="Segoe UI"/>
                        </a:rPr>
                        <a:t>FULL-PARAMETER SFT</a:t>
                      </a:r>
                    </a:p>
                  </a:txBody>
                  <a:tcPr>
                    <a:solidFill>
                      <a:srgbClr val="212731"/>
                    </a:solidFill>
                  </a:tcPr>
                </a:tc>
                <a:tc>
                  <a:txBody>
                    <a:bodyPr/>
                    <a:lstStyle/>
                    <a:p>
                      <a:pPr>
                        <a:spcAft>
                          <a:spcPts val="0"/>
                        </a:spcAft>
                      </a:pPr>
                      <a:r>
                        <a:rPr sz="1200">
                          <a:solidFill>
                            <a:srgbClr val="6ED38A"/>
                          </a:solidFill>
                          <a:latin typeface="Segoe UI"/>
                        </a:rPr>
                        <a:t>0.420</a:t>
                      </a:r>
                    </a:p>
                  </a:txBody>
                  <a:tcPr>
                    <a:solidFill>
                      <a:srgbClr val="212731"/>
                    </a:solidFill>
                  </a:tcPr>
                </a:tc>
                <a:tc>
                  <a:txBody>
                    <a:bodyPr/>
                    <a:lstStyle/>
                    <a:p>
                      <a:pPr>
                        <a:spcAft>
                          <a:spcPts val="0"/>
                        </a:spcAft>
                      </a:pPr>
                      <a:r>
                        <a:rPr sz="1200">
                          <a:solidFill>
                            <a:srgbClr val="6ED38A"/>
                          </a:solidFill>
                          <a:latin typeface="Segoe UI"/>
                        </a:rPr>
                        <a:t>0.548   survives and improves</a:t>
                      </a:r>
                    </a:p>
                  </a:txBody>
                  <a:tcPr>
                    <a:solidFill>
                      <a:srgbClr val="212731"/>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Proven lanes, closed lanes</a:t>
            </a:r>
          </a:p>
        </p:txBody>
      </p:sp>
      <p:graphicFrame>
        <p:nvGraphicFramePr>
          <p:cNvPr id="4" name="Table 3"/>
          <p:cNvGraphicFramePr>
            <a:graphicFrameLocks noGrp="1"/>
          </p:cNvGraphicFramePr>
          <p:nvPr/>
        </p:nvGraphicFramePr>
        <p:xfrm>
          <a:off x="868680" y="1463040"/>
          <a:ext cx="10424160" cy="4480560"/>
        </p:xfrm>
        <a:graphic>
          <a:graphicData uri="http://schemas.openxmlformats.org/drawingml/2006/table">
            <a:tbl>
              <a:tblPr>
                <a:tableStyleId>{5C22544A-7EE6-4342-B048-85BDC9FD1C3A}</a:tableStyleId>
              </a:tblPr>
              <a:tblGrid>
                <a:gridCol w="3474720"/>
                <a:gridCol w="3474720"/>
                <a:gridCol w="3474720"/>
              </a:tblGrid>
              <a:tr h="344658">
                <a:tc>
                  <a:txBody>
                    <a:bodyPr/>
                    <a:lstStyle/>
                    <a:p>
                      <a:pPr>
                        <a:spcAft>
                          <a:spcPts val="0"/>
                        </a:spcAft>
                      </a:pPr>
                      <a:r>
                        <a:rPr sz="1300" b="1">
                          <a:solidFill>
                            <a:srgbClr val="12161C"/>
                          </a:solidFill>
                          <a:latin typeface="Segoe UI"/>
                        </a:rPr>
                        <a:t>lane</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c>
                  <a:txBody>
                    <a:bodyPr/>
                    <a:lstStyle/>
                    <a:p>
                      <a:pPr>
                        <a:spcAft>
                          <a:spcPts val="0"/>
                        </a:spcAft>
                      </a:pPr>
                      <a:r>
                        <a:rPr sz="1300" b="1">
                          <a:solidFill>
                            <a:srgbClr val="12161C"/>
                          </a:solidFill>
                          <a:latin typeface="Segoe UI"/>
                        </a:rPr>
                        <a:t>evidence</a:t>
                      </a:r>
                    </a:p>
                  </a:txBody>
                  <a:tcPr>
                    <a:solidFill>
                      <a:srgbClr val="5BC8F5"/>
                    </a:solidFill>
                  </a:tcPr>
                </a:tc>
              </a:tr>
              <a:tr h="344658">
                <a:tc>
                  <a:txBody>
                    <a:bodyPr/>
                    <a:lstStyle/>
                    <a:p>
                      <a:pPr>
                        <a:spcAft>
                          <a:spcPts val="0"/>
                        </a:spcAft>
                      </a:pPr>
                      <a:r>
                        <a:rPr sz="1200">
                          <a:solidFill>
                            <a:srgbClr val="6ED38A"/>
                          </a:solidFill>
                          <a:latin typeface="Segoe UI"/>
                        </a:rPr>
                        <a:t>SFT, full-parameter</a:t>
                      </a:r>
                    </a:p>
                  </a:txBody>
                  <a:tcPr>
                    <a:solidFill>
                      <a:srgbClr val="1A1F27"/>
                    </a:solidFill>
                  </a:tcPr>
                </a:tc>
                <a:tc>
                  <a:txBody>
                    <a:bodyPr/>
                    <a:lstStyle/>
                    <a:p>
                      <a:pPr>
                        <a:spcAft>
                          <a:spcPts val="0"/>
                        </a:spcAft>
                      </a:pPr>
                      <a:r>
                        <a:rPr sz="1200">
                          <a:solidFill>
                            <a:srgbClr val="6ED38A"/>
                          </a:solidFill>
                          <a:latin typeface="Segoe UI"/>
                        </a:rPr>
                        <a:t>PROVEN</a:t>
                      </a:r>
                    </a:p>
                  </a:txBody>
                  <a:tcPr>
                    <a:solidFill>
                      <a:srgbClr val="1A1F27"/>
                    </a:solidFill>
                  </a:tcPr>
                </a:tc>
                <a:tc>
                  <a:txBody>
                    <a:bodyPr/>
                    <a:lstStyle/>
                    <a:p>
                      <a:pPr>
                        <a:spcAft>
                          <a:spcPts val="0"/>
                        </a:spcAft>
                      </a:pPr>
                      <a:r>
                        <a:rPr sz="1200">
                          <a:solidFill>
                            <a:srgbClr val="6ED38A"/>
                          </a:solidFill>
                          <a:latin typeface="Segoe UI"/>
                        </a:rPr>
                        <a:t>0.172 → 0.356 → 0.424 (lr 1e-5); ep1 is format collapse</a:t>
                      </a:r>
                    </a:p>
                  </a:txBody>
                  <a:tcPr>
                    <a:solidFill>
                      <a:srgbClr val="1A1F27"/>
                    </a:solidFill>
                  </a:tcPr>
                </a:tc>
              </a:tr>
              <a:tr h="344658">
                <a:tc>
                  <a:txBody>
                    <a:bodyPr/>
                    <a:lstStyle/>
                    <a:p>
                      <a:pPr>
                        <a:spcAft>
                          <a:spcPts val="0"/>
                        </a:spcAft>
                      </a:pPr>
                      <a:r>
                        <a:rPr sz="1200">
                          <a:solidFill>
                            <a:srgbClr val="6ED38A"/>
                          </a:solidFill>
                          <a:latin typeface="Segoe UI"/>
                        </a:rPr>
                        <a:t>RL, fresh zero-init LoRA</a:t>
                      </a:r>
                    </a:p>
                  </a:txBody>
                  <a:tcPr>
                    <a:solidFill>
                      <a:srgbClr val="212731"/>
                    </a:solidFill>
                  </a:tcPr>
                </a:tc>
                <a:tc>
                  <a:txBody>
                    <a:bodyPr/>
                    <a:lstStyle/>
                    <a:p>
                      <a:pPr>
                        <a:spcAft>
                          <a:spcPts val="0"/>
                        </a:spcAft>
                      </a:pPr>
                      <a:r>
                        <a:rPr sz="1200">
                          <a:solidFill>
                            <a:srgbClr val="6ED38A"/>
                          </a:solidFill>
                          <a:latin typeface="Segoe UI"/>
                        </a:rPr>
                        <a:t>PROVEN</a:t>
                      </a:r>
                    </a:p>
                  </a:txBody>
                  <a:tcPr>
                    <a:solidFill>
                      <a:srgbClr val="212731"/>
                    </a:solidFill>
                  </a:tcPr>
                </a:tc>
                <a:tc>
                  <a:txBody>
                    <a:bodyPr/>
                    <a:lstStyle/>
                    <a:p>
                      <a:pPr>
                        <a:spcAft>
                          <a:spcPts val="0"/>
                        </a:spcAft>
                      </a:pPr>
                      <a:r>
                        <a:rPr sz="1200">
                          <a:solidFill>
                            <a:srgbClr val="6ED38A"/>
                          </a:solidFill>
                          <a:latin typeface="Segoe UI"/>
                        </a:rPr>
                        <a:t>3 in-run lifts 0.2500 → 0.5000; +0.20 contrast</a:t>
                      </a:r>
                    </a:p>
                  </a:txBody>
                  <a:tcPr>
                    <a:solidFill>
                      <a:srgbClr val="212731"/>
                    </a:solidFill>
                  </a:tcPr>
                </a:tc>
              </a:tr>
              <a:tr h="344658">
                <a:tc>
                  <a:txBody>
                    <a:bodyPr/>
                    <a:lstStyle/>
                    <a:p>
                      <a:pPr>
                        <a:spcAft>
                          <a:spcPts val="0"/>
                        </a:spcAft>
                      </a:pPr>
                      <a:r>
                        <a:rPr sz="1200">
                          <a:solidFill>
                            <a:srgbClr val="6ED38A"/>
                          </a:solidFill>
                          <a:latin typeface="Segoe UI"/>
                        </a:rPr>
                        <a:t>Chained RL (merge, repeat)</a:t>
                      </a:r>
                    </a:p>
                  </a:txBody>
                  <a:tcPr>
                    <a:solidFill>
                      <a:srgbClr val="1A1F27"/>
                    </a:solidFill>
                  </a:tcPr>
                </a:tc>
                <a:tc>
                  <a:txBody>
                    <a:bodyPr/>
                    <a:lstStyle/>
                    <a:p>
                      <a:pPr>
                        <a:spcAft>
                          <a:spcPts val="0"/>
                        </a:spcAft>
                      </a:pPr>
                      <a:r>
                        <a:rPr sz="1200">
                          <a:solidFill>
                            <a:srgbClr val="6ED38A"/>
                          </a:solidFill>
                          <a:latin typeface="Segoe UI"/>
                        </a:rPr>
                        <a:t>PROVEN</a:t>
                      </a:r>
                    </a:p>
                  </a:txBody>
                  <a:tcPr>
                    <a:solidFill>
                      <a:srgbClr val="1A1F27"/>
                    </a:solidFill>
                  </a:tcPr>
                </a:tc>
                <a:tc>
                  <a:txBody>
                    <a:bodyPr/>
                    <a:lstStyle/>
                    <a:p>
                      <a:pPr>
                        <a:spcAft>
                          <a:spcPts val="0"/>
                        </a:spcAft>
                      </a:pPr>
                      <a:r>
                        <a:rPr sz="1200">
                          <a:solidFill>
                            <a:srgbClr val="6ED38A"/>
                          </a:solidFill>
                          <a:latin typeface="Segoe UI"/>
                        </a:rPr>
                        <a:t>sequential lifts at adapter capacity; superseded as the path by one pass + IPO</a:t>
                      </a:r>
                    </a:p>
                  </a:txBody>
                  <a:tcPr>
                    <a:solidFill>
                      <a:srgbClr val="1A1F27"/>
                    </a:solidFill>
                  </a:tcPr>
                </a:tc>
              </a:tr>
              <a:tr h="344658">
                <a:tc>
                  <a:txBody>
                    <a:bodyPr/>
                    <a:lstStyle/>
                    <a:p>
                      <a:pPr>
                        <a:spcAft>
                          <a:spcPts val="0"/>
                        </a:spcAft>
                      </a:pPr>
                      <a:r>
                        <a:rPr sz="1200">
                          <a:solidFill>
                            <a:srgbClr val="F5C56B"/>
                          </a:solidFill>
                          <a:latin typeface="Segoe UI"/>
                        </a:rPr>
                        <a:t>Replay: spanning-only</a:t>
                      </a:r>
                    </a:p>
                  </a:txBody>
                  <a:tcPr>
                    <a:solidFill>
                      <a:srgbClr val="212731"/>
                    </a:solidFill>
                  </a:tcPr>
                </a:tc>
                <a:tc>
                  <a:txBody>
                    <a:bodyPr/>
                    <a:lstStyle/>
                    <a:p>
                      <a:pPr>
                        <a:spcAft>
                          <a:spcPts val="0"/>
                        </a:spcAft>
                      </a:pPr>
                      <a:r>
                        <a:rPr sz="1200">
                          <a:solidFill>
                            <a:srgbClr val="F5C56B"/>
                          </a:solidFill>
                          <a:latin typeface="Segoe UI"/>
                        </a:rPr>
                        <a:t>UNTESTED</a:t>
                      </a:r>
                    </a:p>
                  </a:txBody>
                  <a:tcPr>
                    <a:solidFill>
                      <a:srgbClr val="212731"/>
                    </a:solidFill>
                  </a:tcPr>
                </a:tc>
                <a:tc>
                  <a:txBody>
                    <a:bodyPr/>
                    <a:lstStyle/>
                    <a:p>
                      <a:pPr>
                        <a:spcAft>
                          <a:spcPts val="0"/>
                        </a:spcAft>
                      </a:pPr>
                      <a:r>
                        <a:rPr sz="1200">
                          <a:solidFill>
                            <a:srgbClr val="F5C56B"/>
                          </a:solidFill>
                          <a:latin typeface="Segoe UI"/>
                        </a:rPr>
                        <a:t>active and consequential, but NEVER ABLATED</a:t>
                      </a:r>
                    </a:p>
                  </a:txBody>
                  <a:tcPr>
                    <a:solidFill>
                      <a:srgbClr val="212731"/>
                    </a:solidFill>
                  </a:tcPr>
                </a:tc>
              </a:tr>
              <a:tr h="344658">
                <a:tc>
                  <a:txBody>
                    <a:bodyPr/>
                    <a:lstStyle/>
                    <a:p>
                      <a:pPr>
                        <a:spcAft>
                          <a:spcPts val="0"/>
                        </a:spcAft>
                      </a:pPr>
                      <a:r>
                        <a:rPr sz="1200">
                          <a:solidFill>
                            <a:srgbClr val="F5C56B"/>
                          </a:solidFill>
                          <a:latin typeface="Segoe UI"/>
                        </a:rPr>
                        <a:t>ReLoRA SFT (merge between epochs)</a:t>
                      </a:r>
                    </a:p>
                  </a:txBody>
                  <a:tcPr>
                    <a:solidFill>
                      <a:srgbClr val="1A1F27"/>
                    </a:solidFill>
                  </a:tcPr>
                </a:tc>
                <a:tc>
                  <a:txBody>
                    <a:bodyPr/>
                    <a:lstStyle/>
                    <a:p>
                      <a:pPr>
                        <a:spcAft>
                          <a:spcPts val="0"/>
                        </a:spcAft>
                      </a:pPr>
                      <a:r>
                        <a:rPr sz="1200">
                          <a:solidFill>
                            <a:srgbClr val="F5C56B"/>
                          </a:solidFill>
                          <a:latin typeface="Segoe UI"/>
                        </a:rPr>
                        <a:t>NO GAIN</a:t>
                      </a:r>
                    </a:p>
                  </a:txBody>
                  <a:tcPr>
                    <a:solidFill>
                      <a:srgbClr val="1A1F27"/>
                    </a:solidFill>
                  </a:tcPr>
                </a:tc>
                <a:tc>
                  <a:txBody>
                    <a:bodyPr/>
                    <a:lstStyle/>
                    <a:p>
                      <a:pPr>
                        <a:spcAft>
                          <a:spcPts val="0"/>
                        </a:spcAft>
                      </a:pPr>
                      <a:r>
                        <a:rPr sz="1200">
                          <a:solidFill>
                            <a:srgbClr val="F5C56B"/>
                          </a:solidFill>
                          <a:latin typeface="Segoe UI"/>
                        </a:rPr>
                        <a:t>flat 5/5/5 of 16; unmerged control at same budget = 6</a:t>
                      </a:r>
                    </a:p>
                  </a:txBody>
                  <a:tcPr>
                    <a:solidFill>
                      <a:srgbClr val="1A1F27"/>
                    </a:solidFill>
                  </a:tcPr>
                </a:tc>
              </a:tr>
              <a:tr h="344658">
                <a:tc>
                  <a:txBody>
                    <a:bodyPr/>
                    <a:lstStyle/>
                    <a:p>
                      <a:pPr>
                        <a:spcAft>
                          <a:spcPts val="0"/>
                        </a:spcAft>
                      </a:pPr>
                      <a:r>
                        <a:rPr sz="1200">
                          <a:solidFill>
                            <a:srgbClr val="F5C56B"/>
                          </a:solidFill>
                          <a:latin typeface="Segoe UI"/>
                        </a:rPr>
                        <a:t>ReLoRA SFT → RL on top</a:t>
                      </a:r>
                    </a:p>
                  </a:txBody>
                  <a:tcPr>
                    <a:solidFill>
                      <a:srgbClr val="212731"/>
                    </a:solidFill>
                  </a:tcPr>
                </a:tc>
                <a:tc>
                  <a:txBody>
                    <a:bodyPr/>
                    <a:lstStyle/>
                    <a:p>
                      <a:pPr>
                        <a:spcAft>
                          <a:spcPts val="0"/>
                        </a:spcAft>
                      </a:pPr>
                      <a:r>
                        <a:rPr sz="1200">
                          <a:solidFill>
                            <a:srgbClr val="F5C56B"/>
                          </a:solidFill>
                          <a:latin typeface="Segoe UI"/>
                        </a:rPr>
                        <a:t>DROPPED</a:t>
                      </a:r>
                    </a:p>
                  </a:txBody>
                  <a:tcPr>
                    <a:solidFill>
                      <a:srgbClr val="212731"/>
                    </a:solidFill>
                  </a:tcPr>
                </a:tc>
                <a:tc>
                  <a:txBody>
                    <a:bodyPr/>
                    <a:lstStyle/>
                    <a:p>
                      <a:pPr>
                        <a:spcAft>
                          <a:spcPts val="0"/>
                        </a:spcAft>
                      </a:pPr>
                      <a:r>
                        <a:rPr sz="1200">
                          <a:solidFill>
                            <a:srgbClr val="F5C56B"/>
                          </a:solidFill>
                          <a:latin typeface="Segoe UI"/>
                        </a:rPr>
                        <a:t>its base showed no lift; superseded by full-param RL</a:t>
                      </a:r>
                    </a:p>
                  </a:txBody>
                  <a:tcPr>
                    <a:solidFill>
                      <a:srgbClr val="212731"/>
                    </a:solidFill>
                  </a:tcPr>
                </a:tc>
              </a:tr>
              <a:tr h="344658">
                <a:tc>
                  <a:txBody>
                    <a:bodyPr/>
                    <a:lstStyle/>
                    <a:p>
                      <a:pPr>
                        <a:spcAft>
                          <a:spcPts val="0"/>
                        </a:spcAft>
                      </a:pPr>
                      <a:r>
                        <a:rPr sz="1200">
                          <a:solidFill>
                            <a:srgbClr val="F27A7A"/>
                          </a:solidFill>
                          <a:latin typeface="Segoe UI"/>
                        </a:rPr>
                        <a:t>Full-parameter RL (playbooked)</a:t>
                      </a:r>
                    </a:p>
                  </a:txBody>
                  <a:tcPr>
                    <a:solidFill>
                      <a:srgbClr val="1A1F27"/>
                    </a:solidFill>
                  </a:tcPr>
                </a:tc>
                <a:tc>
                  <a:txBody>
                    <a:bodyPr/>
                    <a:lstStyle/>
                    <a:p>
                      <a:pPr>
                        <a:spcAft>
                          <a:spcPts val="0"/>
                        </a:spcAft>
                      </a:pPr>
                      <a:r>
                        <a:rPr sz="1200">
                          <a:solidFill>
                            <a:srgbClr val="F27A7A"/>
                          </a:solidFill>
                          <a:latin typeface="Segoe UI"/>
                        </a:rPr>
                        <a:t>WON</a:t>
                      </a:r>
                    </a:p>
                  </a:txBody>
                  <a:tcPr>
                    <a:solidFill>
                      <a:srgbClr val="1A1F27"/>
                    </a:solidFill>
                  </a:tcPr>
                </a:tc>
                <a:tc>
                  <a:txBody>
                    <a:bodyPr/>
                    <a:lstStyle/>
                    <a:p>
                      <a:pPr>
                        <a:spcAft>
                          <a:spcPts val="0"/>
                        </a:spcAft>
                      </a:pPr>
                      <a:r>
                        <a:rPr sz="1200">
                          <a:solidFill>
                            <a:srgbClr val="F27A7A"/>
                          </a:solidFill>
                          <a:latin typeface="Segoe UI"/>
                        </a:rPr>
                        <a:t>9/16 vs SFT 4/16, one receipt, pre-registered +2 bar</a:t>
                      </a:r>
                    </a:p>
                  </a:txBody>
                  <a:tcPr>
                    <a:solidFill>
                      <a:srgbClr val="1A1F27"/>
                    </a:solidFill>
                  </a:tcPr>
                </a:tc>
              </a:tr>
              <a:tr h="344658">
                <a:tc>
                  <a:txBody>
                    <a:bodyPr/>
                    <a:lstStyle/>
                    <a:p>
                      <a:pPr>
                        <a:spcAft>
                          <a:spcPts val="0"/>
                        </a:spcAft>
                      </a:pPr>
                      <a:r>
                        <a:rPr sz="1200">
                          <a:solidFill>
                            <a:srgbClr val="F27A7A"/>
                          </a:solidFill>
                          <a:latin typeface="Segoe UI"/>
                        </a:rPr>
                        <a:t>Offline preference (IPO) after one RL pass</a:t>
                      </a:r>
                    </a:p>
                  </a:txBody>
                  <a:tcPr>
                    <a:solidFill>
                      <a:srgbClr val="212731"/>
                    </a:solidFill>
                  </a:tcPr>
                </a:tc>
                <a:tc>
                  <a:txBody>
                    <a:bodyPr/>
                    <a:lstStyle/>
                    <a:p>
                      <a:pPr>
                        <a:spcAft>
                          <a:spcPts val="0"/>
                        </a:spcAft>
                      </a:pPr>
                      <a:r>
                        <a:rPr sz="1200">
                          <a:solidFill>
                            <a:srgbClr val="F27A7A"/>
                          </a:solidFill>
                          <a:latin typeface="Segoe UI"/>
                        </a:rPr>
                        <a:t>PROVEN</a:t>
                      </a:r>
                    </a:p>
                  </a:txBody>
                  <a:tcPr>
                    <a:solidFill>
                      <a:srgbClr val="212731"/>
                    </a:solidFill>
                  </a:tcPr>
                </a:tc>
                <a:tc>
                  <a:txBody>
                    <a:bodyPr/>
                    <a:lstStyle/>
                    <a:p>
                      <a:pPr>
                        <a:spcAft>
                          <a:spcPts val="0"/>
                        </a:spcAft>
                      </a:pPr>
                      <a:r>
                        <a:rPr sz="1200">
                          <a:solidFill>
                            <a:srgbClr val="F27A7A"/>
                          </a:solidFill>
                          <a:latin typeface="Segoe UI"/>
                        </a:rPr>
                        <a:t>10/16 complete, read twice; +1 over plain full-param in-receipt; saturates after one application</a:t>
                      </a:r>
                    </a:p>
                  </a:txBody>
                  <a:tcPr>
                    <a:solidFill>
                      <a:srgbClr val="212731"/>
                    </a:solidFill>
                  </a:tcPr>
                </a:tc>
              </a:tr>
              <a:tr h="344658">
                <a:tc>
                  <a:txBody>
                    <a:bodyPr/>
                    <a:lstStyle/>
                    <a:p>
                      <a:pPr>
                        <a:spcAft>
                          <a:spcPts val="0"/>
                        </a:spcAft>
                      </a:pPr>
                      <a:r>
                        <a:rPr sz="1200">
                          <a:solidFill>
                            <a:srgbClr val="F27A7A"/>
                          </a:solidFill>
                          <a:latin typeface="Segoe UI"/>
                        </a:rPr>
                        <a:t>CPT (next-token, QA corpus)</a:t>
                      </a:r>
                    </a:p>
                  </a:txBody>
                  <a:tcPr>
                    <a:solidFill>
                      <a:srgbClr val="1A1F27"/>
                    </a:solidFill>
                  </a:tcPr>
                </a:tc>
                <a:tc>
                  <a:txBody>
                    <a:bodyPr/>
                    <a:lstStyle/>
                    <a:p>
                      <a:pPr>
                        <a:spcAft>
                          <a:spcPts val="0"/>
                        </a:spcAft>
                      </a:pPr>
                      <a:r>
                        <a:rPr sz="1200">
                          <a:solidFill>
                            <a:srgbClr val="F27A7A"/>
                          </a:solidFill>
                          <a:latin typeface="Segoe UI"/>
                        </a:rPr>
                        <a:t>CLOSED</a:t>
                      </a:r>
                    </a:p>
                  </a:txBody>
                  <a:tcPr>
                    <a:solidFill>
                      <a:srgbClr val="1A1F27"/>
                    </a:solidFill>
                  </a:tcPr>
                </a:tc>
                <a:tc>
                  <a:txBody>
                    <a:bodyPr/>
                    <a:lstStyle/>
                    <a:p>
                      <a:pPr>
                        <a:spcAft>
                          <a:spcPts val="0"/>
                        </a:spcAft>
                      </a:pPr>
                      <a:r>
                        <a:rPr sz="1200">
                          <a:solidFill>
                            <a:srgbClr val="F27A7A"/>
                          </a:solidFill>
                          <a:latin typeface="Segoe UI"/>
                        </a:rPr>
                        <a:t>flat / flat / -0.19 across the lr axis</a:t>
                      </a:r>
                    </a:p>
                  </a:txBody>
                  <a:tcPr>
                    <a:solidFill>
                      <a:srgbClr val="1A1F27"/>
                    </a:solidFill>
                  </a:tcPr>
                </a:tc>
              </a:tr>
              <a:tr h="344658">
                <a:tc>
                  <a:txBody>
                    <a:bodyPr/>
                    <a:lstStyle/>
                    <a:p>
                      <a:pPr>
                        <a:spcAft>
                          <a:spcPts val="0"/>
                        </a:spcAft>
                      </a:pPr>
                      <a:r>
                        <a:rPr sz="1200">
                          <a:solidFill>
                            <a:srgbClr val="F27A7A"/>
                          </a:solidFill>
                          <a:latin typeface="Segoe UI"/>
                        </a:rPr>
                        <a:t>SFT via LoRA adapter</a:t>
                      </a:r>
                    </a:p>
                  </a:txBody>
                  <a:tcPr>
                    <a:solidFill>
                      <a:srgbClr val="212731"/>
                    </a:solidFill>
                  </a:tcPr>
                </a:tc>
                <a:tc>
                  <a:txBody>
                    <a:bodyPr/>
                    <a:lstStyle/>
                    <a:p>
                      <a:pPr>
                        <a:spcAft>
                          <a:spcPts val="0"/>
                        </a:spcAft>
                      </a:pPr>
                      <a:r>
                        <a:rPr sz="1200">
                          <a:solidFill>
                            <a:srgbClr val="F27A7A"/>
                          </a:solidFill>
                          <a:latin typeface="Segoe UI"/>
                        </a:rPr>
                        <a:t>CLOSED</a:t>
                      </a:r>
                    </a:p>
                  </a:txBody>
                  <a:tcPr>
                    <a:solidFill>
                      <a:srgbClr val="212731"/>
                    </a:solidFill>
                  </a:tcPr>
                </a:tc>
                <a:tc>
                  <a:txBody>
                    <a:bodyPr/>
                    <a:lstStyle/>
                    <a:p>
                      <a:pPr>
                        <a:spcAft>
                          <a:spcPts val="0"/>
                        </a:spcAft>
                      </a:pPr>
                      <a:r>
                        <a:rPr sz="1200">
                          <a:solidFill>
                            <a:srgbClr val="F27A7A"/>
                          </a:solidFill>
                          <a:latin typeface="Segoe UI"/>
                        </a:rPr>
                        <a:t>deposits knowledge, RL then destroys it</a:t>
                      </a:r>
                    </a:p>
                  </a:txBody>
                  <a:tcPr>
                    <a:solidFill>
                      <a:srgbClr val="212731"/>
                    </a:solidFill>
                  </a:tcPr>
                </a:tc>
              </a:tr>
              <a:tr h="344658">
                <a:tc>
                  <a:txBody>
                    <a:bodyPr/>
                    <a:lstStyle/>
                    <a:p>
                      <a:pPr>
                        <a:spcAft>
                          <a:spcPts val="0"/>
                        </a:spcAft>
                      </a:pPr>
                      <a:r>
                        <a:rPr sz="1200">
                          <a:solidFill>
                            <a:srgbClr val="E8ECF1"/>
                          </a:solidFill>
                          <a:latin typeface="Segoe UI"/>
                        </a:rPr>
                        <a:t>Continuing an SFT adapter into RL</a:t>
                      </a:r>
                    </a:p>
                  </a:txBody>
                  <a:tcPr>
                    <a:solidFill>
                      <a:srgbClr val="1A1F27"/>
                    </a:solidFill>
                  </a:tcPr>
                </a:tc>
                <a:tc>
                  <a:txBody>
                    <a:bodyPr/>
                    <a:lstStyle/>
                    <a:p>
                      <a:pPr>
                        <a:spcAft>
                          <a:spcPts val="0"/>
                        </a:spcAft>
                      </a:pPr>
                      <a:r>
                        <a:rPr sz="1200">
                          <a:solidFill>
                            <a:srgbClr val="E8ECF1"/>
                          </a:solidFill>
                          <a:latin typeface="Segoe UI"/>
                        </a:rPr>
                        <a:t>CLOSED</a:t>
                      </a:r>
                    </a:p>
                  </a:txBody>
                  <a:tcPr>
                    <a:solidFill>
                      <a:srgbClr val="1A1F27"/>
                    </a:solidFill>
                  </a:tcPr>
                </a:tc>
                <a:tc>
                  <a:txBody>
                    <a:bodyPr/>
                    <a:lstStyle/>
                    <a:p>
                      <a:pPr>
                        <a:spcAft>
                          <a:spcPts val="0"/>
                        </a:spcAft>
                      </a:pPr>
                      <a:r>
                        <a:rPr sz="1200">
                          <a:solidFill>
                            <a:srgbClr val="E8ECF1"/>
                          </a:solidFill>
                          <a:latin typeface="Segoe UI"/>
                        </a:rPr>
                        <a:t>dead at every lr tried</a:t>
                      </a:r>
                    </a:p>
                  </a:txBody>
                  <a:tcPr>
                    <a:solidFill>
                      <a:srgbClr val="1A1F27"/>
                    </a:solidFill>
                  </a:tcPr>
                </a:tc>
              </a:tr>
              <a:tr h="344664">
                <a:tc>
                  <a:txBody>
                    <a:bodyPr/>
                    <a:lstStyle/>
                    <a:p>
                      <a:pPr>
                        <a:spcAft>
                          <a:spcPts val="0"/>
                        </a:spcAft>
                      </a:pPr>
                      <a:r>
                        <a:rPr sz="1200">
                          <a:solidFill>
                            <a:srgbClr val="E8ECF1"/>
                          </a:solidFill>
                          <a:latin typeface="Segoe UI"/>
                        </a:rPr>
                        <a:t>Mixed LoRA alpha across stages</a:t>
                      </a:r>
                    </a:p>
                  </a:txBody>
                  <a:tcPr>
                    <a:solidFill>
                      <a:srgbClr val="212731"/>
                    </a:solidFill>
                  </a:tcPr>
                </a:tc>
                <a:tc>
                  <a:txBody>
                    <a:bodyPr/>
                    <a:lstStyle/>
                    <a:p>
                      <a:pPr>
                        <a:spcAft>
                          <a:spcPts val="0"/>
                        </a:spcAft>
                      </a:pPr>
                      <a:r>
                        <a:rPr sz="1200">
                          <a:solidFill>
                            <a:srgbClr val="E8ECF1"/>
                          </a:solidFill>
                          <a:latin typeface="Segoe UI"/>
                        </a:rPr>
                        <a:t>CLOSED</a:t>
                      </a:r>
                    </a:p>
                  </a:txBody>
                  <a:tcPr>
                    <a:solidFill>
                      <a:srgbClr val="212731"/>
                    </a:solidFill>
                  </a:tcPr>
                </a:tc>
                <a:tc>
                  <a:txBody>
                    <a:bodyPr/>
                    <a:lstStyle/>
                    <a:p>
                      <a:pPr>
                        <a:spcAft>
                          <a:spcPts val="0"/>
                        </a:spcAft>
                      </a:pPr>
                      <a:r>
                        <a:rPr sz="1200">
                          <a:solidFill>
                            <a:srgbClr val="E8ECF1"/>
                          </a:solidFill>
                          <a:latin typeface="Segoe UI"/>
                        </a:rPr>
                        <a:t>0.442 → 0.170</a:t>
                      </a:r>
                    </a:p>
                  </a:txBody>
                  <a:tcPr>
                    <a:solidFill>
                      <a:srgbClr val="212731"/>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CPT: the null reproduces on the corrected instrument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2026-08-30 CPT null was measured with the OLD rubric and a lift definition</a:t>
            </a:r>
          </a:p>
          <a:p>
            <a:pPr>
              <a:spcAft>
                <a:spcPts val="400"/>
              </a:spcAft>
            </a:pPr>
            <a:r>
              <a:rPr sz="1500" b="0">
                <a:solidFill>
                  <a:srgbClr val="9AA6B4"/>
                </a:solidFill>
                <a:latin typeface="Segoe UI"/>
              </a:rPr>
              <a:t>     that did not match SFT's or RL's. Fair challenge: re-run it apples-to-apples.</a:t>
            </a:r>
          </a:p>
          <a:p>
            <a:pPr>
              <a:spcAft>
                <a:spcPts val="900"/>
              </a:spcAft>
            </a:pPr>
            <a:r>
              <a:rPr sz="1800" b="1">
                <a:solidFill>
                  <a:srgbClr val="E8ECF1"/>
                </a:solidFill>
                <a:latin typeface="Segoe UI"/>
              </a:rPr>
              <a:t>Same 16 frozen items, REQ-J15 rubric, binary at 0.70, k=1 greedy:</a:t>
            </a:r>
          </a:p>
          <a:p>
            <a:pPr>
              <a:spcAft>
                <a:spcPts val="900"/>
              </a:spcAft>
            </a:pPr>
            <a:r>
              <a:rPr sz="1800" b="1">
                <a:solidFill>
                  <a:srgbClr val="F27A7A"/>
                </a:solidFill>
                <a:latin typeface="Segoe UI"/>
              </a:rPr>
              <a:t>lr 1e-5 → 0.250 (flat)    lr 3e-5 → 0.250 (flat)    lr 1e-4 → 0.062 (-0.19)</a:t>
            </a:r>
          </a:p>
          <a:p>
            <a:pPr>
              <a:spcAft>
                <a:spcPts val="900"/>
              </a:spcAft>
            </a:pPr>
            <a:r>
              <a:rPr sz="1800" b="1">
                <a:solidFill>
                  <a:srgbClr val="E8ECF1"/>
                </a:solidFill>
                <a:latin typeface="Segoe UI"/>
              </a:rPr>
              <a:t>Flat, flat, collapse across an LR axis is a gradient with no usable signal:</a:t>
            </a:r>
          </a:p>
          <a:p>
            <a:pPr>
              <a:spcAft>
                <a:spcPts val="400"/>
              </a:spcAft>
            </a:pPr>
            <a:r>
              <a:rPr sz="1500" b="0">
                <a:solidFill>
                  <a:srgbClr val="9AA6B4"/>
                </a:solidFill>
                <a:latin typeface="Segoe UI"/>
              </a:rPr>
              <a:t>     small steps are noise, the large step is damage.</a:t>
            </a:r>
          </a:p>
          <a:p>
            <a:pPr>
              <a:spcAft>
                <a:spcPts val="900"/>
              </a:spcAft>
            </a:pPr>
            <a:r>
              <a:rPr sz="1800" b="1">
                <a:solidFill>
                  <a:srgbClr val="E8ECF1"/>
                </a:solidFill>
                <a:latin typeface="Segoe UI"/>
              </a:rPr>
              <a:t>Trial 2 shuffled WHICH questions were right while holding the total at 4/16</a:t>
            </a:r>
          </a:p>
          <a:p>
            <a:pPr>
              <a:spcAft>
                <a:spcPts val="400"/>
              </a:spcAft>
            </a:pPr>
            <a:r>
              <a:rPr sz="1500" b="0">
                <a:solidFill>
                  <a:srgbClr val="9AA6B4"/>
                </a:solidFill>
                <a:latin typeface="Segoe UI"/>
              </a:rPr>
              <a:t>     (Math 3/5 → 1/5, Code 0/4 → 1/4, STEM 1/3 → 2/3).</a:t>
            </a:r>
          </a:p>
          <a:p>
            <a:pPr>
              <a:spcAft>
                <a:spcPts val="400"/>
              </a:spcAft>
            </a:pPr>
            <a:r>
              <a:rPr sz="1500" b="0">
                <a:solidFill>
                  <a:srgbClr val="9AA6B4"/>
                </a:solidFill>
                <a:latin typeface="Segoe UI"/>
              </a:rPr>
              <a:t>     CPT moves the model around the answer space without adding knowledge.</a:t>
            </a:r>
          </a:p>
          <a:p>
            <a:pPr>
              <a:spcAft>
                <a:spcPts val="900"/>
              </a:spcAft>
            </a:pPr>
            <a:r>
              <a:rPr sz="1800" b="1">
                <a:solidFill>
                  <a:srgbClr val="5BC8F5"/>
                </a:solidFill>
                <a:latin typeface="Segoe UI"/>
              </a:rPr>
              <a:t>Gate A stays closed. NO LIFT = NO FULL — no full CPT run was launched.</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counts as winning: net positive lift BETWEEN PHASES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old bar was a monotonically climbing per-epoch curve. Epoch 1 broke it —</a:t>
            </a:r>
          </a:p>
          <a:p>
            <a:pPr>
              <a:spcAft>
                <a:spcPts val="400"/>
              </a:spcAft>
            </a:pPr>
            <a:r>
              <a:rPr sz="1500" b="0">
                <a:solidFill>
                  <a:srgbClr val="9AA6B4"/>
                </a:solidFill>
                <a:latin typeface="Segoe UI"/>
              </a:rPr>
              <a:t>     full-param SFT went DOWN at epoch 1 and the phase still ended ahead of base.</a:t>
            </a:r>
          </a:p>
          <a:p>
            <a:pPr>
              <a:spcAft>
                <a:spcPts val="900"/>
              </a:spcAft>
            </a:pPr>
            <a:r>
              <a:rPr sz="1800" b="1">
                <a:solidFill>
                  <a:srgbClr val="5BC8F5"/>
                </a:solidFill>
                <a:latin typeface="Segoe UI"/>
              </a:rPr>
              <a:t>So the bar moves. A phase wins if it hands the next phase MORE</a:t>
            </a:r>
          </a:p>
          <a:p>
            <a:pPr>
              <a:spcAft>
                <a:spcPts val="400"/>
              </a:spcAft>
            </a:pPr>
            <a:r>
              <a:rPr sz="1500" b="0">
                <a:solidFill>
                  <a:srgbClr val="9AA6B4"/>
                </a:solidFill>
                <a:latin typeface="Segoe UI"/>
              </a:rPr>
              <a:t>     correct answers than it received. Judged at epoch 3, not epoch 1.</a:t>
            </a:r>
          </a:p>
          <a:p>
            <a:pPr>
              <a:spcAft>
                <a:spcPts val="900"/>
              </a:spcAft>
            </a:pPr>
            <a:r>
              <a:rPr sz="1800" b="1">
                <a:solidFill>
                  <a:srgbClr val="5BC8F5"/>
                </a:solidFill>
                <a:latin typeface="Segoe UI"/>
              </a:rPr>
              <a:t>Verdict rule, LOCKED: every phase scored by the same mechanism —</a:t>
            </a:r>
          </a:p>
          <a:p>
            <a:pPr>
              <a:spcAft>
                <a:spcPts val="400"/>
              </a:spcAft>
            </a:pPr>
            <a:r>
              <a:rPr sz="1500" b="0">
                <a:solidFill>
                  <a:srgbClr val="9AA6B4"/>
                </a:solidFill>
                <a:latin typeface="Segoe UI"/>
              </a:rPr>
              <a:t>     3 independent single-answer judgings per question, majority vote.</a:t>
            </a:r>
          </a:p>
          <a:p>
            <a:pPr>
              <a:spcAft>
                <a:spcPts val="900"/>
              </a:spcAft>
            </a:pPr>
            <a:r>
              <a:rPr sz="1800" b="1">
                <a:solidFill>
                  <a:srgbClr val="6ED38A"/>
                </a:solidFill>
                <a:latin typeface="Segoe UI"/>
              </a:rPr>
              <a:t>Under that rule: base 4 → best method 8, of 16.</a:t>
            </a:r>
          </a:p>
          <a:p>
            <a:pPr>
              <a:spcAft>
                <a:spcPts val="400"/>
              </a:spcAft>
            </a:pPr>
            <a:r>
              <a:rPr sz="1500" b="0">
                <a:solidFill>
                  <a:srgbClr val="6ED38A"/>
                </a:solidFill>
                <a:latin typeface="Segoe UI"/>
              </a:rPr>
              <a:t>     The END-TO-END lift is the win; adjacent phases sit at the ~1-question</a:t>
            </a:r>
          </a:p>
          <a:p>
            <a:pPr>
              <a:spcAft>
                <a:spcPts val="400"/>
              </a:spcAft>
            </a:pPr>
            <a:r>
              <a:rPr sz="1500" b="0">
                <a:solidFill>
                  <a:srgbClr val="9AA6B4"/>
                </a:solidFill>
                <a:latin typeface="Segoe UI"/>
              </a:rPr>
              <a:t>     floor of what 16 questions can resolve.</a:t>
            </a:r>
          </a:p>
          <a:p>
            <a:pPr>
              <a:spcAft>
                <a:spcPts val="900"/>
              </a:spcAft>
            </a:pPr>
            <a:r>
              <a:rPr sz="1800" b="1">
                <a:solidFill>
                  <a:srgbClr val="E8ECF1"/>
                </a:solidFill>
                <a:latin typeface="Segoe UI"/>
              </a:rPr>
              <a:t>A dip inside a phase is not a failure. A phase that ends flat is.</a:t>
            </a:r>
          </a:p>
          <a:p>
            <a:pPr>
              <a:spcAft>
                <a:spcPts val="900"/>
              </a:spcAft>
            </a:pPr>
            <a:r>
              <a:rPr sz="1800" b="1">
                <a:solidFill>
                  <a:srgbClr val="F5C56B"/>
                </a:solidFill>
                <a:latin typeface="Segoe UI"/>
              </a:rPr>
              <a:t>Not moving the goalposts — the difference between measuring a</a:t>
            </a:r>
          </a:p>
          <a:p>
            <a:pPr>
              <a:spcAft>
                <a:spcPts val="400"/>
              </a:spcAft>
            </a:pPr>
            <a:r>
              <a:rPr sz="1500" b="0">
                <a:solidFill>
                  <a:srgbClr val="9AA6B4"/>
                </a:solidFill>
                <a:latin typeface="Segoe UI"/>
              </a:rPr>
              <a:t>     TRAJECTORY and measuring one point on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16 paths failed. 8 were about getting the knowledge IN.</a:t>
            </a:r>
          </a:p>
        </p:txBody>
      </p:sp>
      <p:graphicFrame>
        <p:nvGraphicFramePr>
          <p:cNvPr id="4" name="Table 3"/>
          <p:cNvGraphicFramePr>
            <a:graphicFrameLocks noGrp="1"/>
          </p:cNvGraphicFramePr>
          <p:nvPr/>
        </p:nvGraphicFramePr>
        <p:xfrm>
          <a:off x="868680" y="1463040"/>
          <a:ext cx="10424160" cy="3520440"/>
        </p:xfrm>
        <a:graphic>
          <a:graphicData uri="http://schemas.openxmlformats.org/drawingml/2006/table">
            <a:tbl>
              <a:tblPr>
                <a:tableStyleId>{5C22544A-7EE6-4342-B048-85BDC9FD1C3A}</a:tableStyleId>
              </a:tblPr>
              <a:tblGrid>
                <a:gridCol w="5212080"/>
                <a:gridCol w="5212080"/>
              </a:tblGrid>
              <a:tr h="391160">
                <a:tc>
                  <a:txBody>
                    <a:bodyPr/>
                    <a:lstStyle/>
                    <a:p>
                      <a:pPr>
                        <a:spcAft>
                          <a:spcPts val="0"/>
                        </a:spcAft>
                      </a:pPr>
                      <a:r>
                        <a:rPr sz="1300" b="1">
                          <a:solidFill>
                            <a:srgbClr val="12161C"/>
                          </a:solidFill>
                          <a:latin typeface="Segoe UI"/>
                        </a:rPr>
                        <a:t>path attempted</a:t>
                      </a:r>
                    </a:p>
                  </a:txBody>
                  <a:tcPr>
                    <a:solidFill>
                      <a:srgbClr val="5BC8F5"/>
                    </a:solidFill>
                  </a:tcPr>
                </a:tc>
                <a:tc>
                  <a:txBody>
                    <a:bodyPr/>
                    <a:lstStyle/>
                    <a:p>
                      <a:pPr>
                        <a:spcAft>
                          <a:spcPts val="0"/>
                        </a:spcAft>
                      </a:pPr>
                      <a:r>
                        <a:rPr sz="1300" b="1">
                          <a:solidFill>
                            <a:srgbClr val="12161C"/>
                          </a:solidFill>
                          <a:latin typeface="Segoe UI"/>
                        </a:rPr>
                        <a:t>result</a:t>
                      </a:r>
                    </a:p>
                  </a:txBody>
                  <a:tcPr>
                    <a:solidFill>
                      <a:srgbClr val="5BC8F5"/>
                    </a:solidFill>
                  </a:tcPr>
                </a:tc>
              </a:tr>
              <a:tr h="391160">
                <a:tc>
                  <a:txBody>
                    <a:bodyPr/>
                    <a:lstStyle/>
                    <a:p>
                      <a:pPr>
                        <a:spcAft>
                          <a:spcPts val="0"/>
                        </a:spcAft>
                      </a:pPr>
                      <a:r>
                        <a:rPr sz="1200">
                          <a:solidFill>
                            <a:srgbClr val="F27A7A"/>
                          </a:solidFill>
                          <a:latin typeface="Segoe UI"/>
                        </a:rPr>
                        <a:t>CPT — next-token on chunked skills alone</a:t>
                      </a:r>
                    </a:p>
                  </a:txBody>
                  <a:tcPr>
                    <a:solidFill>
                      <a:srgbClr val="1A1F27"/>
                    </a:solidFill>
                  </a:tcPr>
                </a:tc>
                <a:tc>
                  <a:txBody>
                    <a:bodyPr/>
                    <a:lstStyle/>
                    <a:p>
                      <a:pPr>
                        <a:spcAft>
                          <a:spcPts val="0"/>
                        </a:spcAft>
                      </a:pPr>
                      <a:r>
                        <a:rPr sz="1200">
                          <a:solidFill>
                            <a:srgbClr val="F27A7A"/>
                          </a:solidFill>
                          <a:latin typeface="Segoe UI"/>
                        </a:rPr>
                        <a:t>macroF1 0.181 → 0.124  REGRESSION</a:t>
                      </a:r>
                    </a:p>
                  </a:txBody>
                  <a:tcPr>
                    <a:solidFill>
                      <a:srgbClr val="1A1F27"/>
                    </a:solidFill>
                  </a:tcPr>
                </a:tc>
              </a:tr>
              <a:tr h="391160">
                <a:tc>
                  <a:txBody>
                    <a:bodyPr/>
                    <a:lstStyle/>
                    <a:p>
                      <a:pPr>
                        <a:spcAft>
                          <a:spcPts val="0"/>
                        </a:spcAft>
                      </a:pPr>
                      <a:r>
                        <a:rPr sz="1200">
                          <a:solidFill>
                            <a:srgbClr val="F27A7A"/>
                          </a:solidFill>
                          <a:latin typeface="Segoe UI"/>
                        </a:rPr>
                        <a:t>CPT — next-token on the R3 QA corpus, 3 lrs</a:t>
                      </a:r>
                    </a:p>
                  </a:txBody>
                  <a:tcPr>
                    <a:solidFill>
                      <a:srgbClr val="212731"/>
                    </a:solidFill>
                  </a:tcPr>
                </a:tc>
                <a:tc>
                  <a:txBody>
                    <a:bodyPr/>
                    <a:lstStyle/>
                    <a:p>
                      <a:pPr>
                        <a:spcAft>
                          <a:spcPts val="0"/>
                        </a:spcAft>
                      </a:pPr>
                      <a:r>
                        <a:rPr sz="1200">
                          <a:solidFill>
                            <a:srgbClr val="F27A7A"/>
                          </a:solidFill>
                          <a:latin typeface="Segoe UI"/>
                        </a:rPr>
                        <a:t>no binary lift; +1 item, 0.6 SE</a:t>
                      </a:r>
                    </a:p>
                  </a:txBody>
                  <a:tcPr>
                    <a:solidFill>
                      <a:srgbClr val="212731"/>
                    </a:solidFill>
                  </a:tcPr>
                </a:tc>
              </a:tr>
              <a:tr h="391160">
                <a:tc>
                  <a:txBody>
                    <a:bodyPr/>
                    <a:lstStyle/>
                    <a:p>
                      <a:pPr>
                        <a:spcAft>
                          <a:spcPts val="0"/>
                        </a:spcAft>
                      </a:pPr>
                      <a:r>
                        <a:rPr sz="1200">
                          <a:solidFill>
                            <a:srgbClr val="F27A7A"/>
                          </a:solidFill>
                          <a:latin typeface="Segoe UI"/>
                        </a:rPr>
                        <a:t>SFT via LoRA adapter (adapter-only)</a:t>
                      </a:r>
                    </a:p>
                  </a:txBody>
                  <a:tcPr>
                    <a:solidFill>
                      <a:srgbClr val="1A1F27"/>
                    </a:solidFill>
                  </a:tcPr>
                </a:tc>
                <a:tc>
                  <a:txBody>
                    <a:bodyPr/>
                    <a:lstStyle/>
                    <a:p>
                      <a:pPr>
                        <a:spcAft>
                          <a:spcPts val="0"/>
                        </a:spcAft>
                      </a:pPr>
                      <a:r>
                        <a:rPr sz="1200">
                          <a:solidFill>
                            <a:srgbClr val="F27A7A"/>
                          </a:solidFill>
                          <a:latin typeface="Segoe UI"/>
                        </a:rPr>
                        <a:t>deposits 0.063 → 0.327, RL destroys → 0.170</a:t>
                      </a:r>
                    </a:p>
                  </a:txBody>
                  <a:tcPr>
                    <a:solidFill>
                      <a:srgbClr val="1A1F27"/>
                    </a:solidFill>
                  </a:tcPr>
                </a:tc>
              </a:tr>
              <a:tr h="391160">
                <a:tc>
                  <a:txBody>
                    <a:bodyPr/>
                    <a:lstStyle/>
                    <a:p>
                      <a:pPr>
                        <a:spcAft>
                          <a:spcPts val="0"/>
                        </a:spcAft>
                      </a:pPr>
                      <a:r>
                        <a:rPr sz="1200">
                          <a:solidFill>
                            <a:srgbClr val="F27A7A"/>
                          </a:solidFill>
                          <a:latin typeface="Segoe UI"/>
                        </a:rPr>
                        <a:t>ReLoRA SFT — merge between epochs</a:t>
                      </a:r>
                    </a:p>
                  </a:txBody>
                  <a:tcPr>
                    <a:solidFill>
                      <a:srgbClr val="212731"/>
                    </a:solidFill>
                  </a:tcPr>
                </a:tc>
                <a:tc>
                  <a:txBody>
                    <a:bodyPr/>
                    <a:lstStyle/>
                    <a:p>
                      <a:pPr>
                        <a:spcAft>
                          <a:spcPts val="0"/>
                        </a:spcAft>
                      </a:pPr>
                      <a:r>
                        <a:rPr sz="1200">
                          <a:solidFill>
                            <a:srgbClr val="F27A7A"/>
                          </a:solidFill>
                          <a:latin typeface="Segoe UI"/>
                        </a:rPr>
                        <a:t>FLAT 5/5/5 of 16; unmerged control = 6</a:t>
                      </a:r>
                    </a:p>
                  </a:txBody>
                  <a:tcPr>
                    <a:solidFill>
                      <a:srgbClr val="212731"/>
                    </a:solidFill>
                  </a:tcPr>
                </a:tc>
              </a:tr>
              <a:tr h="391160">
                <a:tc>
                  <a:txBody>
                    <a:bodyPr/>
                    <a:lstStyle/>
                    <a:p>
                      <a:pPr>
                        <a:spcAft>
                          <a:spcPts val="0"/>
                        </a:spcAft>
                      </a:pPr>
                      <a:r>
                        <a:rPr sz="1200">
                          <a:solidFill>
                            <a:srgbClr val="F27A7A"/>
                          </a:solidFill>
                          <a:latin typeface="Segoe UI"/>
                        </a:rPr>
                        <a:t>SFT dose escalation — triple the passes</a:t>
                      </a:r>
                    </a:p>
                  </a:txBody>
                  <a:tcPr>
                    <a:solidFill>
                      <a:srgbClr val="1A1F27"/>
                    </a:solidFill>
                  </a:tcPr>
                </a:tc>
                <a:tc>
                  <a:txBody>
                    <a:bodyPr/>
                    <a:lstStyle/>
                    <a:p>
                      <a:pPr>
                        <a:spcAft>
                          <a:spcPts val="0"/>
                        </a:spcAft>
                      </a:pPr>
                      <a:r>
                        <a:rPr sz="1200">
                          <a:solidFill>
                            <a:srgbClr val="F27A7A"/>
                          </a:solidFill>
                          <a:latin typeface="Segoe UI"/>
                        </a:rPr>
                        <a:t>0.389/0.309/0.327; never-correct 4 → 9</a:t>
                      </a:r>
                    </a:p>
                  </a:txBody>
                  <a:tcPr>
                    <a:solidFill>
                      <a:srgbClr val="1A1F27"/>
                    </a:solidFill>
                  </a:tcPr>
                </a:tc>
              </a:tr>
              <a:tr h="391160">
                <a:tc>
                  <a:txBody>
                    <a:bodyPr/>
                    <a:lstStyle/>
                    <a:p>
                      <a:pPr>
                        <a:spcAft>
                          <a:spcPts val="0"/>
                        </a:spcAft>
                      </a:pPr>
                      <a:r>
                        <a:rPr sz="1200">
                          <a:solidFill>
                            <a:srgbClr val="F27A7A"/>
                          </a:solidFill>
                          <a:latin typeface="Segoe UI"/>
                        </a:rPr>
                        <a:t>LoRA SFT → merge → RL, alpha 32→64</a:t>
                      </a:r>
                    </a:p>
                  </a:txBody>
                  <a:tcPr>
                    <a:solidFill>
                      <a:srgbClr val="212731"/>
                    </a:solidFill>
                  </a:tcPr>
                </a:tc>
                <a:tc>
                  <a:txBody>
                    <a:bodyPr/>
                    <a:lstStyle/>
                    <a:p>
                      <a:pPr>
                        <a:spcAft>
                          <a:spcPts val="0"/>
                        </a:spcAft>
                      </a:pPr>
                      <a:r>
                        <a:rPr sz="1200">
                          <a:solidFill>
                            <a:srgbClr val="F27A7A"/>
                          </a:solidFill>
                          <a:latin typeface="Segoe UI"/>
                        </a:rPr>
                        <a:t>0.170  DEAD</a:t>
                      </a:r>
                    </a:p>
                  </a:txBody>
                  <a:tcPr>
                    <a:solidFill>
                      <a:srgbClr val="212731"/>
                    </a:solidFill>
                  </a:tcPr>
                </a:tc>
              </a:tr>
              <a:tr h="391160">
                <a:tc>
                  <a:txBody>
                    <a:bodyPr/>
                    <a:lstStyle/>
                    <a:p>
                      <a:pPr>
                        <a:spcAft>
                          <a:spcPts val="0"/>
                        </a:spcAft>
                      </a:pPr>
                      <a:r>
                        <a:rPr sz="1200">
                          <a:solidFill>
                            <a:srgbClr val="F27A7A"/>
                          </a:solidFill>
                          <a:latin typeface="Segoe UI"/>
                        </a:rPr>
                        <a:t>LoRA SFT → merge → RL, alpha matched</a:t>
                      </a:r>
                    </a:p>
                  </a:txBody>
                  <a:tcPr>
                    <a:solidFill>
                      <a:srgbClr val="1A1F27"/>
                    </a:solidFill>
                  </a:tcPr>
                </a:tc>
                <a:tc>
                  <a:txBody>
                    <a:bodyPr/>
                    <a:lstStyle/>
                    <a:p>
                      <a:pPr>
                        <a:spcAft>
                          <a:spcPts val="0"/>
                        </a:spcAft>
                      </a:pPr>
                      <a:r>
                        <a:rPr sz="1200">
                          <a:solidFill>
                            <a:srgbClr val="F27A7A"/>
                          </a:solidFill>
                          <a:latin typeface="Segoe UI"/>
                        </a:rPr>
                        <a:t>0.288  DEAD</a:t>
                      </a:r>
                    </a:p>
                  </a:txBody>
                  <a:tcPr>
                    <a:solidFill>
                      <a:srgbClr val="1A1F27"/>
                    </a:solidFill>
                  </a:tcPr>
                </a:tc>
              </a:tr>
              <a:tr h="391160">
                <a:tc>
                  <a:txBody>
                    <a:bodyPr/>
                    <a:lstStyle/>
                    <a:p>
                      <a:pPr>
                        <a:spcAft>
                          <a:spcPts val="0"/>
                        </a:spcAft>
                      </a:pPr>
                      <a:r>
                        <a:rPr sz="1200">
                          <a:solidFill>
                            <a:srgbClr val="F27A7A"/>
                          </a:solidFill>
                          <a:latin typeface="Segoe UI"/>
                        </a:rPr>
                        <a:t>LoRA SFT → continue SAME adapter into RL</a:t>
                      </a:r>
                    </a:p>
                  </a:txBody>
                  <a:tcPr>
                    <a:solidFill>
                      <a:srgbClr val="212731"/>
                    </a:solidFill>
                  </a:tcPr>
                </a:tc>
                <a:tc>
                  <a:txBody>
                    <a:bodyPr/>
                    <a:lstStyle/>
                    <a:p>
                      <a:pPr>
                        <a:spcAft>
                          <a:spcPts val="0"/>
                        </a:spcAft>
                      </a:pPr>
                      <a:r>
                        <a:rPr sz="1200">
                          <a:solidFill>
                            <a:srgbClr val="F27A7A"/>
                          </a:solidFill>
                          <a:latin typeface="Segoe UI"/>
                        </a:rPr>
                        <a:t>~0.26 at every lr tried  DEAD</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Injection, and the SFT→RL handoff. Every row is measured, not abandoned.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other 8 were the optimiser and the instrument</a:t>
            </a:r>
          </a:p>
        </p:txBody>
      </p:sp>
      <p:graphicFrame>
        <p:nvGraphicFramePr>
          <p:cNvPr id="4" name="Table 3"/>
          <p:cNvGraphicFramePr>
            <a:graphicFrameLocks noGrp="1"/>
          </p:cNvGraphicFramePr>
          <p:nvPr/>
        </p:nvGraphicFramePr>
        <p:xfrm>
          <a:off x="868680" y="1463040"/>
          <a:ext cx="10424160" cy="3520440"/>
        </p:xfrm>
        <a:graphic>
          <a:graphicData uri="http://schemas.openxmlformats.org/drawingml/2006/table">
            <a:tbl>
              <a:tblPr>
                <a:tableStyleId>{5C22544A-7EE6-4342-B048-85BDC9FD1C3A}</a:tableStyleId>
              </a:tblPr>
              <a:tblGrid>
                <a:gridCol w="5212080"/>
                <a:gridCol w="5212080"/>
              </a:tblGrid>
              <a:tr h="391160">
                <a:tc>
                  <a:txBody>
                    <a:bodyPr/>
                    <a:lstStyle/>
                    <a:p>
                      <a:pPr>
                        <a:spcAft>
                          <a:spcPts val="0"/>
                        </a:spcAft>
                      </a:pPr>
                      <a:r>
                        <a:rPr sz="1300" b="1">
                          <a:solidFill>
                            <a:srgbClr val="12161C"/>
                          </a:solidFill>
                          <a:latin typeface="Segoe UI"/>
                        </a:rPr>
                        <a:t>path attempted</a:t>
                      </a:r>
                    </a:p>
                  </a:txBody>
                  <a:tcPr>
                    <a:solidFill>
                      <a:srgbClr val="5BC8F5"/>
                    </a:solidFill>
                  </a:tcPr>
                </a:tc>
                <a:tc>
                  <a:txBody>
                    <a:bodyPr/>
                    <a:lstStyle/>
                    <a:p>
                      <a:pPr>
                        <a:spcAft>
                          <a:spcPts val="0"/>
                        </a:spcAft>
                      </a:pPr>
                      <a:r>
                        <a:rPr sz="1300" b="1">
                          <a:solidFill>
                            <a:srgbClr val="12161C"/>
                          </a:solidFill>
                          <a:latin typeface="Segoe UI"/>
                        </a:rPr>
                        <a:t>result</a:t>
                      </a:r>
                    </a:p>
                  </a:txBody>
                  <a:tcPr>
                    <a:solidFill>
                      <a:srgbClr val="5BC8F5"/>
                    </a:solidFill>
                  </a:tcPr>
                </a:tc>
              </a:tr>
              <a:tr h="391160">
                <a:tc>
                  <a:txBody>
                    <a:bodyPr/>
                    <a:lstStyle/>
                    <a:p>
                      <a:pPr>
                        <a:spcAft>
                          <a:spcPts val="0"/>
                        </a:spcAft>
                      </a:pPr>
                      <a:r>
                        <a:rPr sz="1200">
                          <a:solidFill>
                            <a:srgbClr val="F27A7A"/>
                          </a:solidFill>
                          <a:latin typeface="Segoe UI"/>
                        </a:rPr>
                        <a:t>Raw graded reward (not a binary gate)</a:t>
                      </a:r>
                    </a:p>
                  </a:txBody>
                  <a:tcPr>
                    <a:solidFill>
                      <a:srgbClr val="1A1F27"/>
                    </a:solidFill>
                  </a:tcPr>
                </a:tc>
                <a:tc>
                  <a:txBody>
                    <a:bodyPr/>
                    <a:lstStyle/>
                    <a:p>
                      <a:pPr>
                        <a:spcAft>
                          <a:spcPts val="0"/>
                        </a:spcAft>
                      </a:pPr>
                      <a:r>
                        <a:rPr sz="1200">
                          <a:solidFill>
                            <a:srgbClr val="F27A7A"/>
                          </a:solidFill>
                          <a:latin typeface="Segoe UI"/>
                        </a:rPr>
                        <a:t>paid ~0.5 for confident wrongness</a:t>
                      </a:r>
                    </a:p>
                  </a:txBody>
                  <a:tcPr>
                    <a:solidFill>
                      <a:srgbClr val="1A1F27"/>
                    </a:solidFill>
                  </a:tcPr>
                </a:tc>
              </a:tr>
              <a:tr h="391160">
                <a:tc>
                  <a:txBody>
                    <a:bodyPr/>
                    <a:lstStyle/>
                    <a:p>
                      <a:pPr>
                        <a:spcAft>
                          <a:spcPts val="0"/>
                        </a:spcAft>
                      </a:pPr>
                      <a:r>
                        <a:rPr sz="1200">
                          <a:solidFill>
                            <a:srgbClr val="F27A7A"/>
                          </a:solidFill>
                          <a:latin typeface="Segoe UI"/>
                        </a:rPr>
                        <a:t>ONE RL run for three sequential lifts</a:t>
                      </a:r>
                    </a:p>
                  </a:txBody>
                  <a:tcPr>
                    <a:solidFill>
                      <a:srgbClr val="212731"/>
                    </a:solidFill>
                  </a:tcPr>
                </a:tc>
                <a:tc>
                  <a:txBody>
                    <a:bodyPr/>
                    <a:lstStyle/>
                    <a:p>
                      <a:pPr>
                        <a:spcAft>
                          <a:spcPts val="0"/>
                        </a:spcAft>
                      </a:pPr>
                      <a:r>
                        <a:rPr sz="1200">
                          <a:solidFill>
                            <a:srgbClr val="F27A7A"/>
                          </a:solidFill>
                          <a:latin typeface="Segoe UI"/>
                        </a:rPr>
                        <a:t>17 trials; ceiling of ONE, none reached two</a:t>
                      </a:r>
                    </a:p>
                  </a:txBody>
                  <a:tcPr>
                    <a:solidFill>
                      <a:srgbClr val="212731"/>
                    </a:solidFill>
                  </a:tcPr>
                </a:tc>
              </a:tr>
              <a:tr h="391160">
                <a:tc>
                  <a:txBody>
                    <a:bodyPr/>
                    <a:lstStyle/>
                    <a:p>
                      <a:pPr>
                        <a:spcAft>
                          <a:spcPts val="0"/>
                        </a:spcAft>
                      </a:pPr>
                      <a:r>
                        <a:rPr sz="1200">
                          <a:solidFill>
                            <a:srgbClr val="F27A7A"/>
                          </a:solidFill>
                          <a:latin typeface="Segoe UI"/>
                        </a:rPr>
                        <a:t>RL beta 0.10 at lr 1e-4</a:t>
                      </a:r>
                    </a:p>
                  </a:txBody>
                  <a:tcPr>
                    <a:solidFill>
                      <a:srgbClr val="1A1F27"/>
                    </a:solidFill>
                  </a:tcPr>
                </a:tc>
                <a:tc>
                  <a:txBody>
                    <a:bodyPr/>
                    <a:lstStyle/>
                    <a:p>
                      <a:pPr>
                        <a:spcAft>
                          <a:spcPts val="0"/>
                        </a:spcAft>
                      </a:pPr>
                      <a:r>
                        <a:rPr sz="1200">
                          <a:solidFill>
                            <a:srgbClr val="F27A7A"/>
                          </a:solidFill>
                          <a:latin typeface="Segoe UI"/>
                        </a:rPr>
                        <a:t>rise then crash, 3 independent collapses</a:t>
                      </a:r>
                    </a:p>
                  </a:txBody>
                  <a:tcPr>
                    <a:solidFill>
                      <a:srgbClr val="1A1F27"/>
                    </a:solidFill>
                  </a:tcPr>
                </a:tc>
              </a:tr>
              <a:tr h="391160">
                <a:tc>
                  <a:txBody>
                    <a:bodyPr/>
                    <a:lstStyle/>
                    <a:p>
                      <a:pPr>
                        <a:spcAft>
                          <a:spcPts val="0"/>
                        </a:spcAft>
                      </a:pPr>
                      <a:r>
                        <a:rPr sz="1200">
                          <a:solidFill>
                            <a:srgbClr val="F27A7A"/>
                          </a:solidFill>
                          <a:latin typeface="Segoe UI"/>
                        </a:rPr>
                        <a:t>RL lr 5e-5 / 1e-4</a:t>
                      </a:r>
                    </a:p>
                  </a:txBody>
                  <a:tcPr>
                    <a:solidFill>
                      <a:srgbClr val="212731"/>
                    </a:solidFill>
                  </a:tcPr>
                </a:tc>
                <a:tc>
                  <a:txBody>
                    <a:bodyPr/>
                    <a:lstStyle/>
                    <a:p>
                      <a:pPr>
                        <a:spcAft>
                          <a:spcPts val="0"/>
                        </a:spcAft>
                      </a:pPr>
                      <a:r>
                        <a:rPr sz="1200">
                          <a:solidFill>
                            <a:srgbClr val="F27A7A"/>
                          </a:solidFill>
                          <a:latin typeface="Segoe UI"/>
                        </a:rPr>
                        <a:t>0.398 / 0.387 — both beaten by 3e-5</a:t>
                      </a:r>
                    </a:p>
                  </a:txBody>
                  <a:tcPr>
                    <a:solidFill>
                      <a:srgbClr val="212731"/>
                    </a:solidFill>
                  </a:tcPr>
                </a:tc>
              </a:tr>
              <a:tr h="391160">
                <a:tc>
                  <a:txBody>
                    <a:bodyPr/>
                    <a:lstStyle/>
                    <a:p>
                      <a:pPr>
                        <a:spcAft>
                          <a:spcPts val="0"/>
                        </a:spcAft>
                      </a:pPr>
                      <a:r>
                        <a:rPr sz="1200">
                          <a:solidFill>
                            <a:srgbClr val="F27A7A"/>
                          </a:solidFill>
                          <a:latin typeface="Segoe UI"/>
                        </a:rPr>
                        <a:t>Replay: fixed band around the threshold</a:t>
                      </a:r>
                    </a:p>
                  </a:txBody>
                  <a:tcPr>
                    <a:solidFill>
                      <a:srgbClr val="1A1F27"/>
                    </a:solidFill>
                  </a:tcPr>
                </a:tc>
                <a:tc>
                  <a:txBody>
                    <a:bodyPr/>
                    <a:lstStyle/>
                    <a:p>
                      <a:pPr>
                        <a:spcAft>
                          <a:spcPts val="0"/>
                        </a:spcAft>
                      </a:pPr>
                      <a:r>
                        <a:rPr sz="1200">
                          <a:solidFill>
                            <a:srgbClr val="F27A7A"/>
                          </a:solidFill>
                          <a:latin typeface="Segoe UI"/>
                        </a:rPr>
                        <a:t>[0.65, 0.68] are two buckets, both WRONG</a:t>
                      </a:r>
                    </a:p>
                  </a:txBody>
                  <a:tcPr>
                    <a:solidFill>
                      <a:srgbClr val="1A1F27"/>
                    </a:solidFill>
                  </a:tcPr>
                </a:tc>
              </a:tr>
              <a:tr h="391160">
                <a:tc>
                  <a:txBody>
                    <a:bodyPr/>
                    <a:lstStyle/>
                    <a:p>
                      <a:pPr>
                        <a:spcAft>
                          <a:spcPts val="0"/>
                        </a:spcAft>
                      </a:pPr>
                      <a:r>
                        <a:rPr sz="1200">
                          <a:solidFill>
                            <a:srgbClr val="F5C56B"/>
                          </a:solidFill>
                          <a:latin typeface="Segoe UI"/>
                        </a:rPr>
                        <a:t>A 2B judge instead of 4B</a:t>
                      </a:r>
                    </a:p>
                  </a:txBody>
                  <a:tcPr>
                    <a:solidFill>
                      <a:srgbClr val="212731"/>
                    </a:solidFill>
                  </a:tcPr>
                </a:tc>
                <a:tc>
                  <a:txBody>
                    <a:bodyPr/>
                    <a:lstStyle/>
                    <a:p>
                      <a:pPr>
                        <a:spcAft>
                          <a:spcPts val="0"/>
                        </a:spcAft>
                      </a:pPr>
                      <a:r>
                        <a:rPr sz="1200">
                          <a:solidFill>
                            <a:srgbClr val="F5C56B"/>
                          </a:solidFill>
                          <a:latin typeface="Segoe UI"/>
                        </a:rPr>
                        <a:t>accepted 3 of 12 fluent-but-wrong decoys</a:t>
                      </a:r>
                    </a:p>
                  </a:txBody>
                  <a:tcPr>
                    <a:solidFill>
                      <a:srgbClr val="212731"/>
                    </a:solidFill>
                  </a:tcPr>
                </a:tc>
              </a:tr>
              <a:tr h="391160">
                <a:tc>
                  <a:txBody>
                    <a:bodyPr/>
                    <a:lstStyle/>
                    <a:p>
                      <a:pPr>
                        <a:spcAft>
                          <a:spcPts val="0"/>
                        </a:spcAft>
                      </a:pPr>
                      <a:r>
                        <a:rPr sz="1200">
                          <a:solidFill>
                            <a:srgbClr val="F5C56B"/>
                          </a:solidFill>
                          <a:latin typeface="Segoe UI"/>
                        </a:rPr>
                        <a:t>macroF1 as the injection objective</a:t>
                      </a:r>
                    </a:p>
                  </a:txBody>
                  <a:tcPr>
                    <a:solidFill>
                      <a:srgbClr val="1A1F27"/>
                    </a:solidFill>
                  </a:tcPr>
                </a:tc>
                <a:tc>
                  <a:txBody>
                    <a:bodyPr/>
                    <a:lstStyle/>
                    <a:p>
                      <a:pPr>
                        <a:spcAft>
                          <a:spcPts val="0"/>
                        </a:spcAft>
                      </a:pPr>
                      <a:r>
                        <a:rPr sz="1200">
                          <a:solidFill>
                            <a:srgbClr val="F5C56B"/>
                          </a:solidFill>
                          <a:latin typeface="Segoe UI"/>
                        </a:rPr>
                        <a:t>inflated by abstention, not knowledge</a:t>
                      </a:r>
                    </a:p>
                  </a:txBody>
                  <a:tcPr>
                    <a:solidFill>
                      <a:srgbClr val="1A1F27"/>
                    </a:solidFill>
                  </a:tcPr>
                </a:tc>
              </a:tr>
              <a:tr h="391160">
                <a:tc>
                  <a:txBody>
                    <a:bodyPr/>
                    <a:lstStyle/>
                    <a:p>
                      <a:pPr>
                        <a:spcAft>
                          <a:spcPts val="0"/>
                        </a:spcAft>
                      </a:pPr>
                      <a:r>
                        <a:rPr sz="1200">
                          <a:solidFill>
                            <a:srgbClr val="F5C56B"/>
                          </a:solidFill>
                          <a:latin typeface="Segoe UI"/>
                        </a:rPr>
                        <a:t>fp16 GradScaler at the 65536 default</a:t>
                      </a:r>
                    </a:p>
                  </a:txBody>
                  <a:tcPr>
                    <a:solidFill>
                      <a:srgbClr val="212731"/>
                    </a:solidFill>
                  </a:tcPr>
                </a:tc>
                <a:tc>
                  <a:txBody>
                    <a:bodyPr/>
                    <a:lstStyle/>
                    <a:p>
                      <a:pPr>
                        <a:spcAft>
                          <a:spcPts val="0"/>
                        </a:spcAft>
                      </a:pPr>
                      <a:r>
                        <a:rPr sz="1200">
                          <a:solidFill>
                            <a:srgbClr val="F5C56B"/>
                          </a:solidFill>
                          <a:latin typeface="Segoe UI"/>
                        </a:rPr>
                        <a:t>silently ZEROED training (max|B| 1.2e-05)</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 wrong instrument is indistinguishable from a wrong method — three of these were measurement, not modelling.</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PATH THAT WORKED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1.  FULL-PARAMETER SFT — 3 epochs, lr 1e-5, completion-only loss.</a:t>
            </a:r>
          </a:p>
          <a:p>
            <a:pPr>
              <a:spcAft>
                <a:spcPts val="400"/>
              </a:spcAft>
            </a:pPr>
            <a:r>
              <a:rPr sz="1500" b="0">
                <a:solidFill>
                  <a:srgbClr val="9AA6B4"/>
                </a:solidFill>
                <a:latin typeface="Segoe UI"/>
              </a:rPr>
              <a:t>     Adapters deposit knowledge but it does not survive RL. Full-param does.</a:t>
            </a:r>
          </a:p>
          <a:p>
            <a:pPr>
              <a:spcAft>
                <a:spcPts val="900"/>
              </a:spcAft>
            </a:pPr>
            <a:r>
              <a:rPr sz="1800" b="1">
                <a:solidFill>
                  <a:srgbClr val="6ED38A"/>
                </a:solidFill>
                <a:latin typeface="Segoe UI"/>
              </a:rPr>
              <a:t>2.  ONE full-param RL pass — GRPO, reward scaling off, flashcard prompt picks.</a:t>
            </a:r>
          </a:p>
          <a:p>
            <a:pPr>
              <a:spcAft>
                <a:spcPts val="400"/>
              </a:spcAft>
            </a:pPr>
            <a:r>
              <a:rPr sz="1500" b="0">
                <a:solidFill>
                  <a:srgbClr val="9AA6B4"/>
                </a:solidFill>
                <a:latin typeface="Segoe UI"/>
              </a:rPr>
              <a:t>     Second on-policy passes REGRESSED in six lineages; one pass consolidates.</a:t>
            </a:r>
          </a:p>
          <a:p>
            <a:pPr>
              <a:spcAft>
                <a:spcPts val="900"/>
              </a:spcAft>
            </a:pPr>
            <a:r>
              <a:rPr sz="1800" b="1">
                <a:solidFill>
                  <a:srgbClr val="6ED38A"/>
                </a:solidFill>
                <a:latin typeface="Segoe UI"/>
              </a:rPr>
              <a:t>3.  BINARY GATE reward at 0.70, plus a zero-sum brevity term,</a:t>
            </a:r>
          </a:p>
          <a:p>
            <a:pPr>
              <a:spcAft>
                <a:spcPts val="400"/>
              </a:spcAft>
            </a:pPr>
            <a:r>
              <a:rPr sz="1500" b="0">
                <a:solidFill>
                  <a:srgbClr val="9AA6B4"/>
                </a:solidFill>
                <a:latin typeface="Segoe UI"/>
              </a:rPr>
              <a:t>     judged by a 4B model applying a WRITTEN rubric, one call per answer.</a:t>
            </a:r>
          </a:p>
          <a:p>
            <a:pPr>
              <a:spcAft>
                <a:spcPts val="900"/>
              </a:spcAft>
            </a:pPr>
            <a:r>
              <a:rPr sz="1800" b="1">
                <a:solidFill>
                  <a:srgbClr val="6ED38A"/>
                </a:solidFill>
                <a:latin typeface="Segoe UI"/>
              </a:rPr>
              <a:t>4.  Threshold-spanning replay — train the boundary, not the settled.</a:t>
            </a:r>
          </a:p>
          <a:p>
            <a:pPr>
              <a:spcAft>
                <a:spcPts val="900"/>
              </a:spcAft>
            </a:pPr>
            <a:r>
              <a:rPr sz="1800" b="1">
                <a:solidFill>
                  <a:srgbClr val="6ED38A"/>
                </a:solidFill>
                <a:latin typeface="Segoe UI"/>
              </a:rPr>
              <a:t>5.  SHARPEN OFFLINE: harvest the model's own k=8 samples,</a:t>
            </a:r>
          </a:p>
          <a:p>
            <a:pPr>
              <a:spcAft>
                <a:spcPts val="400"/>
              </a:spcAft>
            </a:pPr>
            <a:r>
              <a:rPr sz="1500" b="0">
                <a:solidFill>
                  <a:srgbClr val="9AA6B4"/>
                </a:solidFill>
                <a:latin typeface="Segoe UI"/>
              </a:rPr>
              <a:t>     24 judge-picked pairs, 5 minutes of IPO, merge. No second RL pass.</a:t>
            </a:r>
          </a:p>
          <a:p>
            <a:pPr>
              <a:spcAft>
                <a:spcPts val="900"/>
              </a:spcAft>
            </a:pPr>
            <a:r>
              <a:rPr sz="1800" b="1">
                <a:solidFill>
                  <a:srgbClr val="6ED38A"/>
                </a:solidFill>
                <a:latin typeface="Segoe UI"/>
              </a:rPr>
              <a:t>base 4  →  best trained 8   of 16, on the locked scoring mechanism.</a:t>
            </a:r>
          </a:p>
          <a:p>
            <a:pPr>
              <a:spcAft>
                <a:spcPts val="400"/>
              </a:spcAft>
            </a:pPr>
            <a:r>
              <a:rPr sz="1500" b="0">
                <a:solidFill>
                  <a:srgbClr val="9AA6B4"/>
                </a:solidFill>
                <a:latin typeface="Segoe UI"/>
              </a:rPr>
              <a:t>     The end-to-end lift is the result; the method ranking is not resolvable.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we got here: we kept walking UPSTREAM</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Nobody planned this order. Each stage failed and sent us one step earlier.</a:t>
            </a:r>
          </a:p>
          <a:p>
            <a:pPr>
              <a:spcAft>
                <a:spcPts val="900"/>
              </a:spcAft>
            </a:pPr>
            <a:r>
              <a:rPr sz="1800" b="1">
                <a:solidFill>
                  <a:srgbClr val="5BC8F5"/>
                </a:solidFill>
                <a:latin typeface="Segoe UI"/>
              </a:rPr>
              <a:t>STARTED AT RL — sharpen what the model already knows. It sharpened nothing,</a:t>
            </a:r>
          </a:p>
          <a:p>
            <a:pPr>
              <a:spcAft>
                <a:spcPts val="400"/>
              </a:spcAft>
            </a:pPr>
            <a:r>
              <a:rPr sz="1500" b="0">
                <a:solidFill>
                  <a:srgbClr val="9AA6B4"/>
                </a:solidFill>
                <a:latin typeface="Segoe UI"/>
              </a:rPr>
              <a:t>     because there was nothing in there to sharpen. Go upstream.</a:t>
            </a:r>
          </a:p>
          <a:p>
            <a:pPr>
              <a:spcAft>
                <a:spcPts val="900"/>
              </a:spcAft>
            </a:pPr>
            <a:r>
              <a:rPr sz="1800" b="1">
                <a:solidFill>
                  <a:srgbClr val="5BC8F5"/>
                </a:solidFill>
                <a:latin typeface="Segoe UI"/>
              </a:rPr>
              <a:t>THEN SFT — and here we got bitten. LoRA SFT deposits the knowledge, then RL</a:t>
            </a:r>
          </a:p>
          <a:p>
            <a:pPr>
              <a:spcAft>
                <a:spcPts val="400"/>
              </a:spcAft>
            </a:pPr>
            <a:r>
              <a:rPr sz="1500" b="0">
                <a:solidFill>
                  <a:srgbClr val="9AA6B4"/>
                </a:solidFill>
                <a:latin typeface="Segoe UI"/>
              </a:rPr>
              <a:t>     on top DESTROYS it (0.327 → 0.170). Switched to full-parameter SFT; it holds</a:t>
            </a:r>
          </a:p>
          <a:p>
            <a:pPr>
              <a:spcAft>
                <a:spcPts val="400"/>
              </a:spcAft>
            </a:pPr>
            <a:r>
              <a:rPr sz="1500" b="0">
                <a:solidFill>
                  <a:srgbClr val="9AA6B4"/>
                </a:solidFill>
                <a:latin typeface="Segoe UI"/>
              </a:rPr>
              <a:t>     and improves under RL (0.420 → 0.548). The most transferable thing we learned.</a:t>
            </a:r>
          </a:p>
          <a:p>
            <a:pPr>
              <a:spcAft>
                <a:spcPts val="900"/>
              </a:spcAft>
            </a:pPr>
            <a:r>
              <a:rPr sz="1800" b="1">
                <a:solidFill>
                  <a:srgbClr val="F5C56B"/>
                </a:solidFill>
                <a:latin typeface="Segoe UI"/>
              </a:rPr>
              <a:t>THEN CPT — the next step upstream, and we have NOT found a path. Three learning</a:t>
            </a:r>
          </a:p>
          <a:p>
            <a:pPr>
              <a:spcAft>
                <a:spcPts val="400"/>
              </a:spcAft>
            </a:pPr>
            <a:r>
              <a:rPr sz="1500" b="0">
                <a:solidFill>
                  <a:srgbClr val="9AA6B4"/>
                </a:solidFill>
                <a:latin typeface="Segoe UI"/>
              </a:rPr>
              <a:t>     rates: flat, flat, collapse. No usable domain signal in next-token loss here.</a:t>
            </a:r>
          </a:p>
          <a:p>
            <a:pPr>
              <a:spcAft>
                <a:spcPts val="400"/>
              </a:spcAft>
            </a:pPr>
            <a:r>
              <a:rPr sz="1500" b="0">
                <a:solidFill>
                  <a:srgbClr val="9AA6B4"/>
                </a:solidFill>
                <a:latin typeface="Segoe UI"/>
              </a:rPr>
              <a:t>     Measured and dispositioned, not abandoned — but not solved.</a:t>
            </a:r>
          </a:p>
          <a:p>
            <a:pPr>
              <a:spcAft>
                <a:spcPts val="900"/>
              </a:spcAft>
            </a:pPr>
            <a:r>
              <a:rPr sz="1800" b="1">
                <a:solidFill>
                  <a:srgbClr val="5BC8F5"/>
                </a:solidFill>
                <a:latin typeface="Segoe UI"/>
              </a:rPr>
              <a:t>HPO IS THE GATE, not a tuning nicety — it is what makes each of the above a</a:t>
            </a:r>
          </a:p>
          <a:p>
            <a:pPr>
              <a:spcAft>
                <a:spcPts val="400"/>
              </a:spcAft>
            </a:pPr>
            <a:r>
              <a:rPr sz="1500" b="0">
                <a:solidFill>
                  <a:srgbClr val="9AA6B4"/>
                </a:solidFill>
                <a:latin typeface="Segoe UI"/>
              </a:rPr>
              <a:t>     VERDICT rather than an opinion. NO LIFT = NO FULL: a configuration that cannot</a:t>
            </a:r>
          </a:p>
          <a:p>
            <a:pPr>
              <a:spcAft>
                <a:spcPts val="400"/>
              </a:spcAft>
            </a:pPr>
            <a:r>
              <a:rPr sz="1500" b="0">
                <a:solidFill>
                  <a:srgbClr val="9AA6B4"/>
                </a:solidFill>
                <a:latin typeface="Segoe UI"/>
              </a:rPr>
              <a:t>     show lift in a short search never earns a multi-hour run. It stopped CPT. RL</a:t>
            </a:r>
          </a:p>
          <a:p>
            <a:pPr>
              <a:spcAft>
                <a:spcPts val="400"/>
              </a:spcAft>
            </a:pPr>
            <a:r>
              <a:rPr sz="1500" b="0">
                <a:solidFill>
                  <a:srgbClr val="9AA6B4"/>
                </a:solidFill>
                <a:latin typeface="Segoe UI"/>
              </a:rPr>
              <a:t>     passed it 17 trials deep, and the ceiling it found — one climb, never two —</a:t>
            </a:r>
          </a:p>
          <a:p>
            <a:pPr>
              <a:spcAft>
                <a:spcPts val="400"/>
              </a:spcAft>
            </a:pPr>
            <a:r>
              <a:rPr sz="1500" b="0">
                <a:solidFill>
                  <a:srgbClr val="9AA6B4"/>
                </a:solidFill>
                <a:latin typeface="Segoe UI"/>
              </a:rPr>
              <a:t>     is what told us to CHAIN runs rather than keep tuning.</a:t>
            </a:r>
          </a:p>
          <a:p>
            <a:pPr>
              <a:spcAft>
                <a:spcPts val="900"/>
              </a:spcAft>
            </a:pPr>
            <a:r>
              <a:rPr sz="1800" b="1">
                <a:solidFill>
                  <a:srgbClr val="F5C56B"/>
                </a:solidFill>
                <a:latin typeface="Segoe UI"/>
              </a:rPr>
              <a:t>LIMITATION on that ceiling: the 17 trials DID NOT MERGE adapters. mgpo.py has</a:t>
            </a:r>
          </a:p>
          <a:p>
            <a:pPr>
              <a:spcAft>
                <a:spcPts val="400"/>
              </a:spcAft>
            </a:pPr>
            <a:r>
              <a:rPr sz="1500" b="0">
                <a:solidFill>
                  <a:srgbClr val="9AA6B4"/>
                </a:solidFill>
                <a:latin typeface="Segoe UI"/>
              </a:rPr>
              <a:t>     no merge step, so HPO searched the UNMERGED single-run setting — exactly where</a:t>
            </a:r>
          </a:p>
          <a:p>
            <a:pPr>
              <a:spcAft>
                <a:spcPts val="400"/>
              </a:spcAft>
            </a:pPr>
            <a:r>
              <a:rPr sz="1500" b="0">
                <a:solidFill>
                  <a:srgbClr val="9AA6B4"/>
                </a:solidFill>
                <a:latin typeface="Segoe UI"/>
              </a:rPr>
              <a:t>     one-climb-then-plateau is expected. Merging-inside-the-search is UNTESTED.</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POSTSCRIPT — full-parameter RL, run to a playbook: 9 of 16</a:t>
            </a:r>
          </a:p>
        </p:txBody>
      </p:sp>
      <p:graphicFrame>
        <p:nvGraphicFramePr>
          <p:cNvPr id="4" name="Table 3"/>
          <p:cNvGraphicFramePr>
            <a:graphicFrameLocks noGrp="1"/>
          </p:cNvGraphicFramePr>
          <p:nvPr/>
        </p:nvGraphicFramePr>
        <p:xfrm>
          <a:off x="868680" y="1463040"/>
          <a:ext cx="10424160" cy="2788920"/>
        </p:xfrm>
        <a:graphic>
          <a:graphicData uri="http://schemas.openxmlformats.org/drawingml/2006/table">
            <a:tbl>
              <a:tblPr>
                <a:tableStyleId>{5C22544A-7EE6-4342-B048-85BDC9FD1C3A}</a:tableStyleId>
              </a:tblPr>
              <a:tblGrid>
                <a:gridCol w="5212080"/>
                <a:gridCol w="5212080"/>
              </a:tblGrid>
              <a:tr h="398417">
                <a:tc>
                  <a:txBody>
                    <a:bodyPr/>
                    <a:lstStyle/>
                    <a:p>
                      <a:pPr>
                        <a:spcAft>
                          <a:spcPts val="0"/>
                        </a:spcAft>
                      </a:pPr>
                      <a:r>
                        <a:rPr sz="1300" b="1">
                          <a:solidFill>
                            <a:srgbClr val="12161C"/>
                          </a:solidFill>
                          <a:latin typeface="Segoe UI"/>
                        </a:rPr>
                        <a:t>checkpoint</a:t>
                      </a:r>
                    </a:p>
                  </a:txBody>
                  <a:tcPr>
                    <a:solidFill>
                      <a:srgbClr val="5BC8F5"/>
                    </a:solidFill>
                  </a:tcPr>
                </a:tc>
                <a:tc>
                  <a:txBody>
                    <a:bodyPr/>
                    <a:lstStyle/>
                    <a:p>
                      <a:pPr>
                        <a:spcAft>
                          <a:spcPts val="0"/>
                        </a:spcAft>
                      </a:pPr>
                      <a:r>
                        <a:rPr sz="1300" b="1">
                          <a:solidFill>
                            <a:srgbClr val="12161C"/>
                          </a:solidFill>
                          <a:latin typeface="Segoe UI"/>
                        </a:rPr>
                        <a:t>correct / 16</a:t>
                      </a:r>
                    </a:p>
                  </a:txBody>
                  <a:tcPr>
                    <a:solidFill>
                      <a:srgbClr val="5BC8F5"/>
                    </a:solidFill>
                  </a:tcPr>
                </a:tc>
              </a:tr>
              <a:tr h="398417">
                <a:tc>
                  <a:txBody>
                    <a:bodyPr/>
                    <a:lstStyle/>
                    <a:p>
                      <a:pPr>
                        <a:spcAft>
                          <a:spcPts val="0"/>
                        </a:spcAft>
                      </a:pPr>
                      <a:r>
                        <a:rPr sz="1200">
                          <a:solidFill>
                            <a:srgbClr val="E8ECF1"/>
                          </a:solidFill>
                          <a:latin typeface="Segoe UI"/>
                        </a:rPr>
                        <a:t>base</a:t>
                      </a:r>
                    </a:p>
                  </a:txBody>
                  <a:tcPr>
                    <a:solidFill>
                      <a:srgbClr val="1A1F27"/>
                    </a:solidFill>
                  </a:tcPr>
                </a:tc>
                <a:tc>
                  <a:txBody>
                    <a:bodyPr/>
                    <a:lstStyle/>
                    <a:p>
                      <a:pPr>
                        <a:spcAft>
                          <a:spcPts val="0"/>
                        </a:spcAft>
                      </a:pPr>
                      <a:r>
                        <a:rPr sz="1200">
                          <a:solidFill>
                            <a:srgbClr val="E8ECF1"/>
                          </a:solidFill>
                          <a:latin typeface="Segoe UI"/>
                        </a:rPr>
                        <a:t>3</a:t>
                      </a:r>
                    </a:p>
                  </a:txBody>
                  <a:tcPr>
                    <a:solidFill>
                      <a:srgbClr val="1A1F27"/>
                    </a:solidFill>
                  </a:tcPr>
                </a:tc>
              </a:tr>
              <a:tr h="398417">
                <a:tc>
                  <a:txBody>
                    <a:bodyPr/>
                    <a:lstStyle/>
                    <a:p>
                      <a:pPr>
                        <a:spcAft>
                          <a:spcPts val="0"/>
                        </a:spcAft>
                      </a:pPr>
                      <a:r>
                        <a:rPr sz="1200">
                          <a:solidFill>
                            <a:srgbClr val="E8ECF1"/>
                          </a:solidFill>
                          <a:latin typeface="Segoe UI"/>
                        </a:rPr>
                        <a:t>SFT epoch 3</a:t>
                      </a:r>
                    </a:p>
                  </a:txBody>
                  <a:tcPr>
                    <a:solidFill>
                      <a:srgbClr val="212731"/>
                    </a:solidFill>
                  </a:tcPr>
                </a:tc>
                <a:tc>
                  <a:txBody>
                    <a:bodyPr/>
                    <a:lstStyle/>
                    <a:p>
                      <a:pPr>
                        <a:spcAft>
                          <a:spcPts val="0"/>
                        </a:spcAft>
                      </a:pPr>
                      <a:r>
                        <a:rPr sz="1200">
                          <a:solidFill>
                            <a:srgbClr val="E8ECF1"/>
                          </a:solidFill>
                          <a:latin typeface="Segoe UI"/>
                        </a:rPr>
                        <a:t>4</a:t>
                      </a:r>
                    </a:p>
                  </a:txBody>
                  <a:tcPr>
                    <a:solidFill>
                      <a:srgbClr val="212731"/>
                    </a:solidFill>
                  </a:tcPr>
                </a:tc>
              </a:tr>
              <a:tr h="398417">
                <a:tc>
                  <a:txBody>
                    <a:bodyPr/>
                    <a:lstStyle/>
                    <a:p>
                      <a:pPr>
                        <a:spcAft>
                          <a:spcPts val="0"/>
                        </a:spcAft>
                      </a:pPr>
                      <a:r>
                        <a:rPr sz="1200">
                          <a:solidFill>
                            <a:srgbClr val="E8ECF1"/>
                          </a:solidFill>
                          <a:latin typeface="Segoe UI"/>
                        </a:rPr>
                        <a:t>full-param RL pass 1</a:t>
                      </a:r>
                    </a:p>
                  </a:txBody>
                  <a:tcPr>
                    <a:solidFill>
                      <a:srgbClr val="1A1F27"/>
                    </a:solidFill>
                  </a:tcPr>
                </a:tc>
                <a:tc>
                  <a:txBody>
                    <a:bodyPr/>
                    <a:lstStyle/>
                    <a:p>
                      <a:pPr>
                        <a:spcAft>
                          <a:spcPts val="0"/>
                        </a:spcAft>
                      </a:pPr>
                      <a:r>
                        <a:rPr sz="1200">
                          <a:solidFill>
                            <a:srgbClr val="E8ECF1"/>
                          </a:solidFill>
                          <a:latin typeface="Segoe UI"/>
                        </a:rPr>
                        <a:t>3</a:t>
                      </a:r>
                    </a:p>
                  </a:txBody>
                  <a:tcPr>
                    <a:solidFill>
                      <a:srgbClr val="1A1F27"/>
                    </a:solidFill>
                  </a:tcPr>
                </a:tc>
              </a:tr>
              <a:tr h="398417">
                <a:tc>
                  <a:txBody>
                    <a:bodyPr/>
                    <a:lstStyle/>
                    <a:p>
                      <a:pPr>
                        <a:spcAft>
                          <a:spcPts val="0"/>
                        </a:spcAft>
                      </a:pPr>
                      <a:r>
                        <a:rPr sz="1200">
                          <a:solidFill>
                            <a:srgbClr val="E8ECF1"/>
                          </a:solidFill>
                          <a:latin typeface="Segoe UI"/>
                        </a:rPr>
                        <a:t>full-param RL pass 2</a:t>
                      </a:r>
                    </a:p>
                  </a:txBody>
                  <a:tcPr>
                    <a:solidFill>
                      <a:srgbClr val="212731"/>
                    </a:solidFill>
                  </a:tcPr>
                </a:tc>
                <a:tc>
                  <a:txBody>
                    <a:bodyPr/>
                    <a:lstStyle/>
                    <a:p>
                      <a:pPr>
                        <a:spcAft>
                          <a:spcPts val="0"/>
                        </a:spcAft>
                      </a:pPr>
                      <a:r>
                        <a:rPr sz="1200">
                          <a:solidFill>
                            <a:srgbClr val="E8ECF1"/>
                          </a:solidFill>
                          <a:latin typeface="Segoe UI"/>
                        </a:rPr>
                        <a:t>9</a:t>
                      </a:r>
                    </a:p>
                  </a:txBody>
                  <a:tcPr>
                    <a:solidFill>
                      <a:srgbClr val="212731"/>
                    </a:solidFill>
                  </a:tcPr>
                </a:tc>
              </a:tr>
              <a:tr h="398417">
                <a:tc>
                  <a:txBody>
                    <a:bodyPr/>
                    <a:lstStyle/>
                    <a:p>
                      <a:pPr>
                        <a:spcAft>
                          <a:spcPts val="0"/>
                        </a:spcAft>
                      </a:pPr>
                      <a:r>
                        <a:rPr sz="1200">
                          <a:solidFill>
                            <a:srgbClr val="E8ECF1"/>
                          </a:solidFill>
                          <a:latin typeface="Segoe UI"/>
                        </a:rPr>
                        <a:t>full-param RL pass 3</a:t>
                      </a:r>
                    </a:p>
                  </a:txBody>
                  <a:tcPr>
                    <a:solidFill>
                      <a:srgbClr val="1A1F27"/>
                    </a:solidFill>
                  </a:tcPr>
                </a:tc>
                <a:tc>
                  <a:txBody>
                    <a:bodyPr/>
                    <a:lstStyle/>
                    <a:p>
                      <a:pPr>
                        <a:spcAft>
                          <a:spcPts val="0"/>
                        </a:spcAft>
                      </a:pPr>
                      <a:r>
                        <a:rPr sz="1200">
                          <a:solidFill>
                            <a:srgbClr val="E8ECF1"/>
                          </a:solidFill>
                          <a:latin typeface="Segoe UI"/>
                        </a:rPr>
                        <a:t>4   (plateau)</a:t>
                      </a:r>
                    </a:p>
                  </a:txBody>
                  <a:tcPr>
                    <a:solidFill>
                      <a:srgbClr val="1A1F27"/>
                    </a:solidFill>
                  </a:tcPr>
                </a:tc>
              </a:tr>
              <a:tr h="398418">
                <a:tc>
                  <a:txBody>
                    <a:bodyPr/>
                    <a:lstStyle/>
                    <a:p>
                      <a:pPr>
                        <a:spcAft>
                          <a:spcPts val="0"/>
                        </a:spcAft>
                      </a:pPr>
                      <a:r>
                        <a:rPr sz="1200">
                          <a:solidFill>
                            <a:srgbClr val="E8ECF1"/>
                          </a:solidFill>
                          <a:latin typeface="Segoe UI"/>
                        </a:rPr>
                        <a:t>LoRA chain (reference)</a:t>
                      </a:r>
                    </a:p>
                  </a:txBody>
                  <a:tcPr>
                    <a:solidFill>
                      <a:srgbClr val="212731"/>
                    </a:solidFill>
                  </a:tcPr>
                </a:tc>
                <a:tc>
                  <a:txBody>
                    <a:bodyPr/>
                    <a:lstStyle/>
                    <a:p>
                      <a:pPr>
                        <a:spcAft>
                          <a:spcPts val="0"/>
                        </a:spcAft>
                      </a:pPr>
                      <a:r>
                        <a:rPr sz="1200">
                          <a:solidFill>
                            <a:srgbClr val="E8ECF1"/>
                          </a:solidFill>
                          <a:latin typeface="Segoe UI"/>
                        </a:rPr>
                        <a:t>6</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One judge invocation. Pre-registered bar +2 over SFT; pass 2 delivered +5 — on the complete re-judge this arm reads 9/16, the champion 10/16.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Future directions — revisit, in this order</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1. CPT AND SFT AT FULL STRENGTH. This lane ran under a pare-down: short</a:t>
            </a:r>
          </a:p>
          <a:p>
            <a:pPr>
              <a:spcAft>
                <a:spcPts val="400"/>
              </a:spcAft>
            </a:pPr>
            <a:r>
              <a:rPr sz="1500" b="0">
                <a:solidFill>
                  <a:srgbClr val="9AA6B4"/>
                </a:solidFill>
                <a:latin typeface="Segoe UI"/>
              </a:rPr>
              <a:t>     schedules, small pools. Neither stage has been given a real budget.</a:t>
            </a:r>
          </a:p>
          <a:p>
            <a:pPr>
              <a:spcAft>
                <a:spcPts val="900"/>
              </a:spcAft>
            </a:pPr>
            <a:r>
              <a:rPr sz="1800" b="1">
                <a:solidFill>
                  <a:srgbClr val="E8ECF1"/>
                </a:solidFill>
                <a:latin typeface="Segoe UI"/>
              </a:rPr>
              <a:t>2. THE ABSTENTION REGIMES — R1 / R2 / R4.</a:t>
            </a:r>
          </a:p>
          <a:p>
            <a:pPr>
              <a:spcAft>
                <a:spcPts val="400"/>
              </a:spcAft>
            </a:pPr>
            <a:r>
              <a:rPr sz="1500" b="0">
                <a:solidFill>
                  <a:srgbClr val="9AA6B4"/>
                </a:solidFill>
                <a:latin typeface="Segoe UI"/>
              </a:rPr>
              <a:t>     All the machinery is KEPT and lane-switched, not deleted: the 2B judge, the</a:t>
            </a:r>
          </a:p>
          <a:p>
            <a:pPr>
              <a:spcAft>
                <a:spcPts val="400"/>
              </a:spcAft>
            </a:pPr>
            <a:r>
              <a:rPr sz="1500" b="0">
                <a:solidFill>
                  <a:srgbClr val="9AA6B4"/>
                </a:solidFill>
                <a:latin typeface="Segoe UI"/>
              </a:rPr>
              <a:t>     VibeThinker rubric, the macroF1 patience path, the class-collapse tripwire.</a:t>
            </a:r>
          </a:p>
          <a:p>
            <a:pPr>
              <a:spcAft>
                <a:spcPts val="400"/>
              </a:spcAft>
            </a:pPr>
            <a:r>
              <a:rPr sz="1500" b="0">
                <a:solidFill>
                  <a:srgbClr val="9AA6B4"/>
                </a:solidFill>
                <a:latin typeface="Segoe UI"/>
              </a:rPr>
              <a:t>     R3 answers 'does it know'. R1/R2/R4 answer 'does it know that it knows'.</a:t>
            </a:r>
          </a:p>
          <a:p>
            <a:pPr>
              <a:spcAft>
                <a:spcPts val="900"/>
              </a:spcAft>
            </a:pPr>
            <a:r>
              <a:rPr sz="1800" b="1">
                <a:solidFill>
                  <a:srgbClr val="E8ECF1"/>
                </a:solidFill>
                <a:latin typeface="Segoe UI"/>
              </a:rPr>
              <a:t>3. MIXING BACK WITH THE ORIGINAL VIBETHINKER DATA.</a:t>
            </a:r>
          </a:p>
          <a:p>
            <a:pPr>
              <a:spcAft>
                <a:spcPts val="900"/>
              </a:spcAft>
            </a:pPr>
            <a:r>
              <a:rPr sz="1800" b="1">
                <a:solidFill>
                  <a:srgbClr val="E8ECF1"/>
                </a:solidFill>
                <a:latin typeface="Segoe UI"/>
              </a:rPr>
              <a:t>4. CPT ON RAW PROSE rather than QA-shaped text — shelved by decision, not by</a:t>
            </a:r>
          </a:p>
          <a:p>
            <a:pPr>
              <a:spcAft>
                <a:spcPts val="400"/>
              </a:spcAft>
            </a:pPr>
            <a:r>
              <a:rPr sz="1500" b="0">
                <a:solidFill>
                  <a:srgbClr val="9AA6B4"/>
                </a:solidFill>
                <a:latin typeface="Segoe UI"/>
              </a:rPr>
              <a:t>     measurement. It is the one CPT variant never strictly tested.</a:t>
            </a:r>
          </a:p>
          <a:p>
            <a:pPr>
              <a:spcAft>
                <a:spcPts val="900"/>
              </a:spcAft>
            </a:pPr>
            <a:r>
              <a:rPr sz="1800" b="1">
                <a:solidFill>
                  <a:srgbClr val="6ED38A"/>
                </a:solidFill>
                <a:latin typeface="Segoe UI"/>
              </a:rPr>
              <a:t>5. FULL-PARAMETER RL — DONE 2026-09-02: playbooked campaign, 9/16, WON —</a:t>
            </a:r>
          </a:p>
          <a:p>
            <a:pPr>
              <a:spcAft>
                <a:spcPts val="400"/>
              </a:spcAft>
            </a:pPr>
            <a:r>
              <a:rPr sz="1500" b="0">
                <a:solidFill>
                  <a:srgbClr val="9AA6B4"/>
                </a:solidFill>
                <a:latin typeface="Segoe UI"/>
              </a:rPr>
              <a:t>     the one-pass + offline-IPO lane reads +1 over it, 10/16 complete.</a:t>
            </a:r>
          </a:p>
          <a:p>
            <a:pPr>
              <a:spcAft>
                <a:spcPts val="900"/>
              </a:spcAft>
            </a:pPr>
            <a:r>
              <a:rPr sz="1800" b="1">
                <a:solidFill>
                  <a:srgbClr val="E8ECF1"/>
                </a:solidFill>
                <a:latin typeface="Segoe UI"/>
              </a:rPr>
              <a:t>Also open: a larger eval. Every interval on 16 items is wide enough to hide</a:t>
            </a:r>
          </a:p>
          <a:p>
            <a:pPr>
              <a:spcAft>
                <a:spcPts val="400"/>
              </a:spcAft>
            </a:pPr>
            <a:r>
              <a:rPr sz="1500" b="0">
                <a:solidFill>
                  <a:srgbClr val="9AA6B4"/>
                </a:solidFill>
                <a:latin typeface="Segoe UI"/>
              </a:rPr>
              <a:t>     the effect size, however clear the direction is.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Checkpoints and receipts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Merged full checkpoints (D: SSD, rl_v2_runs/):</a:t>
            </a:r>
          </a:p>
          <a:p>
            <a:pPr>
              <a:spcAft>
                <a:spcPts val="400"/>
              </a:spcAft>
            </a:pPr>
            <a:r>
              <a:rPr sz="1500" b="0">
                <a:solidFill>
                  <a:srgbClr val="9AA6B4"/>
                </a:solidFill>
                <a:latin typeface="Segoe UI"/>
              </a:rPr>
              <a:t>     rl_r3_full_merged · rl_r3_chain2_merged · rl_r3_chain3_merged (chain-final)</a:t>
            </a:r>
          </a:p>
          <a:p>
            <a:pPr>
              <a:spcAft>
                <a:spcPts val="400"/>
              </a:spcAft>
            </a:pPr>
            <a:r>
              <a:rPr sz="1500" b="0">
                <a:solidFill>
                  <a:srgbClr val="9AA6B4"/>
                </a:solidFill>
                <a:latin typeface="Segoe UI"/>
              </a:rPr>
              <a:t>     Adapters: harness_runs/rl_r3_full | chain2 | chain3 / maxent</a:t>
            </a:r>
          </a:p>
          <a:p>
            <a:pPr>
              <a:spcAft>
                <a:spcPts val="400"/>
              </a:spcAft>
            </a:pPr>
            <a:r>
              <a:rPr sz="1500" b="0">
                <a:solidFill>
                  <a:srgbClr val="9AA6B4"/>
                </a:solidFill>
                <a:latin typeface="Segoe UI"/>
              </a:rPr>
              <a:t>     SFT winner: b3_sft_lr1e-5_epoch3</a:t>
            </a:r>
          </a:p>
          <a:p>
            <a:pPr>
              <a:spcAft>
                <a:spcPts val="900"/>
              </a:spcAft>
            </a:pPr>
            <a:r>
              <a:rPr sz="1800" b="1">
                <a:solidFill>
                  <a:srgbClr val="E8ECF1"/>
                </a:solidFill>
                <a:latin typeface="Segoe UI"/>
              </a:rPr>
              <a:t>Scored receipts: data/rl_full_ladder.json · data/rl_chain_ladder.json</a:t>
            </a:r>
          </a:p>
          <a:p>
            <a:pPr>
              <a:spcAft>
                <a:spcPts val="400"/>
              </a:spcAft>
            </a:pPr>
            <a:r>
              <a:rPr sz="1500" b="0">
                <a:solidFill>
                  <a:srgbClr val="9AA6B4"/>
                </a:solidFill>
                <a:latin typeface="Segoe UI"/>
              </a:rPr>
              <a:t>     Judge calibration: data/rubric_calibration.json (golds 12/12, decoys 0/12)</a:t>
            </a:r>
          </a:p>
          <a:p>
            <a:pPr>
              <a:spcAft>
                <a:spcPts val="900"/>
              </a:spcAft>
            </a:pPr>
            <a:r>
              <a:rPr sz="1800" b="1">
                <a:solidFill>
                  <a:srgbClr val="E8ECF1"/>
                </a:solidFill>
                <a:latin typeface="Segoe UI"/>
              </a:rPr>
              <a:t>Trial ledgers and mechanisms: playbook.md</a:t>
            </a:r>
          </a:p>
          <a:p>
            <a:pPr>
              <a:spcAft>
                <a:spcPts val="400"/>
              </a:spcAft>
            </a:pPr>
            <a:r>
              <a:rPr sz="1500" b="0">
                <a:solidFill>
                  <a:srgbClr val="9AA6B4"/>
                </a:solidFill>
                <a:latin typeface="Segoe UI"/>
              </a:rPr>
              <a:t>     Winning optimiser settings: optimizer settings.txt</a:t>
            </a:r>
          </a:p>
          <a:p>
            <a:pPr>
              <a:spcAft>
                <a:spcPts val="400"/>
              </a:spcAft>
            </a:pPr>
            <a:r>
              <a:rPr sz="1500" b="0">
                <a:solidFill>
                  <a:srgbClr val="9AA6B4"/>
                </a:solidFill>
                <a:latin typeface="Segoe UI"/>
              </a:rPr>
              <a:t>     Rubric: data/synthetic_domain_rubric.md (REQ-J15)</a:t>
            </a:r>
          </a:p>
          <a:p>
            <a:pPr>
              <a:spcAft>
                <a:spcPts val="900"/>
              </a:spcAft>
            </a:pPr>
            <a:r>
              <a:rPr sz="1800" b="1">
                <a:solidFill>
                  <a:srgbClr val="5BC8F5"/>
                </a:solidFill>
                <a:latin typeface="Segoe UI"/>
              </a:rPr>
              <a:t>Every number in PART FOUR traces to one of these files.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468880"/>
            <a:ext cx="10607040" cy="1737360"/>
          </a:xfrm>
          <a:prstGeom prst="rect">
            <a:avLst/>
          </a:prstGeom>
          <a:noFill/>
        </p:spPr>
        <p:txBody>
          <a:bodyPr wrap="square">
            <a:spAutoFit/>
          </a:bodyPr>
          <a:lstStyle/>
          <a:p>
            <a:pPr>
              <a:spcAft>
                <a:spcPts val="1000"/>
              </a:spcAft>
            </a:pPr>
            <a:r>
              <a:rPr sz="1300" b="1">
                <a:solidFill>
                  <a:srgbClr val="5BC8F5"/>
                </a:solidFill>
                <a:latin typeface="Segoe UI"/>
              </a:rPr>
              <a:t>APPENDIX</a:t>
            </a:r>
          </a:p>
          <a:p>
            <a:pPr>
              <a:spcAft>
                <a:spcPts val="600"/>
              </a:spcAft>
            </a:pPr>
            <a:r>
              <a:rPr sz="3400" b="1">
                <a:solidFill>
                  <a:srgbClr val="E8ECF1"/>
                </a:solidFill>
                <a:latin typeface="Segoe UI"/>
              </a:rPr>
              <a:t>The 10-minute cut, verbatim — plus its chaff</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920240"/>
            <a:ext cx="10607040" cy="2377440"/>
          </a:xfrm>
          <a:prstGeom prst="rect">
            <a:avLst/>
          </a:prstGeom>
          <a:noFill/>
        </p:spPr>
        <p:txBody>
          <a:bodyPr wrap="square">
            <a:spAutoFit/>
          </a:bodyPr>
          <a:lstStyle/>
          <a:p>
            <a:pPr>
              <a:spcAft>
                <a:spcPts val="1200"/>
              </a:spcAft>
            </a:pPr>
            <a:r>
              <a:rPr sz="4000" b="1">
                <a:solidFill>
                  <a:srgbClr val="E8ECF1"/>
                </a:solidFill>
                <a:latin typeface="Segoe UI"/>
              </a:rPr>
              <a:t>Injecting Domain Knowledge: full-parameter vs adapter</a:t>
            </a:r>
          </a:p>
          <a:p>
            <a:pPr>
              <a:spcAft>
                <a:spcPts val="2000"/>
              </a:spcAft>
            </a:pPr>
            <a:r>
              <a:rPr sz="2000" b="0">
                <a:solidFill>
                  <a:srgbClr val="5BC8F5"/>
                </a:solidFill>
                <a:latin typeface="Segoe UI"/>
              </a:rPr>
              <a:t>Get the knowledge in with full-parameter SFT; get more of it OUT with RL.</a:t>
            </a:r>
          </a:p>
          <a:p>
            <a:pPr>
              <a:spcAft>
                <a:spcPts val="600"/>
              </a:spcAft>
            </a:pPr>
            <a:r>
              <a:rPr sz="1400" b="0">
                <a:solidFill>
                  <a:srgbClr val="9AA6B4"/>
                </a:solidFill>
                <a:latin typeface="Segoe UI"/>
              </a:rPr>
              <a:t>RL_V2 · 10-minute report   ·   0.8B because that is what fit the card — size is the constraint, not the variable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result: base 4 → SFT 5 → one RL pass 9, of 16</a:t>
            </a:r>
          </a:p>
        </p:txBody>
      </p:sp>
      <p:pic>
        <p:nvPicPr>
          <p:cNvPr id="4" name="Picture 3" descr="critical_lifts.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Left: every SFT epoch and the RL checkpoint trained from it. Right: the full-coverage campaign's own readings. Every count judged 3x alone, majority vote, all 16 questions.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Every phase of every lane — one locked scoring mechanism</a:t>
            </a:r>
          </a:p>
        </p:txBody>
      </p:sp>
      <p:pic>
        <p:nvPicPr>
          <p:cNvPr id="4" name="Picture 3" descr="attempt_line.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4 → best trained 8, of 16 — and every SFT epoch, RL pass, and polish step scored by the SAME rule (data/uniform_board.json, regenerable by one command).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Training past the first pass gave questions back — three times</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what we trained</a:t>
                      </a:r>
                    </a:p>
                  </a:txBody>
                  <a:tcPr>
                    <a:solidFill>
                      <a:srgbClr val="5BC8F5"/>
                    </a:solidFill>
                  </a:tcPr>
                </a:tc>
                <a:tc>
                  <a:txBody>
                    <a:bodyPr/>
                    <a:lstStyle/>
                    <a:p>
                      <a:pPr>
                        <a:spcAft>
                          <a:spcPts val="0"/>
                        </a:spcAft>
                      </a:pPr>
                      <a:r>
                        <a:rPr sz="1300" b="1">
                          <a:solidFill>
                            <a:srgbClr val="12161C"/>
                          </a:solidFill>
                          <a:latin typeface="Segoe UI"/>
                        </a:rPr>
                        <a:t>records</a:t>
                      </a:r>
                    </a:p>
                  </a:txBody>
                  <a:tcPr>
                    <a:solidFill>
                      <a:srgbClr val="5BC8F5"/>
                    </a:solidFill>
                  </a:tcPr>
                </a:tc>
                <a:tc>
                  <a:txBody>
                    <a:bodyPr/>
                    <a:lstStyle/>
                    <a:p>
                      <a:pPr>
                        <a:spcAft>
                          <a:spcPts val="0"/>
                        </a:spcAft>
                      </a:pPr>
                      <a:r>
                        <a:rPr sz="1300" b="1">
                          <a:solidFill>
                            <a:srgbClr val="12161C"/>
                          </a:solidFill>
                          <a:latin typeface="Segoe UI"/>
                        </a:rPr>
                        <a:t>correct, of 16</a:t>
                      </a:r>
                    </a:p>
                  </a:txBody>
                  <a:tcPr>
                    <a:solidFill>
                      <a:srgbClr val="5BC8F5"/>
                    </a:solidFill>
                  </a:tcPr>
                </a:tc>
              </a:tr>
              <a:tr h="411480">
                <a:tc>
                  <a:txBody>
                    <a:bodyPr/>
                    <a:lstStyle/>
                    <a:p>
                      <a:pPr>
                        <a:spcAft>
                          <a:spcPts val="0"/>
                        </a:spcAft>
                      </a:pPr>
                      <a:r>
                        <a:rPr sz="1200">
                          <a:solidFill>
                            <a:srgbClr val="E8ECF1"/>
                          </a:solidFill>
                          <a:latin typeface="Segoe UI"/>
                        </a:rPr>
                        <a:t>one update, then stopped</a:t>
                      </a:r>
                    </a:p>
                  </a:txBody>
                  <a:tcPr>
                    <a:solidFill>
                      <a:srgbClr val="1A1F27"/>
                    </a:solidFill>
                  </a:tcPr>
                </a:tc>
                <a:tc>
                  <a:txBody>
                    <a:bodyPr/>
                    <a:lstStyle/>
                    <a:p>
                      <a:pPr>
                        <a:spcAft>
                          <a:spcPts val="0"/>
                        </a:spcAft>
                      </a:pPr>
                      <a:r>
                        <a:rPr sz="1200">
                          <a:solidFill>
                            <a:srgbClr val="E8ECF1"/>
                          </a:solidFill>
                          <a:latin typeface="Segoe UI"/>
                        </a:rPr>
                        <a:t>12</a:t>
                      </a:r>
                    </a:p>
                  </a:txBody>
                  <a:tcPr>
                    <a:solidFill>
                      <a:srgbClr val="1A1F27"/>
                    </a:solidFill>
                  </a:tcPr>
                </a:tc>
                <a:tc>
                  <a:txBody>
                    <a:bodyPr/>
                    <a:lstStyle/>
                    <a:p>
                      <a:pPr>
                        <a:spcAft>
                          <a:spcPts val="0"/>
                        </a:spcAft>
                      </a:pPr>
                      <a:r>
                        <a:rPr sz="1200">
                          <a:solidFill>
                            <a:srgbClr val="E8ECF1"/>
                          </a:solidFill>
                          <a:latin typeface="Segoe UI"/>
                        </a:rPr>
                        <a:t>4 — below SFT</a:t>
                      </a:r>
                    </a:p>
                  </a:txBody>
                  <a:tcPr>
                    <a:solidFill>
                      <a:srgbClr val="1A1F27"/>
                    </a:solidFill>
                  </a:tcPr>
                </a:tc>
              </a:tr>
              <a:tr h="411480">
                <a:tc>
                  <a:txBody>
                    <a:bodyPr/>
                    <a:lstStyle/>
                    <a:p>
                      <a:pPr>
                        <a:spcAft>
                          <a:spcPts val="0"/>
                        </a:spcAft>
                      </a:pPr>
                      <a:r>
                        <a:rPr sz="1200">
                          <a:solidFill>
                            <a:srgbClr val="E8ECF1"/>
                          </a:solidFill>
                          <a:latin typeface="Segoe UI"/>
                        </a:rPr>
                        <a:t>kept going, bigger steps</a:t>
                      </a:r>
                    </a:p>
                  </a:txBody>
                  <a:tcPr>
                    <a:solidFill>
                      <a:srgbClr val="212731"/>
                    </a:solidFill>
                  </a:tcPr>
                </a:tc>
                <a:tc>
                  <a:txBody>
                    <a:bodyPr/>
                    <a:lstStyle/>
                    <a:p>
                      <a:pPr>
                        <a:spcAft>
                          <a:spcPts val="0"/>
                        </a:spcAft>
                      </a:pPr>
                      <a:r>
                        <a:rPr sz="1200">
                          <a:solidFill>
                            <a:srgbClr val="E8ECF1"/>
                          </a:solidFill>
                          <a:latin typeface="Segoe UI"/>
                        </a:rPr>
                        <a:t>72</a:t>
                      </a:r>
                    </a:p>
                  </a:txBody>
                  <a:tcPr>
                    <a:solidFill>
                      <a:srgbClr val="212731"/>
                    </a:solidFill>
                  </a:tcPr>
                </a:tc>
                <a:tc>
                  <a:txBody>
                    <a:bodyPr/>
                    <a:lstStyle/>
                    <a:p>
                      <a:pPr>
                        <a:spcAft>
                          <a:spcPts val="0"/>
                        </a:spcAft>
                      </a:pPr>
                      <a:r>
                        <a:rPr sz="1200">
                          <a:solidFill>
                            <a:srgbClr val="E8ECF1"/>
                          </a:solidFill>
                          <a:latin typeface="Segoe UI"/>
                        </a:rPr>
                        <a:t>got worse, stopped itself</a:t>
                      </a:r>
                    </a:p>
                  </a:txBody>
                  <a:tcPr>
                    <a:solidFill>
                      <a:srgbClr val="212731"/>
                    </a:solidFill>
                  </a:tcPr>
                </a:tc>
              </a:tr>
              <a:tr h="411480">
                <a:tc>
                  <a:txBody>
                    <a:bodyPr/>
                    <a:lstStyle/>
                    <a:p>
                      <a:pPr>
                        <a:spcAft>
                          <a:spcPts val="0"/>
                        </a:spcAft>
                      </a:pPr>
                      <a:r>
                        <a:rPr sz="1200">
                          <a:solidFill>
                            <a:srgbClr val="E8ECF1"/>
                          </a:solidFill>
                          <a:latin typeface="Segoe UI"/>
                        </a:rPr>
                        <a:t>kept going, smaller steps</a:t>
                      </a:r>
                    </a:p>
                  </a:txBody>
                  <a:tcPr>
                    <a:solidFill>
                      <a:srgbClr val="1A1F27"/>
                    </a:solidFill>
                  </a:tcPr>
                </a:tc>
                <a:tc>
                  <a:txBody>
                    <a:bodyPr/>
                    <a:lstStyle/>
                    <a:p>
                      <a:pPr>
                        <a:spcAft>
                          <a:spcPts val="0"/>
                        </a:spcAft>
                      </a:pPr>
                      <a:r>
                        <a:rPr sz="1200">
                          <a:solidFill>
                            <a:srgbClr val="E8ECF1"/>
                          </a:solidFill>
                          <a:latin typeface="Segoe UI"/>
                        </a:rPr>
                        <a:t>60</a:t>
                      </a:r>
                    </a:p>
                  </a:txBody>
                  <a:tcPr>
                    <a:solidFill>
                      <a:srgbClr val="1A1F27"/>
                    </a:solidFill>
                  </a:tcPr>
                </a:tc>
                <a:tc>
                  <a:txBody>
                    <a:bodyPr/>
                    <a:lstStyle/>
                    <a:p>
                      <a:pPr>
                        <a:spcAft>
                          <a:spcPts val="0"/>
                        </a:spcAft>
                      </a:pPr>
                      <a:r>
                        <a:rPr sz="1200">
                          <a:solidFill>
                            <a:srgbClr val="E8ECF1"/>
                          </a:solidFill>
                          <a:latin typeface="Segoe UI"/>
                        </a:rPr>
                        <a:t>flat, then killed</a:t>
                      </a:r>
                    </a:p>
                  </a:txBody>
                  <a:tcPr>
                    <a:solidFill>
                      <a:srgbClr val="1A1F27"/>
                    </a:solidFill>
                  </a:tcPr>
                </a:tc>
              </a:tr>
              <a:tr h="411480">
                <a:tc>
                  <a:txBody>
                    <a:bodyPr/>
                    <a:lstStyle/>
                    <a:p>
                      <a:pPr>
                        <a:spcAft>
                          <a:spcPts val="0"/>
                        </a:spcAft>
                      </a:pPr>
                      <a:r>
                        <a:rPr sz="1200">
                          <a:solidFill>
                            <a:srgbClr val="E8ECF1"/>
                          </a:solidFill>
                          <a:latin typeface="Segoe UI"/>
                        </a:rPr>
                        <a:t>restarted from the better model</a:t>
                      </a:r>
                    </a:p>
                  </a:txBody>
                  <a:tcPr>
                    <a:solidFill>
                      <a:srgbClr val="212731"/>
                    </a:solidFill>
                  </a:tcPr>
                </a:tc>
                <a:tc>
                  <a:txBody>
                    <a:bodyPr/>
                    <a:lstStyle/>
                    <a:p>
                      <a:pPr>
                        <a:spcAft>
                          <a:spcPts val="0"/>
                        </a:spcAft>
                      </a:pPr>
                      <a:r>
                        <a:rPr sz="1200">
                          <a:solidFill>
                            <a:srgbClr val="E8ECF1"/>
                          </a:solidFill>
                          <a:latin typeface="Segoe UI"/>
                        </a:rPr>
                        <a:t>60</a:t>
                      </a:r>
                    </a:p>
                  </a:txBody>
                  <a:tcPr>
                    <a:solidFill>
                      <a:srgbClr val="212731"/>
                    </a:solidFill>
                  </a:tcPr>
                </a:tc>
                <a:tc>
                  <a:txBody>
                    <a:bodyPr/>
                    <a:lstStyle/>
                    <a:p>
                      <a:pPr>
                        <a:spcAft>
                          <a:spcPts val="0"/>
                        </a:spcAft>
                      </a:pPr>
                      <a:r>
                        <a:rPr sz="1200">
                          <a:solidFill>
                            <a:srgbClr val="E8ECF1"/>
                          </a:solidFill>
                          <a:latin typeface="Segoe UI"/>
                        </a:rPr>
                        <a:t>got worse, stopped itself</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Not one coverage run beat SFT. The 9 came from 6 records, not 240.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Sensitivity: the comparative grader's view of the same answers</a:t>
            </a:r>
          </a:p>
        </p:txBody>
      </p:sp>
      <p:pic>
        <p:nvPicPr>
          <p:cNvPr id="4" name="Picture 3" descr="method_bars_full16.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6 → best method 10, of 16. Adjacent methods differ by ~1 question — the training claim separates; the method ranking does not.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Sensitivity: the pipeline under the comparative grader</a:t>
            </a:r>
          </a:p>
        </p:txBody>
      </p:sp>
      <p:pic>
        <p:nvPicPr>
          <p:cNvPr id="4" name="Picture 3" descr="pipeline_curve.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base 7 → SFT 8 → chain 8, of 16, on the complete re-judge. Epoch 1 is a LOSS, and the stage still recovers by epoch 3.</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Can a 0.8B model HOLD novel domain knowledge in its weights?</a:t>
            </a:r>
          </a:p>
          <a:p>
            <a:pPr>
              <a:spcAft>
                <a:spcPts val="900"/>
              </a:spcAft>
            </a:pPr>
            <a:r>
              <a:rPr sz="1800" b="1">
                <a:solidFill>
                  <a:srgbClr val="E8ECF1"/>
                </a:solidFill>
                <a:latin typeface="Segoe UI"/>
              </a:rPr>
              <a:t>Scoped to SELF-SUFFICIENT questions — everything needed to answer is in</a:t>
            </a:r>
          </a:p>
          <a:p>
            <a:pPr>
              <a:spcAft>
                <a:spcPts val="400"/>
              </a:spcAft>
            </a:pPr>
            <a:r>
              <a:rPr sz="1500" b="0">
                <a:solidFill>
                  <a:srgbClr val="9AA6B4"/>
                </a:solidFill>
                <a:latin typeface="Segoe UI"/>
              </a:rPr>
              <a:t>     the question. So the answer is in the weights, or it is not.</a:t>
            </a:r>
          </a:p>
          <a:p>
            <a:pPr>
              <a:spcAft>
                <a:spcPts val="900"/>
              </a:spcAft>
            </a:pPr>
            <a:r>
              <a:rPr sz="1800" b="1">
                <a:solidFill>
                  <a:srgbClr val="E8ECF1"/>
                </a:solidFill>
                <a:latin typeface="Segoe UI"/>
              </a:rPr>
              <a:t>Domain: decision trees and ensembles.</a:t>
            </a:r>
          </a:p>
          <a:p>
            <a:pPr>
              <a:spcAft>
                <a:spcPts val="400"/>
              </a:spcAft>
            </a:pPr>
            <a:r>
              <a:rPr sz="1500" b="0">
                <a:solidFill>
                  <a:srgbClr val="9AA6B4"/>
                </a:solidFill>
                <a:latin typeface="Segoe UI"/>
              </a:rPr>
              <a:t>     240 questions · 16 frozen as the eval, never trained on</a:t>
            </a:r>
          </a:p>
          <a:p>
            <a:pPr>
              <a:spcAft>
                <a:spcPts val="900"/>
              </a:spcAft>
            </a:pPr>
            <a:r>
              <a:rPr sz="1800" b="1">
                <a:solidFill>
                  <a:srgbClr val="5BC8F5"/>
                </a:solidFill>
                <a:latin typeface="Segoe UI"/>
              </a:rPr>
              <a:t>Formulated as the course taught: at episode level a CONTEXTUAL BANDIT —</a:t>
            </a:r>
          </a:p>
          <a:p>
            <a:pPr>
              <a:spcAft>
                <a:spcPts val="400"/>
              </a:spcAft>
            </a:pPr>
            <a:r>
              <a:rPr sz="1500" b="0">
                <a:solidFill>
                  <a:srgbClr val="9AA6B4"/>
                </a:solidFill>
                <a:latin typeface="Segoe UI"/>
              </a:rPr>
              <a:t>     one answer, one terminal payout from the judge (the environment).</a:t>
            </a:r>
          </a:p>
          <a:p>
            <a:pPr>
              <a:spcAft>
                <a:spcPts val="400"/>
              </a:spcAft>
            </a:pPr>
            <a:r>
              <a:rPr sz="1500" b="0">
                <a:solidFill>
                  <a:srgbClr val="9AA6B4"/>
                </a:solidFill>
                <a:latin typeface="Segoe UI"/>
              </a:rPr>
              <a:t>     At token level an MDP: each next token a state→state decision.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trap, and the instrument built to avoid it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A model that learns to SOUND right scores the same as one that IS right.</a:t>
            </a:r>
          </a:p>
          <a:p>
            <a:pPr>
              <a:spcAft>
                <a:spcPts val="900"/>
              </a:spcAft>
            </a:pPr>
            <a:r>
              <a:rPr sz="1800" b="1">
                <a:solidFill>
                  <a:srgbClr val="E8ECF1"/>
                </a:solidFill>
                <a:latin typeface="Segoe UI"/>
              </a:rPr>
              <a:t>So the instrument is fixed BEFORE any run:</a:t>
            </a:r>
          </a:p>
          <a:p>
            <a:pPr>
              <a:spcAft>
                <a:spcPts val="400"/>
              </a:spcAft>
            </a:pPr>
            <a:r>
              <a:rPr sz="1500" b="0">
                <a:solidFill>
                  <a:srgbClr val="9AA6B4"/>
                </a:solidFill>
                <a:latin typeface="Segoe UI"/>
              </a:rPr>
              <a:t>     A 4B judge applies a written rubric, verifier-style, per category.</a:t>
            </a:r>
          </a:p>
          <a:p>
            <a:pPr>
              <a:spcAft>
                <a:spcPts val="400"/>
              </a:spcAft>
            </a:pPr>
            <a:r>
              <a:rPr sz="1500" b="0">
                <a:solidFill>
                  <a:srgbClr val="9AA6B4"/>
                </a:solidFill>
                <a:latin typeface="Segoe UI"/>
              </a:rPr>
              <a:t>     One call per answer. Correct means 0.70 or above.</a:t>
            </a:r>
          </a:p>
          <a:p>
            <a:pPr>
              <a:spcAft>
                <a:spcPts val="900"/>
              </a:spcAft>
            </a:pPr>
            <a:r>
              <a:rPr sz="1800" b="1">
                <a:solidFill>
                  <a:srgbClr val="F27A7A"/>
                </a:solidFill>
                <a:latin typeface="Segoe UI"/>
              </a:rPr>
              <a:t>A smaller 2B judge was REJECTED — it accepted 3 of 12 fluent-but-wrong</a:t>
            </a:r>
          </a:p>
          <a:p>
            <a:pPr>
              <a:spcAft>
                <a:spcPts val="400"/>
              </a:spcAft>
            </a:pPr>
            <a:r>
              <a:rPr sz="1500" b="0">
                <a:solidFill>
                  <a:srgbClr val="9AA6B4"/>
                </a:solidFill>
                <a:latin typeface="Segoe UI"/>
              </a:rPr>
              <a:t>     decoys, and RL would have optimised straight into that hole.</a:t>
            </a:r>
          </a:p>
          <a:p>
            <a:pPr>
              <a:spcAft>
                <a:spcPts val="900"/>
              </a:spcAft>
            </a:pPr>
            <a:r>
              <a:rPr sz="1800" b="1">
                <a:solidFill>
                  <a:srgbClr val="F5C56B"/>
                </a:solidFill>
                <a:latin typeface="Segoe UI"/>
              </a:rPr>
              <a:t>0.0526 is the MEASURED resolution floor. Anything smaller is not a result.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the data was made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16 skills on decision trees / ensembles → 79 chunks → 748 questions,</a:t>
            </a:r>
          </a:p>
          <a:p>
            <a:pPr>
              <a:spcAft>
                <a:spcPts val="400"/>
              </a:spcAft>
            </a:pPr>
            <a:r>
              <a:rPr sz="1500" b="0">
                <a:solidFill>
                  <a:srgbClr val="9AA6B4"/>
                </a:solidFill>
                <a:latin typeface="Segoe UI"/>
              </a:rPr>
              <a:t>     each answerable FROM ITS CHUNK ALONE.</a:t>
            </a:r>
          </a:p>
          <a:p>
            <a:pPr>
              <a:spcAft>
                <a:spcPts val="400"/>
              </a:spcAft>
            </a:pPr>
            <a:r>
              <a:rPr sz="1500" b="0">
                <a:solidFill>
                  <a:srgbClr val="9AA6B4"/>
                </a:solidFill>
                <a:latin typeface="Segoe UI"/>
              </a:rPr>
              <a:t>     Math 230 · Code 179 · Instruction 172 · STEM 167</a:t>
            </a:r>
          </a:p>
          <a:p>
            <a:pPr>
              <a:spcAft>
                <a:spcPts val="900"/>
              </a:spcAft>
            </a:pPr>
            <a:r>
              <a:rPr sz="1800" b="1">
                <a:solidFill>
                  <a:srgbClr val="E8ECF1"/>
                </a:solidFill>
                <a:latin typeface="Segoe UI"/>
              </a:rPr>
              <a:t>Four question CATEGORIES per chunk multiplies yield without paraphrasing —</a:t>
            </a:r>
          </a:p>
          <a:p>
            <a:pPr>
              <a:spcAft>
                <a:spcPts val="400"/>
              </a:spcAft>
            </a:pPr>
            <a:r>
              <a:rPr sz="1500" b="0">
                <a:solidFill>
                  <a:srgbClr val="9AA6B4"/>
                </a:solidFill>
                <a:latin typeface="Segoe UI"/>
              </a:rPr>
              <a:t>     that axis is what broke the old ~78-item ceiling.</a:t>
            </a:r>
          </a:p>
          <a:p>
            <a:pPr>
              <a:spcAft>
                <a:spcPts val="900"/>
              </a:spcAft>
            </a:pPr>
            <a:r>
              <a:rPr sz="1800" b="1">
                <a:solidFill>
                  <a:srgbClr val="5BC8F5"/>
                </a:solidFill>
                <a:latin typeface="Segoe UI"/>
              </a:rPr>
              <a:t>Every candidate then faces the correlation filter — next slide.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Correlation filtering — no two questions are the same question</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Every candidate is EMBEDDED, then compared against ALL previously</a:t>
            </a:r>
          </a:p>
          <a:p>
            <a:pPr>
              <a:spcAft>
                <a:spcPts val="400"/>
              </a:spcAft>
            </a:pPr>
            <a:r>
              <a:rPr sz="1500" b="0">
                <a:solidFill>
                  <a:srgbClr val="9AA6B4"/>
                </a:solidFill>
                <a:latin typeface="Segoe UI"/>
              </a:rPr>
              <a:t>     kept questions — not just its own chunk's.</a:t>
            </a:r>
          </a:p>
          <a:p>
            <a:pPr>
              <a:spcAft>
                <a:spcPts val="900"/>
              </a:spcAft>
            </a:pPr>
            <a:r>
              <a:rPr sz="1800" b="1">
                <a:solidFill>
                  <a:srgbClr val="5BC8F5"/>
                </a:solidFill>
                <a:latin typeface="Segoe UI"/>
              </a:rPr>
              <a:t>cosine ≥ 0.80 to ANY prior → REJECTED. No paraphrase sneaks in twice.</a:t>
            </a:r>
          </a:p>
          <a:p>
            <a:pPr>
              <a:spcAft>
                <a:spcPts val="400"/>
              </a:spcAft>
            </a:pPr>
            <a:r>
              <a:rPr sz="1500" b="0">
                <a:solidFill>
                  <a:srgbClr val="9AA6B4"/>
                </a:solidFill>
                <a:latin typeface="Segoe UI"/>
              </a:rPr>
              <a:t>     Kept set, measured: max 0.800 · mean 0.755 — the gate BINDS.</a:t>
            </a:r>
          </a:p>
          <a:p>
            <a:pPr>
              <a:spcAft>
                <a:spcPts val="900"/>
              </a:spcAft>
            </a:pPr>
            <a:r>
              <a:rPr sz="1800" b="1">
                <a:solidFill>
                  <a:srgbClr val="E8ECF1"/>
                </a:solidFill>
                <a:latin typeface="Segoe UI"/>
              </a:rPr>
              <a:t>Why it matters twice over:</a:t>
            </a:r>
          </a:p>
          <a:p>
            <a:pPr>
              <a:spcAft>
                <a:spcPts val="400"/>
              </a:spcAft>
            </a:pPr>
            <a:r>
              <a:rPr sz="1500" b="0">
                <a:solidFill>
                  <a:srgbClr val="9AA6B4"/>
                </a:solidFill>
                <a:latin typeface="Segoe UI"/>
              </a:rPr>
              <a:t>     a near-duplicate inside training upweights one fact and calls it two;</a:t>
            </a:r>
          </a:p>
          <a:p>
            <a:pPr>
              <a:spcAft>
                <a:spcPts val="400"/>
              </a:spcAft>
            </a:pPr>
            <a:r>
              <a:rPr sz="1500" b="0">
                <a:solidFill>
                  <a:srgbClr val="9AA6B4"/>
                </a:solidFill>
                <a:latin typeface="Segoe UI"/>
              </a:rPr>
              <a:t>     a near-duplicate of an EVAL question lets memorisation score as knowledge.</a:t>
            </a:r>
          </a:p>
          <a:p>
            <a:pPr>
              <a:spcAft>
                <a:spcPts val="900"/>
              </a:spcAft>
            </a:pPr>
            <a:r>
              <a:rPr sz="1800" b="1">
                <a:solidFill>
                  <a:srgbClr val="F5C56B"/>
                </a:solidFill>
                <a:latin typeface="Segoe UI"/>
              </a:rPr>
              <a:t>Never relaxed — when the pool starved, the fix was MORE SOURCE CHUNKS,</a:t>
            </a:r>
          </a:p>
          <a:p>
            <a:pPr>
              <a:spcAft>
                <a:spcPts val="400"/>
              </a:spcAft>
            </a:pPr>
            <a:r>
              <a:rPr sz="1500" b="0">
                <a:solidFill>
                  <a:srgbClr val="9AA6B4"/>
                </a:solidFill>
                <a:latin typeface="Segoe UI"/>
              </a:rPr>
              <a:t>     never a looser threshold.</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Three models, three jobs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9B — THE AUTHOR</a:t>
            </a:r>
          </a:p>
          <a:p>
            <a:pPr>
              <a:spcAft>
                <a:spcPts val="400"/>
              </a:spcAft>
            </a:pPr>
            <a:r>
              <a:rPr sz="1500" b="0">
                <a:solidFill>
                  <a:srgbClr val="9AA6B4"/>
                </a:solidFill>
                <a:latin typeface="Segoe UI"/>
              </a:rPr>
              <a:t>     Writes the questions, the gold answers, and the rubric itself.</a:t>
            </a:r>
          </a:p>
          <a:p>
            <a:pPr>
              <a:spcAft>
                <a:spcPts val="900"/>
              </a:spcAft>
            </a:pPr>
            <a:r>
              <a:rPr sz="1800" b="1">
                <a:solidFill>
                  <a:srgbClr val="5BC8F5"/>
                </a:solidFill>
                <a:latin typeface="Segoe UI"/>
              </a:rPr>
              <a:t>4B — THE JUDGE</a:t>
            </a:r>
          </a:p>
          <a:p>
            <a:pPr>
              <a:spcAft>
                <a:spcPts val="400"/>
              </a:spcAft>
            </a:pPr>
            <a:r>
              <a:rPr sz="1500" b="0">
                <a:solidFill>
                  <a:srgbClr val="9AA6B4"/>
                </a:solidFill>
                <a:latin typeface="Segoe UI"/>
              </a:rPr>
              <a:t>     Reads the 9B's rubric and APPLIES it, one answer at a time.</a:t>
            </a:r>
          </a:p>
          <a:p>
            <a:pPr>
              <a:spcAft>
                <a:spcPts val="400"/>
              </a:spcAft>
            </a:pPr>
            <a:r>
              <a:rPr sz="1500" b="0">
                <a:solidFill>
                  <a:srgbClr val="9AA6B4"/>
                </a:solidFill>
                <a:latin typeface="Segoe UI"/>
              </a:rPr>
              <a:t>     It does not decide what is correct; it interprets a standard written above it.</a:t>
            </a:r>
          </a:p>
          <a:p>
            <a:pPr>
              <a:spcAft>
                <a:spcPts val="900"/>
              </a:spcAft>
            </a:pPr>
            <a:r>
              <a:rPr sz="1800" b="1">
                <a:solidFill>
                  <a:srgbClr val="5BC8F5"/>
                </a:solidFill>
                <a:latin typeface="Segoe UI"/>
              </a:rPr>
              <a:t>0.8B — THE STUDENT</a:t>
            </a:r>
          </a:p>
          <a:p>
            <a:pPr>
              <a:spcAft>
                <a:spcPts val="400"/>
              </a:spcAft>
            </a:pPr>
            <a:r>
              <a:rPr sz="1500" b="0">
                <a:solidFill>
                  <a:srgbClr val="9AA6B4"/>
                </a:solidFill>
                <a:latin typeface="Segoe UI"/>
              </a:rPr>
              <a:t>     Never sees the rubric. Sees questions, and the reward that comes back.</a:t>
            </a:r>
          </a:p>
          <a:p>
            <a:pPr>
              <a:spcAft>
                <a:spcPts val="900"/>
              </a:spcAft>
            </a:pPr>
            <a:r>
              <a:rPr sz="1800" b="1">
                <a:solidFill>
                  <a:srgbClr val="F5C56B"/>
                </a:solidFill>
                <a:latin typeface="Segoe UI"/>
              </a:rPr>
              <a:t>The 9B never scores: the model that wrote the gold marking its own standard</a:t>
            </a:r>
          </a:p>
          <a:p>
            <a:pPr>
              <a:spcAft>
                <a:spcPts val="400"/>
              </a:spcAft>
            </a:pPr>
            <a:r>
              <a:rPr sz="1500" b="0">
                <a:solidFill>
                  <a:srgbClr val="9AA6B4"/>
                </a:solidFill>
                <a:latin typeface="Segoe UI"/>
              </a:rPr>
              <a:t>     is self-agreement, not measurement.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verdicts, on one instrument</a:t>
            </a:r>
          </a:p>
        </p:txBody>
      </p:sp>
      <p:graphicFrame>
        <p:nvGraphicFramePr>
          <p:cNvPr id="4" name="Table 3"/>
          <p:cNvGraphicFramePr>
            <a:graphicFrameLocks noGrp="1"/>
          </p:cNvGraphicFramePr>
          <p:nvPr/>
        </p:nvGraphicFramePr>
        <p:xfrm>
          <a:off x="868680" y="1463040"/>
          <a:ext cx="10424160" cy="1691640"/>
        </p:xfrm>
        <a:graphic>
          <a:graphicData uri="http://schemas.openxmlformats.org/drawingml/2006/table">
            <a:tbl>
              <a:tblPr>
                <a:tableStyleId>{5C22544A-7EE6-4342-B048-85BDC9FD1C3A}</a:tableStyleId>
              </a:tblPr>
              <a:tblGrid>
                <a:gridCol w="3474720"/>
                <a:gridCol w="3474720"/>
                <a:gridCol w="3474720"/>
              </a:tblGrid>
              <a:tr h="422910">
                <a:tc>
                  <a:txBody>
                    <a:bodyPr/>
                    <a:lstStyle/>
                    <a:p>
                      <a:pPr>
                        <a:spcAft>
                          <a:spcPts val="0"/>
                        </a:spcAft>
                      </a:pPr>
                      <a:r>
                        <a:rPr sz="1300" b="1">
                          <a:solidFill>
                            <a:srgbClr val="12161C"/>
                          </a:solidFill>
                          <a:latin typeface="Segoe UI"/>
                        </a:rPr>
                        <a:t>stage</a:t>
                      </a:r>
                    </a:p>
                  </a:txBody>
                  <a:tcPr>
                    <a:solidFill>
                      <a:srgbClr val="5BC8F5"/>
                    </a:solidFill>
                  </a:tcPr>
                </a:tc>
                <a:tc>
                  <a:txBody>
                    <a:bodyPr/>
                    <a:lstStyle/>
                    <a:p>
                      <a:pPr>
                        <a:spcAft>
                          <a:spcPts val="0"/>
                        </a:spcAft>
                      </a:pPr>
                      <a:r>
                        <a:rPr sz="1300" b="1">
                          <a:solidFill>
                            <a:srgbClr val="12161C"/>
                          </a:solidFill>
                          <a:latin typeface="Segoe UI"/>
                        </a:rPr>
                        <a:t>what it does</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r>
              <a:tr h="422910">
                <a:tc>
                  <a:txBody>
                    <a:bodyPr/>
                    <a:lstStyle/>
                    <a:p>
                      <a:pPr>
                        <a:spcAft>
                          <a:spcPts val="0"/>
                        </a:spcAft>
                      </a:pPr>
                      <a:r>
                        <a:rPr sz="1200">
                          <a:solidFill>
                            <a:srgbClr val="F27A7A"/>
                          </a:solidFill>
                          <a:latin typeface="Segoe UI"/>
                        </a:rPr>
                        <a:t>CPT — next-token on domain text</a:t>
                      </a:r>
                    </a:p>
                  </a:txBody>
                  <a:tcPr>
                    <a:solidFill>
                      <a:srgbClr val="1A1F27"/>
                    </a:solidFill>
                  </a:tcPr>
                </a:tc>
                <a:tc>
                  <a:txBody>
                    <a:bodyPr/>
                    <a:lstStyle/>
                    <a:p>
                      <a:pPr>
                        <a:spcAft>
                          <a:spcPts val="0"/>
                        </a:spcAft>
                      </a:pPr>
                      <a:r>
                        <a:rPr sz="1200">
                          <a:solidFill>
                            <a:srgbClr val="F27A7A"/>
                          </a:solidFill>
                          <a:latin typeface="Segoe UI"/>
                        </a:rPr>
                        <a:t>read the material</a:t>
                      </a:r>
                    </a:p>
                  </a:txBody>
                  <a:tcPr>
                    <a:solidFill>
                      <a:srgbClr val="1A1F27"/>
                    </a:solidFill>
                  </a:tcPr>
                </a:tc>
                <a:tc>
                  <a:txBody>
                    <a:bodyPr/>
                    <a:lstStyle/>
                    <a:p>
                      <a:pPr>
                        <a:spcAft>
                          <a:spcPts val="0"/>
                        </a:spcAft>
                      </a:pPr>
                      <a:r>
                        <a:rPr sz="1200">
                          <a:solidFill>
                            <a:srgbClr val="F27A7A"/>
                          </a:solidFill>
                          <a:latin typeface="Segoe UI"/>
                        </a:rPr>
                        <a:t>NO LIFT</a:t>
                      </a:r>
                    </a:p>
                  </a:txBody>
                  <a:tcPr>
                    <a:solidFill>
                      <a:srgbClr val="1A1F27"/>
                    </a:solidFill>
                  </a:tcPr>
                </a:tc>
              </a:tr>
              <a:tr h="422910">
                <a:tc>
                  <a:txBody>
                    <a:bodyPr/>
                    <a:lstStyle/>
                    <a:p>
                      <a:pPr>
                        <a:spcAft>
                          <a:spcPts val="0"/>
                        </a:spcAft>
                      </a:pPr>
                      <a:r>
                        <a:rPr sz="1200">
                          <a:solidFill>
                            <a:srgbClr val="6ED38A"/>
                          </a:solidFill>
                          <a:latin typeface="Segoe UI"/>
                        </a:rPr>
                        <a:t>SFT — full-param, completion-only</a:t>
                      </a:r>
                    </a:p>
                  </a:txBody>
                  <a:tcPr>
                    <a:solidFill>
                      <a:srgbClr val="212731"/>
                    </a:solidFill>
                  </a:tcPr>
                </a:tc>
                <a:tc>
                  <a:txBody>
                    <a:bodyPr/>
                    <a:lstStyle/>
                    <a:p>
                      <a:pPr>
                        <a:spcAft>
                          <a:spcPts val="0"/>
                        </a:spcAft>
                      </a:pPr>
                      <a:r>
                        <a:rPr sz="1200">
                          <a:solidFill>
                            <a:srgbClr val="6ED38A"/>
                          </a:solidFill>
                          <a:latin typeface="Segoe UI"/>
                        </a:rPr>
                        <a:t>inject the knowledge</a:t>
                      </a:r>
                    </a:p>
                  </a:txBody>
                  <a:tcPr>
                    <a:solidFill>
                      <a:srgbClr val="212731"/>
                    </a:solidFill>
                  </a:tcPr>
                </a:tc>
                <a:tc>
                  <a:txBody>
                    <a:bodyPr/>
                    <a:lstStyle/>
                    <a:p>
                      <a:pPr>
                        <a:spcAft>
                          <a:spcPts val="0"/>
                        </a:spcAft>
                      </a:pPr>
                      <a:r>
                        <a:rPr sz="1200">
                          <a:solidFill>
                            <a:srgbClr val="6ED38A"/>
                          </a:solidFill>
                          <a:latin typeface="Segoe UI"/>
                        </a:rPr>
                        <a:t>WORKS</a:t>
                      </a:r>
                    </a:p>
                  </a:txBody>
                  <a:tcPr>
                    <a:solidFill>
                      <a:srgbClr val="212731"/>
                    </a:solidFill>
                  </a:tcPr>
                </a:tc>
              </a:tr>
              <a:tr h="422910">
                <a:tc>
                  <a:txBody>
                    <a:bodyPr/>
                    <a:lstStyle/>
                    <a:p>
                      <a:pPr>
                        <a:spcAft>
                          <a:spcPts val="0"/>
                        </a:spcAft>
                      </a:pPr>
                      <a:r>
                        <a:rPr sz="1200">
                          <a:solidFill>
                            <a:srgbClr val="6ED38A"/>
                          </a:solidFill>
                          <a:latin typeface="Segoe UI"/>
                        </a:rPr>
                        <a:t>RL — fresh LoRA, modified MGPO</a:t>
                      </a:r>
                    </a:p>
                  </a:txBody>
                  <a:tcPr>
                    <a:solidFill>
                      <a:srgbClr val="1A1F27"/>
                    </a:solidFill>
                  </a:tcPr>
                </a:tc>
                <a:tc>
                  <a:txBody>
                    <a:bodyPr/>
                    <a:lstStyle/>
                    <a:p>
                      <a:pPr>
                        <a:spcAft>
                          <a:spcPts val="0"/>
                        </a:spcAft>
                      </a:pPr>
                      <a:r>
                        <a:rPr sz="1200">
                          <a:solidFill>
                            <a:srgbClr val="6ED38A"/>
                          </a:solidFill>
                          <a:latin typeface="Segoe UI"/>
                        </a:rPr>
                        <a:t>get more answers RIGHT</a:t>
                      </a:r>
                    </a:p>
                  </a:txBody>
                  <a:tcPr>
                    <a:solidFill>
                      <a:srgbClr val="1A1F27"/>
                    </a:solidFill>
                  </a:tcPr>
                </a:tc>
                <a:tc>
                  <a:txBody>
                    <a:bodyPr/>
                    <a:lstStyle/>
                    <a:p>
                      <a:pPr>
                        <a:spcAft>
                          <a:spcPts val="0"/>
                        </a:spcAft>
                      </a:pPr>
                      <a:r>
                        <a:rPr sz="1200">
                          <a:solidFill>
                            <a:srgbClr val="6ED38A"/>
                          </a:solidFill>
                          <a:latin typeface="Segoe UI"/>
                        </a:rPr>
                        <a:t>WORKS</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Every number in this talk is binary correctness at 0.70 on the same frozen 16 questions.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SFT epoch by epoch</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checkpoint</a:t>
                      </a:r>
                    </a:p>
                  </a:txBody>
                  <a:tcPr>
                    <a:solidFill>
                      <a:srgbClr val="5BC8F5"/>
                    </a:solidFill>
                  </a:tcPr>
                </a:tc>
                <a:tc>
                  <a:txBody>
                    <a:bodyPr/>
                    <a:lstStyle/>
                    <a:p>
                      <a:pPr>
                        <a:spcAft>
                          <a:spcPts val="0"/>
                        </a:spcAft>
                      </a:pPr>
                      <a:r>
                        <a:rPr sz="1300" b="1">
                          <a:solidFill>
                            <a:srgbClr val="12161C"/>
                          </a:solidFill>
                          <a:latin typeface="Segoe UI"/>
                        </a:rPr>
                        <a:t>correct</a:t>
                      </a:r>
                    </a:p>
                  </a:txBody>
                  <a:tcPr>
                    <a:solidFill>
                      <a:srgbClr val="5BC8F5"/>
                    </a:solidFill>
                  </a:tcPr>
                </a:tc>
                <a:tc>
                  <a:txBody>
                    <a:bodyPr/>
                    <a:lstStyle/>
                    <a:p>
                      <a:pPr>
                        <a:spcAft>
                          <a:spcPts val="0"/>
                        </a:spcAft>
                      </a:pPr>
                      <a:r>
                        <a:rPr sz="1300" b="1">
                          <a:solidFill>
                            <a:srgbClr val="12161C"/>
                          </a:solidFill>
                          <a:latin typeface="Segoe UI"/>
                        </a:rPr>
                        <a:t>rate</a:t>
                      </a:r>
                    </a:p>
                  </a:txBody>
                  <a:tcPr>
                    <a:solidFill>
                      <a:srgbClr val="5BC8F5"/>
                    </a:solidFill>
                  </a:tcPr>
                </a:tc>
                <a:tc>
                  <a:txBody>
                    <a:bodyPr/>
                    <a:lstStyle/>
                    <a:p>
                      <a:pPr>
                        <a:spcAft>
                          <a:spcPts val="0"/>
                        </a:spcAft>
                      </a:pPr>
                      <a:r>
                        <a:rPr sz="1300" b="1">
                          <a:solidFill>
                            <a:srgbClr val="12161C"/>
                          </a:solidFill>
                          <a:latin typeface="Segoe UI"/>
                        </a:rPr>
                        <a:t>never-solved</a:t>
                      </a:r>
                    </a:p>
                  </a:txBody>
                  <a:tcPr>
                    <a:solidFill>
                      <a:srgbClr val="5BC8F5"/>
                    </a:solidFill>
                  </a:tcPr>
                </a:tc>
              </a:tr>
              <a:tr h="411480">
                <a:tc>
                  <a:txBody>
                    <a:bodyPr/>
                    <a:lstStyle/>
                    <a:p>
                      <a:pPr>
                        <a:spcAft>
                          <a:spcPts val="0"/>
                        </a:spcAft>
                      </a:pPr>
                      <a:r>
                        <a:rPr sz="1200">
                          <a:solidFill>
                            <a:srgbClr val="9AA6B4"/>
                          </a:solidFill>
                          <a:latin typeface="Segoe UI"/>
                        </a:rPr>
                        <a:t>base (no training)</a:t>
                      </a:r>
                    </a:p>
                  </a:txBody>
                  <a:tcPr>
                    <a:solidFill>
                      <a:srgbClr val="1A1F27"/>
                    </a:solidFill>
                  </a:tcPr>
                </a:tc>
                <a:tc>
                  <a:txBody>
                    <a:bodyPr/>
                    <a:lstStyle/>
                    <a:p>
                      <a:pPr>
                        <a:spcAft>
                          <a:spcPts val="0"/>
                        </a:spcAft>
                      </a:pPr>
                      <a:r>
                        <a:rPr sz="1200">
                          <a:solidFill>
                            <a:srgbClr val="9AA6B4"/>
                          </a:solidFill>
                          <a:latin typeface="Segoe UI"/>
                        </a:rPr>
                        <a:t>16 / 59</a:t>
                      </a:r>
                    </a:p>
                  </a:txBody>
                  <a:tcPr>
                    <a:solidFill>
                      <a:srgbClr val="1A1F27"/>
                    </a:solidFill>
                  </a:tcPr>
                </a:tc>
                <a:tc>
                  <a:txBody>
                    <a:bodyPr/>
                    <a:lstStyle/>
                    <a:p>
                      <a:pPr>
                        <a:spcAft>
                          <a:spcPts val="0"/>
                        </a:spcAft>
                      </a:pPr>
                      <a:r>
                        <a:rPr sz="1200">
                          <a:solidFill>
                            <a:srgbClr val="9AA6B4"/>
                          </a:solidFill>
                          <a:latin typeface="Segoe UI"/>
                        </a:rPr>
                        <a:t>0.271</a:t>
                      </a:r>
                    </a:p>
                  </a:txBody>
                  <a:tcPr>
                    <a:solidFill>
                      <a:srgbClr val="1A1F27"/>
                    </a:solidFill>
                  </a:tcPr>
                </a:tc>
                <a:tc>
                  <a:txBody>
                    <a:bodyPr/>
                    <a:lstStyle/>
                    <a:p>
                      <a:pPr>
                        <a:spcAft>
                          <a:spcPts val="0"/>
                        </a:spcAft>
                      </a:pPr>
                      <a:r>
                        <a:rPr sz="1200">
                          <a:solidFill>
                            <a:srgbClr val="9AA6B4"/>
                          </a:solidFill>
                          <a:latin typeface="Segoe UI"/>
                        </a:rPr>
                        <a:t>8 of 16</a:t>
                      </a:r>
                    </a:p>
                  </a:txBody>
                  <a:tcPr>
                    <a:solidFill>
                      <a:srgbClr val="1A1F27"/>
                    </a:solidFill>
                  </a:tcPr>
                </a:tc>
              </a:tr>
              <a:tr h="411480">
                <a:tc>
                  <a:txBody>
                    <a:bodyPr/>
                    <a:lstStyle/>
                    <a:p>
                      <a:pPr>
                        <a:spcAft>
                          <a:spcPts val="0"/>
                        </a:spcAft>
                      </a:pPr>
                      <a:r>
                        <a:rPr sz="1200">
                          <a:solidFill>
                            <a:srgbClr val="F27A7A"/>
                          </a:solidFill>
                          <a:latin typeface="Segoe UI"/>
                        </a:rPr>
                        <a:t>after epoch 1</a:t>
                      </a:r>
                    </a:p>
                  </a:txBody>
                  <a:tcPr>
                    <a:solidFill>
                      <a:srgbClr val="212731"/>
                    </a:solidFill>
                  </a:tcPr>
                </a:tc>
                <a:tc>
                  <a:txBody>
                    <a:bodyPr/>
                    <a:lstStyle/>
                    <a:p>
                      <a:pPr>
                        <a:spcAft>
                          <a:spcPts val="0"/>
                        </a:spcAft>
                      </a:pPr>
                      <a:r>
                        <a:rPr sz="1200">
                          <a:solidFill>
                            <a:srgbClr val="F27A7A"/>
                          </a:solidFill>
                          <a:latin typeface="Segoe UI"/>
                        </a:rPr>
                        <a:t>10 / 58</a:t>
                      </a:r>
                    </a:p>
                  </a:txBody>
                  <a:tcPr>
                    <a:solidFill>
                      <a:srgbClr val="212731"/>
                    </a:solidFill>
                  </a:tcPr>
                </a:tc>
                <a:tc>
                  <a:txBody>
                    <a:bodyPr/>
                    <a:lstStyle/>
                    <a:p>
                      <a:pPr>
                        <a:spcAft>
                          <a:spcPts val="0"/>
                        </a:spcAft>
                      </a:pPr>
                      <a:r>
                        <a:rPr sz="1200">
                          <a:solidFill>
                            <a:srgbClr val="F27A7A"/>
                          </a:solidFill>
                          <a:latin typeface="Segoe UI"/>
                        </a:rPr>
                        <a:t>0.172</a:t>
                      </a:r>
                    </a:p>
                  </a:txBody>
                  <a:tcPr>
                    <a:solidFill>
                      <a:srgbClr val="212731"/>
                    </a:solidFill>
                  </a:tcPr>
                </a:tc>
                <a:tc>
                  <a:txBody>
                    <a:bodyPr/>
                    <a:lstStyle/>
                    <a:p>
                      <a:pPr>
                        <a:spcAft>
                          <a:spcPts val="0"/>
                        </a:spcAft>
                      </a:pPr>
                      <a:r>
                        <a:rPr sz="1200">
                          <a:solidFill>
                            <a:srgbClr val="F27A7A"/>
                          </a:solidFill>
                          <a:latin typeface="Segoe UI"/>
                        </a:rPr>
                        <a:t>10 of 16</a:t>
                      </a:r>
                    </a:p>
                  </a:txBody>
                  <a:tcPr>
                    <a:solidFill>
                      <a:srgbClr val="212731"/>
                    </a:solidFill>
                  </a:tcPr>
                </a:tc>
              </a:tr>
              <a:tr h="411480">
                <a:tc>
                  <a:txBody>
                    <a:bodyPr/>
                    <a:lstStyle/>
                    <a:p>
                      <a:pPr>
                        <a:spcAft>
                          <a:spcPts val="0"/>
                        </a:spcAft>
                      </a:pPr>
                      <a:r>
                        <a:rPr sz="1200">
                          <a:solidFill>
                            <a:srgbClr val="E8ECF1"/>
                          </a:solidFill>
                          <a:latin typeface="Segoe UI"/>
                        </a:rPr>
                        <a:t>after epoch 2</a:t>
                      </a:r>
                    </a:p>
                  </a:txBody>
                  <a:tcPr>
                    <a:solidFill>
                      <a:srgbClr val="1A1F27"/>
                    </a:solidFill>
                  </a:tcPr>
                </a:tc>
                <a:tc>
                  <a:txBody>
                    <a:bodyPr/>
                    <a:lstStyle/>
                    <a:p>
                      <a:pPr>
                        <a:spcAft>
                          <a:spcPts val="0"/>
                        </a:spcAft>
                      </a:pPr>
                      <a:r>
                        <a:rPr sz="1200">
                          <a:solidFill>
                            <a:srgbClr val="E8ECF1"/>
                          </a:solidFill>
                          <a:latin typeface="Segoe UI"/>
                        </a:rPr>
                        <a:t>21 / 59</a:t>
                      </a:r>
                    </a:p>
                  </a:txBody>
                  <a:tcPr>
                    <a:solidFill>
                      <a:srgbClr val="1A1F27"/>
                    </a:solidFill>
                  </a:tcPr>
                </a:tc>
                <a:tc>
                  <a:txBody>
                    <a:bodyPr/>
                    <a:lstStyle/>
                    <a:p>
                      <a:pPr>
                        <a:spcAft>
                          <a:spcPts val="0"/>
                        </a:spcAft>
                      </a:pPr>
                      <a:r>
                        <a:rPr sz="1200">
                          <a:solidFill>
                            <a:srgbClr val="E8ECF1"/>
                          </a:solidFill>
                          <a:latin typeface="Segoe UI"/>
                        </a:rPr>
                        <a:t>0.356</a:t>
                      </a:r>
                    </a:p>
                  </a:txBody>
                  <a:tcPr>
                    <a:solidFill>
                      <a:srgbClr val="1A1F27"/>
                    </a:solidFill>
                  </a:tcPr>
                </a:tc>
                <a:tc>
                  <a:txBody>
                    <a:bodyPr/>
                    <a:lstStyle/>
                    <a:p>
                      <a:pPr>
                        <a:spcAft>
                          <a:spcPts val="0"/>
                        </a:spcAft>
                      </a:pPr>
                      <a:r>
                        <a:rPr sz="1200">
                          <a:solidFill>
                            <a:srgbClr val="E8ECF1"/>
                          </a:solidFill>
                          <a:latin typeface="Segoe UI"/>
                        </a:rPr>
                        <a:t>7 of 16</a:t>
                      </a:r>
                    </a:p>
                  </a:txBody>
                  <a:tcPr>
                    <a:solidFill>
                      <a:srgbClr val="1A1F27"/>
                    </a:solidFill>
                  </a:tcPr>
                </a:tc>
              </a:tr>
              <a:tr h="411480">
                <a:tc>
                  <a:txBody>
                    <a:bodyPr/>
                    <a:lstStyle/>
                    <a:p>
                      <a:pPr>
                        <a:spcAft>
                          <a:spcPts val="0"/>
                        </a:spcAft>
                      </a:pPr>
                      <a:r>
                        <a:rPr sz="1200">
                          <a:solidFill>
                            <a:srgbClr val="6ED38A"/>
                          </a:solidFill>
                          <a:latin typeface="Segoe UI"/>
                        </a:rPr>
                        <a:t>after epoch 3</a:t>
                      </a:r>
                    </a:p>
                  </a:txBody>
                  <a:tcPr>
                    <a:solidFill>
                      <a:srgbClr val="212731"/>
                    </a:solidFill>
                  </a:tcPr>
                </a:tc>
                <a:tc>
                  <a:txBody>
                    <a:bodyPr/>
                    <a:lstStyle/>
                    <a:p>
                      <a:pPr>
                        <a:spcAft>
                          <a:spcPts val="0"/>
                        </a:spcAft>
                      </a:pPr>
                      <a:r>
                        <a:rPr sz="1200">
                          <a:solidFill>
                            <a:srgbClr val="6ED38A"/>
                          </a:solidFill>
                          <a:latin typeface="Segoe UI"/>
                        </a:rPr>
                        <a:t>25 / 59</a:t>
                      </a:r>
                    </a:p>
                  </a:txBody>
                  <a:tcPr>
                    <a:solidFill>
                      <a:srgbClr val="212731"/>
                    </a:solidFill>
                  </a:tcPr>
                </a:tc>
                <a:tc>
                  <a:txBody>
                    <a:bodyPr/>
                    <a:lstStyle/>
                    <a:p>
                      <a:pPr>
                        <a:spcAft>
                          <a:spcPts val="0"/>
                        </a:spcAft>
                      </a:pPr>
                      <a:r>
                        <a:rPr sz="1200">
                          <a:solidFill>
                            <a:srgbClr val="6ED38A"/>
                          </a:solidFill>
                          <a:latin typeface="Segoe UI"/>
                        </a:rPr>
                        <a:t>0.424</a:t>
                      </a:r>
                    </a:p>
                  </a:txBody>
                  <a:tcPr>
                    <a:solidFill>
                      <a:srgbClr val="212731"/>
                    </a:solidFill>
                  </a:tcPr>
                </a:tc>
                <a:tc>
                  <a:txBody>
                    <a:bodyPr/>
                    <a:lstStyle/>
                    <a:p>
                      <a:pPr>
                        <a:spcAft>
                          <a:spcPts val="0"/>
                        </a:spcAft>
                      </a:pPr>
                      <a:r>
                        <a:rPr sz="1200">
                          <a:solidFill>
                            <a:srgbClr val="6ED38A"/>
                          </a:solidFill>
                          <a:latin typeface="Segoe UI"/>
                        </a:rPr>
                        <a:t>5 of 16</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+9 correct answers over base. Never-solved down from 8 to 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epoch-1 dip is NOT forgetting</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It looks like the model got worse. It did not.</a:t>
            </a:r>
          </a:p>
          <a:p>
            <a:pPr>
              <a:spcAft>
                <a:spcPts val="900"/>
              </a:spcAft>
            </a:pPr>
            <a:r>
              <a:rPr sz="1800" b="1">
                <a:solidFill>
                  <a:srgbClr val="F27A7A"/>
                </a:solidFill>
                <a:latin typeface="Segoe UI"/>
              </a:rPr>
              <a:t>That checkpoint returns an EMPTY STRING on 11 of 16 questions.</a:t>
            </a:r>
          </a:p>
          <a:p>
            <a:pPr>
              <a:spcAft>
                <a:spcPts val="400"/>
              </a:spcAft>
            </a:pPr>
            <a:r>
              <a:rPr sz="1500" b="0">
                <a:solidFill>
                  <a:srgbClr val="9AA6B4"/>
                </a:solidFill>
                <a:latin typeface="Segoe UI"/>
              </a:rPr>
              <a:t>     Median response length: zero. Base and epoch 2 have none.</a:t>
            </a:r>
          </a:p>
          <a:p>
            <a:pPr>
              <a:spcAft>
                <a:spcPts val="900"/>
              </a:spcAft>
            </a:pPr>
            <a:r>
              <a:rPr sz="1800" b="1">
                <a:solidFill>
                  <a:srgbClr val="E8ECF1"/>
                </a:solidFill>
                <a:latin typeface="Segoe UI"/>
              </a:rPr>
              <a:t>One epoch of completion-only loss taught it to emit the stop token</a:t>
            </a:r>
          </a:p>
          <a:p>
            <a:pPr>
              <a:spcAft>
                <a:spcPts val="400"/>
              </a:spcAft>
            </a:pPr>
            <a:r>
              <a:rPr sz="1500" b="0">
                <a:solidFill>
                  <a:srgbClr val="9AA6B4"/>
                </a:solidFill>
                <a:latin typeface="Segoe UI"/>
              </a:rPr>
              <a:t>     immediately. The judge scores silence as WRONG.</a:t>
            </a:r>
          </a:p>
          <a:p>
            <a:pPr>
              <a:spcAft>
                <a:spcPts val="900"/>
              </a:spcAft>
            </a:pPr>
            <a:r>
              <a:rPr sz="1800" b="1">
                <a:solidFill>
                  <a:srgbClr val="F5C56B"/>
                </a:solidFill>
                <a:latin typeface="Segoe UI"/>
              </a:rPr>
              <a:t>A binary rate cannot tell silence from a wrong answer.</a:t>
            </a:r>
          </a:p>
          <a:p>
            <a:pPr>
              <a:spcAft>
                <a:spcPts val="400"/>
              </a:spcAft>
            </a:pPr>
            <a:r>
              <a:rPr sz="1500" b="0">
                <a:solidFill>
                  <a:srgbClr val="9AA6B4"/>
                </a:solidFill>
                <a:latin typeface="Segoe UI"/>
              </a:rPr>
              <a:t>     Output length belongs in the eval. Until it does, every rate is a FLOOR.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counts as winning: net positive lift BETWEEN PHASES</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old bar was a monotonically climbing curve. Epoch 1 broke it —</a:t>
            </a:r>
          </a:p>
          <a:p>
            <a:pPr>
              <a:spcAft>
                <a:spcPts val="400"/>
              </a:spcAft>
            </a:pPr>
            <a:r>
              <a:rPr sz="1500" b="0">
                <a:solidFill>
                  <a:srgbClr val="9AA6B4"/>
                </a:solidFill>
                <a:latin typeface="Segoe UI"/>
              </a:rPr>
              <a:t>     SFT went DOWN and the phase still ended ahead of base.</a:t>
            </a:r>
          </a:p>
          <a:p>
            <a:pPr>
              <a:spcAft>
                <a:spcPts val="900"/>
              </a:spcAft>
            </a:pPr>
            <a:r>
              <a:rPr sz="1800" b="1">
                <a:solidFill>
                  <a:srgbClr val="5BC8F5"/>
                </a:solidFill>
                <a:latin typeface="Segoe UI"/>
              </a:rPr>
              <a:t>So the bar moves. A phase wins if it hands the next phase MORE</a:t>
            </a:r>
          </a:p>
          <a:p>
            <a:pPr>
              <a:spcAft>
                <a:spcPts val="400"/>
              </a:spcAft>
            </a:pPr>
            <a:r>
              <a:rPr sz="1500" b="0">
                <a:solidFill>
                  <a:srgbClr val="9AA6B4"/>
                </a:solidFill>
                <a:latin typeface="Segoe UI"/>
              </a:rPr>
              <a:t>     correct answers than it received. Judged at epoch 3, not epoch 1.</a:t>
            </a:r>
          </a:p>
          <a:p>
            <a:pPr>
              <a:spcAft>
                <a:spcPts val="900"/>
              </a:spcAft>
            </a:pPr>
            <a:r>
              <a:rPr sz="1800" b="1">
                <a:solidFill>
                  <a:srgbClr val="5BC8F5"/>
                </a:solidFill>
                <a:latin typeface="Segoe UI"/>
              </a:rPr>
              <a:t>Verdict rule, LOCKED: every phase scored by the same mechanism —</a:t>
            </a:r>
          </a:p>
          <a:p>
            <a:pPr>
              <a:spcAft>
                <a:spcPts val="400"/>
              </a:spcAft>
            </a:pPr>
            <a:r>
              <a:rPr sz="1500" b="0">
                <a:solidFill>
                  <a:srgbClr val="9AA6B4"/>
                </a:solidFill>
                <a:latin typeface="Segoe UI"/>
              </a:rPr>
              <a:t>     3 independent single-answer judgings per question, majority vote.</a:t>
            </a:r>
          </a:p>
          <a:p>
            <a:pPr>
              <a:spcAft>
                <a:spcPts val="900"/>
              </a:spcAft>
            </a:pPr>
            <a:r>
              <a:rPr sz="1800" b="1">
                <a:solidFill>
                  <a:srgbClr val="6ED38A"/>
                </a:solidFill>
                <a:latin typeface="Segoe UI"/>
              </a:rPr>
              <a:t>Under that rule: base 4 → best method 8, of 16.</a:t>
            </a:r>
          </a:p>
          <a:p>
            <a:pPr>
              <a:spcAft>
                <a:spcPts val="400"/>
              </a:spcAft>
            </a:pPr>
            <a:r>
              <a:rPr sz="1500" b="0">
                <a:solidFill>
                  <a:srgbClr val="6ED38A"/>
                </a:solidFill>
                <a:latin typeface="Segoe UI"/>
              </a:rPr>
              <a:t>     The END-TO-END lift is the win; adjacent phases sit at the ~1-question</a:t>
            </a:r>
          </a:p>
          <a:p>
            <a:pPr>
              <a:spcAft>
                <a:spcPts val="400"/>
              </a:spcAft>
            </a:pPr>
            <a:r>
              <a:rPr sz="1500" b="0">
                <a:solidFill>
                  <a:srgbClr val="9AA6B4"/>
                </a:solidFill>
                <a:latin typeface="Segoe UI"/>
              </a:rPr>
              <a:t>     floor of what 16 questions can resolve.</a:t>
            </a:r>
          </a:p>
          <a:p>
            <a:pPr>
              <a:spcAft>
                <a:spcPts val="900"/>
              </a:spcAft>
            </a:pPr>
            <a:r>
              <a:rPr sz="1800" b="1">
                <a:solidFill>
                  <a:srgbClr val="E8ECF1"/>
                </a:solidFill>
                <a:latin typeface="Segoe UI"/>
              </a:rPr>
              <a:t>A dip inside a phase is not a failure. A phase that ends flat is.</a:t>
            </a:r>
          </a:p>
          <a:p>
            <a:pPr>
              <a:spcAft>
                <a:spcPts val="900"/>
              </a:spcAft>
            </a:pPr>
            <a:r>
              <a:rPr sz="1800" b="1">
                <a:solidFill>
                  <a:srgbClr val="F5C56B"/>
                </a:solidFill>
                <a:latin typeface="Segoe UI"/>
              </a:rPr>
              <a:t>Not goalpost-moving: a TRAJECTORY, not one point on it. CPT was</a:t>
            </a:r>
          </a:p>
          <a:p>
            <a:pPr>
              <a:spcAft>
                <a:spcPts val="400"/>
              </a:spcAft>
            </a:pPr>
            <a:r>
              <a:rPr sz="1500" b="0">
                <a:solidFill>
                  <a:srgbClr val="9AA6B4"/>
                </a:solidFill>
                <a:latin typeface="Segoe UI"/>
              </a:rPr>
              <a:t>     closed on one end-of-run number per lr. It never got a curve.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finding that generalises: durability, not capacity</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how the knowledge was written</a:t>
                      </a:r>
                    </a:p>
                  </a:txBody>
                  <a:tcPr>
                    <a:solidFill>
                      <a:srgbClr val="5BC8F5"/>
                    </a:solidFill>
                  </a:tcPr>
                </a:tc>
                <a:tc>
                  <a:txBody>
                    <a:bodyPr/>
                    <a:lstStyle/>
                    <a:p>
                      <a:pPr>
                        <a:spcAft>
                          <a:spcPts val="0"/>
                        </a:spcAft>
                      </a:pPr>
                      <a:r>
                        <a:rPr sz="1300" b="1">
                          <a:solidFill>
                            <a:srgbClr val="12161C"/>
                          </a:solidFill>
                          <a:latin typeface="Segoe UI"/>
                        </a:rPr>
                        <a:t>deposit</a:t>
                      </a:r>
                    </a:p>
                  </a:txBody>
                  <a:tcPr>
                    <a:solidFill>
                      <a:srgbClr val="5BC8F5"/>
                    </a:solidFill>
                  </a:tcPr>
                </a:tc>
                <a:tc>
                  <a:txBody>
                    <a:bodyPr/>
                    <a:lstStyle/>
                    <a:p>
                      <a:pPr>
                        <a:spcAft>
                          <a:spcPts val="0"/>
                        </a:spcAft>
                      </a:pPr>
                      <a:r>
                        <a:rPr sz="1300" b="1">
                          <a:solidFill>
                            <a:srgbClr val="12161C"/>
                          </a:solidFill>
                          <a:latin typeface="Segoe UI"/>
                        </a:rPr>
                        <a:t>after RL on top</a:t>
                      </a:r>
                    </a:p>
                  </a:txBody>
                  <a:tcPr>
                    <a:solidFill>
                      <a:srgbClr val="5BC8F5"/>
                    </a:solidFill>
                  </a:tcPr>
                </a:tc>
              </a:tr>
              <a:tr h="411480">
                <a:tc>
                  <a:txBody>
                    <a:bodyPr/>
                    <a:lstStyle/>
                    <a:p>
                      <a:pPr>
                        <a:spcAft>
                          <a:spcPts val="0"/>
                        </a:spcAft>
                      </a:pPr>
                      <a:r>
                        <a:rPr sz="1200">
                          <a:solidFill>
                            <a:srgbClr val="F27A7A"/>
                          </a:solidFill>
                          <a:latin typeface="Segoe UI"/>
                        </a:rPr>
                        <a:t>LoRA SFT</a:t>
                      </a:r>
                    </a:p>
                  </a:txBody>
                  <a:tcPr>
                    <a:solidFill>
                      <a:srgbClr val="1A1F27"/>
                    </a:solidFill>
                  </a:tcPr>
                </a:tc>
                <a:tc>
                  <a:txBody>
                    <a:bodyPr/>
                    <a:lstStyle/>
                    <a:p>
                      <a:pPr>
                        <a:spcAft>
                          <a:spcPts val="0"/>
                        </a:spcAft>
                      </a:pPr>
                      <a:r>
                        <a:rPr sz="1200">
                          <a:solidFill>
                            <a:srgbClr val="F27A7A"/>
                          </a:solidFill>
                          <a:latin typeface="Segoe UI"/>
                        </a:rPr>
                        <a:t>0.327</a:t>
                      </a:r>
                    </a:p>
                  </a:txBody>
                  <a:tcPr>
                    <a:solidFill>
                      <a:srgbClr val="1A1F27"/>
                    </a:solidFill>
                  </a:tcPr>
                </a:tc>
                <a:tc>
                  <a:txBody>
                    <a:bodyPr/>
                    <a:lstStyle/>
                    <a:p>
                      <a:pPr>
                        <a:spcAft>
                          <a:spcPts val="0"/>
                        </a:spcAft>
                      </a:pPr>
                      <a:r>
                        <a:rPr sz="1200">
                          <a:solidFill>
                            <a:srgbClr val="F27A7A"/>
                          </a:solidFill>
                          <a:latin typeface="Segoe UI"/>
                        </a:rPr>
                        <a:t>0.170   destroyed</a:t>
                      </a:r>
                    </a:p>
                  </a:txBody>
                  <a:tcPr>
                    <a:solidFill>
                      <a:srgbClr val="1A1F27"/>
                    </a:solidFill>
                  </a:tcPr>
                </a:tc>
              </a:tr>
              <a:tr h="411480">
                <a:tc>
                  <a:txBody>
                    <a:bodyPr/>
                    <a:lstStyle/>
                    <a:p>
                      <a:pPr>
                        <a:spcAft>
                          <a:spcPts val="0"/>
                        </a:spcAft>
                      </a:pPr>
                      <a:r>
                        <a:rPr sz="1200">
                          <a:solidFill>
                            <a:srgbClr val="F27A7A"/>
                          </a:solidFill>
                          <a:latin typeface="Segoe UI"/>
                        </a:rPr>
                        <a:t>LoRA SFT, merged, alpha matched</a:t>
                      </a:r>
                    </a:p>
                  </a:txBody>
                  <a:tcPr>
                    <a:solidFill>
                      <a:srgbClr val="212731"/>
                    </a:solidFill>
                  </a:tcPr>
                </a:tc>
                <a:tc>
                  <a:txBody>
                    <a:bodyPr/>
                    <a:lstStyle/>
                    <a:p>
                      <a:pPr>
                        <a:spcAft>
                          <a:spcPts val="0"/>
                        </a:spcAft>
                      </a:pPr>
                      <a:r>
                        <a:rPr sz="1200">
                          <a:solidFill>
                            <a:srgbClr val="F27A7A"/>
                          </a:solidFill>
                          <a:latin typeface="Segoe UI"/>
                        </a:rPr>
                        <a:t>0.442</a:t>
                      </a:r>
                    </a:p>
                  </a:txBody>
                  <a:tcPr>
                    <a:solidFill>
                      <a:srgbClr val="212731"/>
                    </a:solidFill>
                  </a:tcPr>
                </a:tc>
                <a:tc>
                  <a:txBody>
                    <a:bodyPr/>
                    <a:lstStyle/>
                    <a:p>
                      <a:pPr>
                        <a:spcAft>
                          <a:spcPts val="0"/>
                        </a:spcAft>
                      </a:pPr>
                      <a:r>
                        <a:rPr sz="1200">
                          <a:solidFill>
                            <a:srgbClr val="F27A7A"/>
                          </a:solidFill>
                          <a:latin typeface="Segoe UI"/>
                        </a:rPr>
                        <a:t>0.288   destroyed</a:t>
                      </a:r>
                    </a:p>
                  </a:txBody>
                  <a:tcPr>
                    <a:solidFill>
                      <a:srgbClr val="212731"/>
                    </a:solidFill>
                  </a:tcPr>
                </a:tc>
              </a:tr>
              <a:tr h="411480">
                <a:tc>
                  <a:txBody>
                    <a:bodyPr/>
                    <a:lstStyle/>
                    <a:p>
                      <a:pPr>
                        <a:spcAft>
                          <a:spcPts val="0"/>
                        </a:spcAft>
                      </a:pPr>
                      <a:r>
                        <a:rPr sz="1200">
                          <a:solidFill>
                            <a:srgbClr val="F27A7A"/>
                          </a:solidFill>
                          <a:latin typeface="Segoe UI"/>
                        </a:rPr>
                        <a:t>LoRA SFT, adapter continued into RL</a:t>
                      </a:r>
                    </a:p>
                  </a:txBody>
                  <a:tcPr>
                    <a:solidFill>
                      <a:srgbClr val="1A1F27"/>
                    </a:solidFill>
                  </a:tcPr>
                </a:tc>
                <a:tc>
                  <a:txBody>
                    <a:bodyPr/>
                    <a:lstStyle/>
                    <a:p>
                      <a:pPr>
                        <a:spcAft>
                          <a:spcPts val="0"/>
                        </a:spcAft>
                      </a:pPr>
                      <a:r>
                        <a:rPr sz="1200">
                          <a:solidFill>
                            <a:srgbClr val="F27A7A"/>
                          </a:solidFill>
                          <a:latin typeface="Segoe UI"/>
                        </a:rPr>
                        <a:t>0.442</a:t>
                      </a:r>
                    </a:p>
                  </a:txBody>
                  <a:tcPr>
                    <a:solidFill>
                      <a:srgbClr val="1A1F27"/>
                    </a:solidFill>
                  </a:tcPr>
                </a:tc>
                <a:tc>
                  <a:txBody>
                    <a:bodyPr/>
                    <a:lstStyle/>
                    <a:p>
                      <a:pPr>
                        <a:spcAft>
                          <a:spcPts val="0"/>
                        </a:spcAft>
                      </a:pPr>
                      <a:r>
                        <a:rPr sz="1200">
                          <a:solidFill>
                            <a:srgbClr val="F27A7A"/>
                          </a:solidFill>
                          <a:latin typeface="Segoe UI"/>
                        </a:rPr>
                        <a:t>~0.26   destroyed</a:t>
                      </a:r>
                    </a:p>
                  </a:txBody>
                  <a:tcPr>
                    <a:solidFill>
                      <a:srgbClr val="1A1F27"/>
                    </a:solidFill>
                  </a:tcPr>
                </a:tc>
              </a:tr>
              <a:tr h="411480">
                <a:tc>
                  <a:txBody>
                    <a:bodyPr/>
                    <a:lstStyle/>
                    <a:p>
                      <a:pPr>
                        <a:spcAft>
                          <a:spcPts val="0"/>
                        </a:spcAft>
                      </a:pPr>
                      <a:r>
                        <a:rPr sz="1200">
                          <a:solidFill>
                            <a:srgbClr val="6ED38A"/>
                          </a:solidFill>
                          <a:latin typeface="Segoe UI"/>
                        </a:rPr>
                        <a:t>FULL-PARAMETER SFT</a:t>
                      </a:r>
                    </a:p>
                  </a:txBody>
                  <a:tcPr>
                    <a:solidFill>
                      <a:srgbClr val="212731"/>
                    </a:solidFill>
                  </a:tcPr>
                </a:tc>
                <a:tc>
                  <a:txBody>
                    <a:bodyPr/>
                    <a:lstStyle/>
                    <a:p>
                      <a:pPr>
                        <a:spcAft>
                          <a:spcPts val="0"/>
                        </a:spcAft>
                      </a:pPr>
                      <a:r>
                        <a:rPr sz="1200">
                          <a:solidFill>
                            <a:srgbClr val="6ED38A"/>
                          </a:solidFill>
                          <a:latin typeface="Segoe UI"/>
                        </a:rPr>
                        <a:t>0.420</a:t>
                      </a:r>
                    </a:p>
                  </a:txBody>
                  <a:tcPr>
                    <a:solidFill>
                      <a:srgbClr val="212731"/>
                    </a:solidFill>
                  </a:tcPr>
                </a:tc>
                <a:tc>
                  <a:txBody>
                    <a:bodyPr/>
                    <a:lstStyle/>
                    <a:p>
                      <a:pPr>
                        <a:spcAft>
                          <a:spcPts val="0"/>
                        </a:spcAft>
                      </a:pPr>
                      <a:r>
                        <a:rPr sz="1200">
                          <a:solidFill>
                            <a:srgbClr val="6ED38A"/>
                          </a:solidFill>
                          <a:latin typeface="Segoe UI"/>
                        </a:rPr>
                        <a:t>0.548   survives and improves</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An adapter CAN sharpen what it did not install. What it installs itself does not survive being sharpened.</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Good and bad on BOTH sides of correct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2606040"/>
                <a:gridCol w="2606040"/>
                <a:gridCol w="2606040"/>
                <a:gridCol w="2606040"/>
              </a:tblGrid>
              <a:tr h="411480">
                <a:tc>
                  <a:txBody>
                    <a:bodyPr/>
                    <a:lstStyle/>
                    <a:p>
                      <a:pPr>
                        <a:spcAft>
                          <a:spcPts val="0"/>
                        </a:spcAft>
                      </a:pPr>
                      <a:r>
                        <a:rPr sz="1300" b="1">
                          <a:solidFill>
                            <a:srgbClr val="12161C"/>
                          </a:solidFill>
                          <a:latin typeface="Segoe UI"/>
                        </a:rPr>
                        <a:t>band</a:t>
                      </a:r>
                    </a:p>
                  </a:txBody>
                  <a:tcPr>
                    <a:solidFill>
                      <a:srgbClr val="5BC8F5"/>
                    </a:solidFill>
                  </a:tcPr>
                </a:tc>
                <a:tc>
                  <a:txBody>
                    <a:bodyPr/>
                    <a:lstStyle/>
                    <a:p>
                      <a:pPr>
                        <a:spcAft>
                          <a:spcPts val="0"/>
                        </a:spcAft>
                      </a:pPr>
                      <a:r>
                        <a:rPr sz="1300" b="1">
                          <a:solidFill>
                            <a:srgbClr val="12161C"/>
                          </a:solidFill>
                          <a:latin typeface="Segoe UI"/>
                        </a:rPr>
                        <a:t>example answer</a:t>
                      </a:r>
                    </a:p>
                  </a:txBody>
                  <a:tcPr>
                    <a:solidFill>
                      <a:srgbClr val="5BC8F5"/>
                    </a:solidFill>
                  </a:tcPr>
                </a:tc>
                <a:tc>
                  <a:txBody>
                    <a:bodyPr/>
                    <a:lstStyle/>
                    <a:p>
                      <a:pPr>
                        <a:spcAft>
                          <a:spcPts val="0"/>
                        </a:spcAft>
                      </a:pPr>
                      <a:r>
                        <a:rPr sz="1300" b="1">
                          <a:solidFill>
                            <a:srgbClr val="12161C"/>
                          </a:solidFill>
                          <a:latin typeface="Segoe UI"/>
                        </a:rPr>
                        <a:t>score</a:t>
                      </a:r>
                    </a:p>
                  </a:txBody>
                  <a:tcPr>
                    <a:solidFill>
                      <a:srgbClr val="5BC8F5"/>
                    </a:solidFill>
                  </a:tcPr>
                </a:tc>
                <a:tc>
                  <a:txBody>
                    <a:bodyPr/>
                    <a:lstStyle/>
                    <a:p>
                      <a:pPr>
                        <a:spcAft>
                          <a:spcPts val="0"/>
                        </a:spcAft>
                      </a:pPr>
                      <a:r>
                        <a:rPr sz="1300" b="1">
                          <a:solidFill>
                            <a:srgbClr val="12161C"/>
                          </a:solidFill>
                          <a:latin typeface="Segoe UI"/>
                        </a:rPr>
                        <a:t>why</a:t>
                      </a:r>
                    </a:p>
                  </a:txBody>
                  <a:tcPr>
                    <a:solidFill>
                      <a:srgbClr val="5BC8F5"/>
                    </a:solidFill>
                  </a:tcPr>
                </a:tc>
              </a:tr>
              <a:tr h="411480">
                <a:tc>
                  <a:txBody>
                    <a:bodyPr/>
                    <a:lstStyle/>
                    <a:p>
                      <a:pPr>
                        <a:spcAft>
                          <a:spcPts val="0"/>
                        </a:spcAft>
                      </a:pPr>
                      <a:r>
                        <a:rPr sz="1200">
                          <a:solidFill>
                            <a:srgbClr val="6ED38A"/>
                          </a:solidFill>
                          <a:latin typeface="Segoe UI"/>
                        </a:rPr>
                        <a:t>CORRECT, good</a:t>
                      </a:r>
                    </a:p>
                  </a:txBody>
                  <a:tcPr>
                    <a:solidFill>
                      <a:srgbClr val="1A1F27"/>
                    </a:solidFill>
                  </a:tcPr>
                </a:tc>
                <a:tc>
                  <a:txBody>
                    <a:bodyPr/>
                    <a:lstStyle/>
                    <a:p>
                      <a:pPr>
                        <a:spcAft>
                          <a:spcPts val="0"/>
                        </a:spcAft>
                      </a:pPr>
                      <a:r>
                        <a:rPr sz="1200">
                          <a:solidFill>
                            <a:srgbClr val="6ED38A"/>
                          </a:solidFill>
                          <a:latin typeface="Segoe UI"/>
                        </a:rPr>
                        <a:t>“correct: w'/w &lt; 1; incorrect: w'/w &gt; 1”</a:t>
                      </a:r>
                    </a:p>
                  </a:txBody>
                  <a:tcPr>
                    <a:solidFill>
                      <a:srgbClr val="1A1F27"/>
                    </a:solidFill>
                  </a:tcPr>
                </a:tc>
                <a:tc>
                  <a:txBody>
                    <a:bodyPr/>
                    <a:lstStyle/>
                    <a:p>
                      <a:pPr>
                        <a:spcAft>
                          <a:spcPts val="0"/>
                        </a:spcAft>
                      </a:pPr>
                      <a:r>
                        <a:rPr sz="1200">
                          <a:solidFill>
                            <a:srgbClr val="6ED38A"/>
                          </a:solidFill>
                          <a:latin typeface="Segoe UI"/>
                        </a:rPr>
                        <a:t>0.98</a:t>
                      </a:r>
                    </a:p>
                  </a:txBody>
                  <a:tcPr>
                    <a:solidFill>
                      <a:srgbClr val="1A1F27"/>
                    </a:solidFill>
                  </a:tcPr>
                </a:tc>
                <a:tc>
                  <a:txBody>
                    <a:bodyPr/>
                    <a:lstStyle/>
                    <a:p>
                      <a:pPr>
                        <a:spcAft>
                          <a:spcPts val="0"/>
                        </a:spcAft>
                      </a:pPr>
                      <a:r>
                        <a:rPr sz="1200">
                          <a:solidFill>
                            <a:srgbClr val="6ED38A"/>
                          </a:solidFill>
                          <a:latin typeface="Segoe UI"/>
                        </a:rPr>
                        <a:t>exact, complete, could not be shorter</a:t>
                      </a:r>
                    </a:p>
                  </a:txBody>
                  <a:tcPr>
                    <a:solidFill>
                      <a:srgbClr val="1A1F27"/>
                    </a:solidFill>
                  </a:tcPr>
                </a:tc>
              </a:tr>
              <a:tr h="411480">
                <a:tc>
                  <a:txBody>
                    <a:bodyPr/>
                    <a:lstStyle/>
                    <a:p>
                      <a:pPr>
                        <a:spcAft>
                          <a:spcPts val="0"/>
                        </a:spcAft>
                      </a:pPr>
                      <a:r>
                        <a:rPr sz="1200">
                          <a:solidFill>
                            <a:srgbClr val="6ED38A"/>
                          </a:solidFill>
                          <a:latin typeface="Segoe UI"/>
                        </a:rPr>
                        <a:t>CORRECT, bad</a:t>
                      </a:r>
                    </a:p>
                  </a:txBody>
                  <a:tcPr>
                    <a:solidFill>
                      <a:srgbClr val="212731"/>
                    </a:solidFill>
                  </a:tcPr>
                </a:tc>
                <a:tc>
                  <a:txBody>
                    <a:bodyPr/>
                    <a:lstStyle/>
                    <a:p>
                      <a:pPr>
                        <a:spcAft>
                          <a:spcPts val="0"/>
                        </a:spcAft>
                      </a:pPr>
                      <a:r>
                        <a:rPr sz="1200">
                          <a:solidFill>
                            <a:srgbClr val="6ED38A"/>
                          </a:solidFill>
                          <a:latin typeface="Segoe UI"/>
                        </a:rPr>
                        <a:t>“what averaging acts on here, statistically, is the variance of the base learners”</a:t>
                      </a:r>
                    </a:p>
                  </a:txBody>
                  <a:tcPr>
                    <a:solidFill>
                      <a:srgbClr val="212731"/>
                    </a:solidFill>
                  </a:tcPr>
                </a:tc>
                <a:tc>
                  <a:txBody>
                    <a:bodyPr/>
                    <a:lstStyle/>
                    <a:p>
                      <a:pPr>
                        <a:spcAft>
                          <a:spcPts val="0"/>
                        </a:spcAft>
                      </a:pPr>
                      <a:r>
                        <a:rPr sz="1200">
                          <a:solidFill>
                            <a:srgbClr val="6ED38A"/>
                          </a:solidFill>
                          <a:latin typeface="Segoe UI"/>
                        </a:rPr>
                        <a:t>0.72</a:t>
                      </a:r>
                    </a:p>
                  </a:txBody>
                  <a:tcPr>
                    <a:solidFill>
                      <a:srgbClr val="212731"/>
                    </a:solidFill>
                  </a:tcPr>
                </a:tc>
                <a:tc>
                  <a:txBody>
                    <a:bodyPr/>
                    <a:lstStyle/>
                    <a:p>
                      <a:pPr>
                        <a:spcAft>
                          <a:spcPts val="0"/>
                        </a:spcAft>
                      </a:pPr>
                      <a:r>
                        <a:rPr sz="1200">
                          <a:solidFill>
                            <a:srgbClr val="6ED38A"/>
                          </a:solidFill>
                          <a:latin typeface="Segoe UI"/>
                        </a:rPr>
                        <a:t>states the claim, takes too long — right answer, low band</a:t>
                      </a:r>
                    </a:p>
                  </a:txBody>
                  <a:tcPr>
                    <a:solidFill>
                      <a:srgbClr val="212731"/>
                    </a:solidFill>
                  </a:tcPr>
                </a:tc>
              </a:tr>
              <a:tr h="411480">
                <a:tc>
                  <a:txBody>
                    <a:bodyPr/>
                    <a:lstStyle/>
                    <a:p>
                      <a:pPr>
                        <a:spcAft>
                          <a:spcPts val="0"/>
                        </a:spcAft>
                      </a:pPr>
                      <a:r>
                        <a:rPr sz="1200">
                          <a:solidFill>
                            <a:srgbClr val="F27A7A"/>
                          </a:solidFill>
                          <a:latin typeface="Segoe UI"/>
                        </a:rPr>
                        <a:t>WRONG, good</a:t>
                      </a:r>
                    </a:p>
                  </a:txBody>
                  <a:tcPr>
                    <a:solidFill>
                      <a:srgbClr val="1A1F27"/>
                    </a:solidFill>
                  </a:tcPr>
                </a:tc>
                <a:tc>
                  <a:txBody>
                    <a:bodyPr/>
                    <a:lstStyle/>
                    <a:p>
                      <a:pPr>
                        <a:spcAft>
                          <a:spcPts val="0"/>
                        </a:spcAft>
                      </a:pPr>
                      <a:r>
                        <a:rPr sz="1200">
                          <a:solidFill>
                            <a:srgbClr val="F27A7A"/>
                          </a:solidFill>
                          <a:latin typeface="Segoe UI"/>
                        </a:rPr>
                        <a:t>“bias, since averaging corrects underfitting”</a:t>
                      </a:r>
                    </a:p>
                  </a:txBody>
                  <a:tcPr>
                    <a:solidFill>
                      <a:srgbClr val="1A1F27"/>
                    </a:solidFill>
                  </a:tcPr>
                </a:tc>
                <a:tc>
                  <a:txBody>
                    <a:bodyPr/>
                    <a:lstStyle/>
                    <a:p>
                      <a:pPr>
                        <a:spcAft>
                          <a:spcPts val="0"/>
                        </a:spcAft>
                      </a:pPr>
                      <a:r>
                        <a:rPr sz="1200">
                          <a:solidFill>
                            <a:srgbClr val="F27A7A"/>
                          </a:solidFill>
                          <a:latin typeface="Segoe UI"/>
                        </a:rPr>
                        <a:t>0.45</a:t>
                      </a:r>
                    </a:p>
                  </a:txBody>
                  <a:tcPr>
                    <a:solidFill>
                      <a:srgbClr val="1A1F27"/>
                    </a:solidFill>
                  </a:tcPr>
                </a:tc>
                <a:tc>
                  <a:txBody>
                    <a:bodyPr/>
                    <a:lstStyle/>
                    <a:p>
                      <a:pPr>
                        <a:spcAft>
                          <a:spcPts val="0"/>
                        </a:spcAft>
                      </a:pPr>
                      <a:r>
                        <a:rPr sz="1200">
                          <a:solidFill>
                            <a:srgbClr val="F27A7A"/>
                          </a:solidFill>
                          <a:latin typeface="Segoe UI"/>
                        </a:rPr>
                        <a:t>COMMITS to a named mechanism; the mechanism is false</a:t>
                      </a:r>
                    </a:p>
                  </a:txBody>
                  <a:tcPr>
                    <a:solidFill>
                      <a:srgbClr val="1A1F27"/>
                    </a:solidFill>
                  </a:tcPr>
                </a:tc>
              </a:tr>
              <a:tr h="411480">
                <a:tc>
                  <a:txBody>
                    <a:bodyPr/>
                    <a:lstStyle/>
                    <a:p>
                      <a:pPr>
                        <a:spcAft>
                          <a:spcPts val="0"/>
                        </a:spcAft>
                      </a:pPr>
                      <a:r>
                        <a:rPr sz="1200">
                          <a:solidFill>
                            <a:srgbClr val="F27A7A"/>
                          </a:solidFill>
                          <a:latin typeface="Segoe UI"/>
                        </a:rPr>
                        <a:t>WRONG, bad</a:t>
                      </a:r>
                    </a:p>
                  </a:txBody>
                  <a:tcPr>
                    <a:solidFill>
                      <a:srgbClr val="212731"/>
                    </a:solidFill>
                  </a:tcPr>
                </a:tc>
                <a:tc>
                  <a:txBody>
                    <a:bodyPr/>
                    <a:lstStyle/>
                    <a:p>
                      <a:pPr>
                        <a:spcAft>
                          <a:spcPts val="0"/>
                        </a:spcAft>
                      </a:pPr>
                      <a:r>
                        <a:rPr sz="1200">
                          <a:solidFill>
                            <a:srgbClr val="F27A7A"/>
                          </a:solidFill>
                          <a:latin typeface="Segoe UI"/>
                        </a:rPr>
                        <a:t>“Yes, that is the standard approach.”</a:t>
                      </a:r>
                    </a:p>
                  </a:txBody>
                  <a:tcPr>
                    <a:solidFill>
                      <a:srgbClr val="212731"/>
                    </a:solidFill>
                  </a:tcPr>
                </a:tc>
                <a:tc>
                  <a:txBody>
                    <a:bodyPr/>
                    <a:lstStyle/>
                    <a:p>
                      <a:pPr>
                        <a:spcAft>
                          <a:spcPts val="0"/>
                        </a:spcAft>
                      </a:pPr>
                      <a:r>
                        <a:rPr sz="1200">
                          <a:solidFill>
                            <a:srgbClr val="F27A7A"/>
                          </a:solidFill>
                          <a:latin typeface="Segoe UI"/>
                        </a:rPr>
                        <a:t>0.05</a:t>
                      </a:r>
                    </a:p>
                  </a:txBody>
                  <a:tcPr>
                    <a:solidFill>
                      <a:srgbClr val="212731"/>
                    </a:solidFill>
                  </a:tcPr>
                </a:tc>
                <a:tc>
                  <a:txBody>
                    <a:bodyPr/>
                    <a:lstStyle/>
                    <a:p>
                      <a:pPr>
                        <a:spcAft>
                          <a:spcPts val="0"/>
                        </a:spcAft>
                      </a:pPr>
                      <a:r>
                        <a:rPr sz="1200">
                          <a:solidFill>
                            <a:srgbClr val="F27A7A"/>
                          </a:solidFill>
                          <a:latin typeface="Segoe UI"/>
                        </a:rPr>
                        <a:t>content-free deferral — it asserted nothing, so nothing is wrong</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Verbose is not the same as vague. Length moves an answer WITHIN a band; commitment decides WHICH band.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Exploration under uncertainty — where MGPO sits in RL</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The course's toolbox: epsilon-greedy (blunt) · Boltzmann/softmax ·</a:t>
            </a:r>
          </a:p>
          <a:p>
            <a:pPr>
              <a:spcAft>
                <a:spcPts val="400"/>
              </a:spcAft>
            </a:pPr>
            <a:r>
              <a:rPr sz="1500" b="0">
                <a:solidFill>
                  <a:srgbClr val="9AA6B4"/>
                </a:solidFill>
                <a:latin typeface="Segoe UI"/>
              </a:rPr>
              <a:t>     optimistic initialization · UCB/UCT count bonus  (parts 3 and 5).</a:t>
            </a:r>
          </a:p>
          <a:p>
            <a:pPr>
              <a:spcAft>
                <a:spcPts val="900"/>
              </a:spcAft>
            </a:pPr>
            <a:r>
              <a:rPr sz="1800" b="1">
                <a:solidFill>
                  <a:srgbClr val="E8ECF1"/>
                </a:solidFill>
                <a:latin typeface="Segoe UI"/>
              </a:rPr>
              <a:t>Part 6's upgrade: measure uncertainty directly — ensemble DISAGREEMENT.</a:t>
            </a:r>
          </a:p>
          <a:p>
            <a:pPr>
              <a:spcAft>
                <a:spcPts val="900"/>
              </a:spcAft>
            </a:pPr>
            <a:r>
              <a:rPr sz="1800" b="1">
                <a:solidFill>
                  <a:srgbClr val="E8ECF1"/>
                </a:solidFill>
                <a:latin typeface="Segoe UI"/>
              </a:rPr>
              <a:t>Most direct of all: 'surprise' — how much a sample MOVES the model.</a:t>
            </a:r>
          </a:p>
          <a:p>
            <a:pPr>
              <a:spcAft>
                <a:spcPts val="400"/>
              </a:spcAft>
            </a:pPr>
            <a:r>
              <a:rPr sz="1500" b="0">
                <a:solidFill>
                  <a:srgbClr val="9AA6B4"/>
                </a:solidFill>
                <a:latin typeface="Segoe UI"/>
              </a:rPr>
              <a:t>     Costs a gradient step per candidate.</a:t>
            </a:r>
          </a:p>
          <a:p>
            <a:pPr>
              <a:spcAft>
                <a:spcPts val="900"/>
              </a:spcAft>
            </a:pPr>
            <a:r>
              <a:rPr sz="1800" b="1">
                <a:solidFill>
                  <a:srgbClr val="5BC8F5"/>
                </a:solidFill>
                <a:latin typeface="Segoe UI"/>
              </a:rPr>
              <a:t>MGPO's spanning selection is the FREE proxy: G answers splitting right/wrong</a:t>
            </a:r>
          </a:p>
          <a:p>
            <a:pPr>
              <a:spcAft>
                <a:spcPts val="400"/>
              </a:spcAft>
            </a:pPr>
            <a:r>
              <a:rPr sz="1500" b="0">
                <a:solidFill>
                  <a:srgbClr val="9AA6B4"/>
                </a:solidFill>
                <a:latin typeface="Segoe UI"/>
              </a:rPr>
              <a:t>     = max advantage variance = max expected gradient, from sampling alone.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change 1 — the reward is a BINARY GATE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Base MGPO samples the prompts where the model is most UNCERTAIN —</a:t>
            </a:r>
          </a:p>
          <a:p>
            <a:pPr>
              <a:spcAft>
                <a:spcPts val="400"/>
              </a:spcAft>
            </a:pPr>
            <a:r>
              <a:rPr sz="1500" b="0">
                <a:solidFill>
                  <a:srgbClr val="9AA6B4"/>
                </a:solidFill>
                <a:latin typeface="Segoe UI"/>
              </a:rPr>
              <a:t>     within-group reward spread, the quantity GRPO's advantage divides by.</a:t>
            </a:r>
          </a:p>
          <a:p>
            <a:pPr>
              <a:spcAft>
                <a:spcPts val="900"/>
              </a:spcAft>
            </a:pPr>
            <a:r>
              <a:rPr sz="1800" b="1">
                <a:solidFill>
                  <a:srgbClr val="5BC8F5"/>
                </a:solidFill>
                <a:latin typeface="Segoe UI"/>
              </a:rPr>
              <a:t>Correct = 1.0.  Wrong = exactly 0.0.  No partial credit.</a:t>
            </a:r>
          </a:p>
          <a:p>
            <a:pPr>
              <a:spcAft>
                <a:spcPts val="900"/>
              </a:spcAft>
            </a:pPr>
            <a:r>
              <a:rPr sz="1800" b="1">
                <a:solidFill>
                  <a:srgbClr val="F27A7A"/>
                </a:solidFill>
                <a:latin typeface="Segoe UI"/>
              </a:rPr>
              <a:t>The old raw-score reward paid ~0.5 for confident wrongness —</a:t>
            </a:r>
          </a:p>
          <a:p>
            <a:pPr>
              <a:spcAft>
                <a:spcPts val="400"/>
              </a:spcAft>
            </a:pPr>
            <a:r>
              <a:rPr sz="1500" b="0">
                <a:solidFill>
                  <a:srgbClr val="9AA6B4"/>
                </a:solidFill>
                <a:latin typeface="Segoe UI"/>
              </a:rPr>
              <a:t>     and could not even see the SFT lift.</a:t>
            </a:r>
          </a:p>
          <a:p>
            <a:pPr>
              <a:spcAft>
                <a:spcPts val="900"/>
              </a:spcAft>
            </a:pPr>
            <a:r>
              <a:rPr sz="1800" b="1">
                <a:solidFill>
                  <a:srgbClr val="E8ECF1"/>
                </a:solidFill>
                <a:latin typeface="Segoe UI"/>
              </a:rPr>
              <a:t>Plus a zero-sum brevity term inside each group: shorter correct answers</a:t>
            </a:r>
          </a:p>
          <a:p>
            <a:pPr>
              <a:spcAft>
                <a:spcPts val="400"/>
              </a:spcAft>
            </a:pPr>
            <a:r>
              <a:rPr sz="1500" b="0">
                <a:solidFill>
                  <a:srgbClr val="9AA6B4"/>
                </a:solidFill>
                <a:latin typeface="Segoe UI"/>
              </a:rPr>
              <a:t>     gain what longer ones give up, so the GRPO baseline does not move.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change 2 — the replay buffer trains the BOUNDARY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Round 1 records every judge outcome per prompt.</a:t>
            </a:r>
          </a:p>
          <a:p>
            <a:pPr>
              <a:spcAft>
                <a:spcPts val="900"/>
              </a:spcAft>
            </a:pPr>
            <a:r>
              <a:rPr sz="1800" b="1">
                <a:solidFill>
                  <a:srgbClr val="5BC8F5"/>
                </a:solidFill>
                <a:latin typeface="Segoe UI"/>
              </a:rPr>
              <a:t>Round 2 keeps a prompt only if its outcomes SPAN 0.70 —</a:t>
            </a:r>
          </a:p>
          <a:p>
            <a:pPr>
              <a:spcAft>
                <a:spcPts val="400"/>
              </a:spcAft>
            </a:pPr>
            <a:r>
              <a:rPr sz="1500" b="0">
                <a:solidFill>
                  <a:srgbClr val="9AA6B4"/>
                </a:solidFill>
                <a:latin typeface="Segoe UI"/>
              </a:rPr>
              <a:t>     at least one right, at least one wrong.</a:t>
            </a:r>
          </a:p>
          <a:p>
            <a:pPr>
              <a:spcAft>
                <a:spcPts val="400"/>
              </a:spcAft>
            </a:pPr>
            <a:r>
              <a:rPr sz="1500" b="0">
                <a:solidFill>
                  <a:srgbClr val="9AA6B4"/>
                </a:solidFill>
                <a:latin typeface="Segoe UI"/>
              </a:rPr>
              <a:t>     Always-right teaches nothing. Always-wrong is a zero-variance group</a:t>
            </a:r>
          </a:p>
          <a:p>
            <a:pPr>
              <a:spcAft>
                <a:spcPts val="400"/>
              </a:spcAft>
            </a:pPr>
            <a:r>
              <a:rPr sz="1500" b="0">
                <a:solidFill>
                  <a:srgbClr val="9AA6B4"/>
                </a:solidFill>
                <a:latin typeface="Segoe UI"/>
              </a:rPr>
              <a:t>     and gives EXACTLY zero gradient.</a:t>
            </a:r>
          </a:p>
          <a:p>
            <a:pPr>
              <a:spcAft>
                <a:spcPts val="900"/>
              </a:spcAft>
            </a:pPr>
            <a:r>
              <a:rPr sz="1800" b="1">
                <a:solidFill>
                  <a:srgbClr val="E8ECF1"/>
                </a:solidFill>
                <a:latin typeface="Segoe UI"/>
              </a:rPr>
              <a:t>A fixed band near the threshold was rejected: 0.65 and 0.68 are two</a:t>
            </a:r>
          </a:p>
          <a:p>
            <a:pPr>
              <a:spcAft>
                <a:spcPts val="400"/>
              </a:spcAft>
            </a:pPr>
            <a:r>
              <a:rPr sz="1500" b="0">
                <a:solidFill>
                  <a:srgbClr val="9AA6B4"/>
                </a:solidFill>
                <a:latin typeface="Segoe UI"/>
              </a:rPr>
              <a:t>     buckets that both mean WRONG. Spanning is about outcomes, not scores.</a:t>
            </a:r>
          </a:p>
          <a:p>
            <a:pPr>
              <a:spcAft>
                <a:spcPts val="900"/>
              </a:spcAft>
            </a:pPr>
            <a:r>
              <a:rPr sz="1800" b="1">
                <a:solidFill>
                  <a:srgbClr val="F5C56B"/>
                </a:solidFill>
                <a:latin typeface="Segoe UI"/>
              </a:rPr>
              <a:t>HONEST CAVEAT: it fired hard — dropped 3/6, 4/6, 2/6 of round-2 prompts —</a:t>
            </a:r>
          </a:p>
          <a:p>
            <a:pPr>
              <a:spcAft>
                <a:spcPts val="400"/>
              </a:spcAft>
            </a:pPr>
            <a:r>
              <a:rPr sz="1500" b="0">
                <a:solidFill>
                  <a:srgbClr val="9AA6B4"/>
                </a:solidFill>
                <a:latin typeface="Segoe UI"/>
              </a:rPr>
              <a:t>     but was NEVER ABLATED. No filter-off arm exists. No lift is attributable to it.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replay buffer, live — one actual round boundary</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5212080"/>
                <a:gridCol w="5212080"/>
              </a:tblGrid>
              <a:tr h="411480">
                <a:tc>
                  <a:txBody>
                    <a:bodyPr/>
                    <a:lstStyle/>
                    <a:p>
                      <a:pPr>
                        <a:spcAft>
                          <a:spcPts val="0"/>
                        </a:spcAft>
                      </a:pPr>
                      <a:r>
                        <a:rPr sz="1300" b="1">
                          <a:solidFill>
                            <a:srgbClr val="12161C"/>
                          </a:solidFill>
                          <a:latin typeface="Segoe UI"/>
                        </a:rPr>
                        <a:t>stage</a:t>
                      </a:r>
                    </a:p>
                  </a:txBody>
                  <a:tcPr>
                    <a:solidFill>
                      <a:srgbClr val="5BC8F5"/>
                    </a:solidFill>
                  </a:tcPr>
                </a:tc>
                <a:tc>
                  <a:txBody>
                    <a:bodyPr/>
                    <a:lstStyle/>
                    <a:p>
                      <a:pPr>
                        <a:spcAft>
                          <a:spcPts val="0"/>
                        </a:spcAft>
                      </a:pPr>
                      <a:r>
                        <a:rPr sz="1300" b="1">
                          <a:solidFill>
                            <a:srgbClr val="12161C"/>
                          </a:solidFill>
                          <a:latin typeface="Segoe UI"/>
                        </a:rPr>
                        <a:t>what the log shows</a:t>
                      </a:r>
                    </a:p>
                  </a:txBody>
                  <a:tcPr>
                    <a:solidFill>
                      <a:srgbClr val="5BC8F5"/>
                    </a:solidFill>
                  </a:tcPr>
                </a:tc>
              </a:tr>
              <a:tr h="411480">
                <a:tc>
                  <a:txBody>
                    <a:bodyPr/>
                    <a:lstStyle/>
                    <a:p>
                      <a:pPr>
                        <a:spcAft>
                          <a:spcPts val="0"/>
                        </a:spcAft>
                      </a:pPr>
                      <a:r>
                        <a:rPr sz="1200">
                          <a:solidFill>
                            <a:srgbClr val="E8ECF1"/>
                          </a:solidFill>
                          <a:latin typeface="Segoe UI"/>
                        </a:rPr>
                        <a:t>FILL (round 1)</a:t>
                      </a:r>
                    </a:p>
                  </a:txBody>
                  <a:tcPr>
                    <a:solidFill>
                      <a:srgbClr val="1A1F27"/>
                    </a:solidFill>
                  </a:tcPr>
                </a:tc>
                <a:tc>
                  <a:txBody>
                    <a:bodyPr/>
                    <a:lstStyle/>
                    <a:p>
                      <a:pPr>
                        <a:spcAft>
                          <a:spcPts val="0"/>
                        </a:spcAft>
                      </a:pPr>
                      <a:r>
                        <a:rPr sz="1200">
                          <a:solidFill>
                            <a:srgbClr val="E8ECF1"/>
                          </a:solidFill>
                          <a:latin typeface="Segoe UI"/>
                        </a:rPr>
                        <a:t>6 prompts, uniform · each step: 4 answers judged · every verdict recorded per question</a:t>
                      </a:r>
                    </a:p>
                  </a:txBody>
                  <a:tcPr>
                    <a:solidFill>
                      <a:srgbClr val="1A1F27"/>
                    </a:solidFill>
                  </a:tcPr>
                </a:tc>
              </a:tr>
              <a:tr h="411480">
                <a:tc>
                  <a:txBody>
                    <a:bodyPr/>
                    <a:lstStyle/>
                    <a:p>
                      <a:pPr>
                        <a:spcAft>
                          <a:spcPts val="0"/>
                        </a:spcAft>
                      </a:pPr>
                      <a:r>
                        <a:rPr sz="1200">
                          <a:solidFill>
                            <a:srgbClr val="E8ECF1"/>
                          </a:solidFill>
                          <a:latin typeface="Segoe UI"/>
                        </a:rPr>
                        <a:t>GATE</a:t>
                      </a:r>
                    </a:p>
                  </a:txBody>
                  <a:tcPr>
                    <a:solidFill>
                      <a:srgbClr val="212731"/>
                    </a:solidFill>
                  </a:tcPr>
                </a:tc>
                <a:tc>
                  <a:txBody>
                    <a:bodyPr/>
                    <a:lstStyle/>
                    <a:p>
                      <a:pPr>
                        <a:spcAft>
                          <a:spcPts val="0"/>
                        </a:spcAft>
                      </a:pPr>
                      <a:r>
                        <a:rPr sz="1200">
                          <a:solidFill>
                            <a:srgbClr val="E8ECF1"/>
                          </a:solidFill>
                          <a:latin typeface="Segoe UI"/>
                        </a:rPr>
                        <a:t>dropped 2/6 — no correct+wrong pair in history → zero variance → ZERO gradient. Cut.</a:t>
                      </a:r>
                    </a:p>
                  </a:txBody>
                  <a:tcPr>
                    <a:solidFill>
                      <a:srgbClr val="212731"/>
                    </a:solidFill>
                  </a:tcPr>
                </a:tc>
              </a:tr>
              <a:tr h="411480">
                <a:tc>
                  <a:txBody>
                    <a:bodyPr/>
                    <a:lstStyle/>
                    <a:p>
                      <a:pPr>
                        <a:spcAft>
                          <a:spcPts val="0"/>
                        </a:spcAft>
                      </a:pPr>
                      <a:r>
                        <a:rPr sz="1200">
                          <a:solidFill>
                            <a:srgbClr val="E8ECF1"/>
                          </a:solidFill>
                          <a:latin typeface="Segoe UI"/>
                        </a:rPr>
                        <a:t>WEIGH</a:t>
                      </a:r>
                    </a:p>
                  </a:txBody>
                  <a:tcPr>
                    <a:solidFill>
                      <a:srgbClr val="1A1F27"/>
                    </a:solidFill>
                  </a:tcPr>
                </a:tc>
                <a:tc>
                  <a:txBody>
                    <a:bodyPr/>
                    <a:lstStyle/>
                    <a:p>
                      <a:pPr>
                        <a:spcAft>
                          <a:spcPts val="0"/>
                        </a:spcAft>
                      </a:pPr>
                      <a:r>
                        <a:rPr sz="1200">
                          <a:solidFill>
                            <a:srgbClr val="E8ECF1"/>
                          </a:solidFill>
                          <a:latin typeface="Segoe UI"/>
                        </a:rPr>
                        <a:t>survivors drawn by uncertainty: 0.386 · 0.235 · 0.212 · 0.167 · 0 · 0</a:t>
                      </a:r>
                    </a:p>
                  </a:txBody>
                  <a:tcPr>
                    <a:solidFill>
                      <a:srgbClr val="1A1F27"/>
                    </a:solidFill>
                  </a:tcPr>
                </a:tc>
              </a:tr>
              <a:tr h="411480">
                <a:tc>
                  <a:txBody>
                    <a:bodyPr/>
                    <a:lstStyle/>
                    <a:p>
                      <a:pPr>
                        <a:spcAft>
                          <a:spcPts val="0"/>
                        </a:spcAft>
                      </a:pPr>
                      <a:r>
                        <a:rPr sz="1200">
                          <a:solidFill>
                            <a:srgbClr val="E8ECF1"/>
                          </a:solidFill>
                          <a:latin typeface="Segoe UI"/>
                        </a:rPr>
                        <a:t>ROUND 2</a:t>
                      </a:r>
                    </a:p>
                  </a:txBody>
                  <a:tcPr>
                    <a:solidFill>
                      <a:srgbClr val="212731"/>
                    </a:solidFill>
                  </a:tcPr>
                </a:tc>
                <a:tc>
                  <a:txBody>
                    <a:bodyPr/>
                    <a:lstStyle/>
                    <a:p>
                      <a:pPr>
                        <a:spcAft>
                          <a:spcPts val="0"/>
                        </a:spcAft>
                      </a:pPr>
                      <a:r>
                        <a:rPr sz="1200">
                          <a:solidFill>
                            <a:srgbClr val="E8ECF1"/>
                          </a:solidFill>
                          <a:latin typeface="Segoe UI"/>
                        </a:rPr>
                        <a:t>fresh answers only — nothing stored is ever retrained</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An outcome ledger steering the curriculum. Nothing is 'replayed'.</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MGPO with the borrowed parts labeled</a:t>
            </a:r>
          </a:p>
        </p:txBody>
      </p:sp>
      <p:graphicFrame>
        <p:nvGraphicFramePr>
          <p:cNvPr id="4" name="Table 3"/>
          <p:cNvGraphicFramePr>
            <a:graphicFrameLocks noGrp="1"/>
          </p:cNvGraphicFramePr>
          <p:nvPr/>
        </p:nvGraphicFramePr>
        <p:xfrm>
          <a:off x="868680" y="1463040"/>
          <a:ext cx="10424160" cy="3154680"/>
        </p:xfrm>
        <a:graphic>
          <a:graphicData uri="http://schemas.openxmlformats.org/drawingml/2006/table">
            <a:tbl>
              <a:tblPr>
                <a:tableStyleId>{5C22544A-7EE6-4342-B048-85BDC9FD1C3A}</a:tableStyleId>
              </a:tblPr>
              <a:tblGrid>
                <a:gridCol w="3474720"/>
                <a:gridCol w="3474720"/>
                <a:gridCol w="3474720"/>
              </a:tblGrid>
              <a:tr h="394335">
                <a:tc>
                  <a:txBody>
                    <a:bodyPr/>
                    <a:lstStyle/>
                    <a:p>
                      <a:pPr>
                        <a:spcAft>
                          <a:spcPts val="0"/>
                        </a:spcAft>
                      </a:pPr>
                      <a:r>
                        <a:rPr sz="1300" b="1">
                          <a:solidFill>
                            <a:srgbClr val="12161C"/>
                          </a:solidFill>
                          <a:latin typeface="Segoe UI"/>
                        </a:rPr>
                        <a:t>mechanism in our code</a:t>
                      </a:r>
                    </a:p>
                  </a:txBody>
                  <a:tcPr>
                    <a:solidFill>
                      <a:srgbClr val="5BC8F5"/>
                    </a:solidFill>
                  </a:tcPr>
                </a:tc>
                <a:tc>
                  <a:txBody>
                    <a:bodyPr/>
                    <a:lstStyle/>
                    <a:p>
                      <a:pPr>
                        <a:spcAft>
                          <a:spcPts val="0"/>
                        </a:spcAft>
                      </a:pPr>
                      <a:r>
                        <a:rPr sz="1300" b="1">
                          <a:solidFill>
                            <a:srgbClr val="12161C"/>
                          </a:solidFill>
                          <a:latin typeface="Segoe UI"/>
                        </a:rPr>
                        <a:t>borrowed from</a:t>
                      </a:r>
                    </a:p>
                  </a:txBody>
                  <a:tcPr>
                    <a:solidFill>
                      <a:srgbClr val="5BC8F5"/>
                    </a:solidFill>
                  </a:tcPr>
                </a:tc>
                <a:tc>
                  <a:txBody>
                    <a:bodyPr/>
                    <a:lstStyle/>
                    <a:p>
                      <a:pPr>
                        <a:spcAft>
                          <a:spcPts val="0"/>
                        </a:spcAft>
                      </a:pPr>
                      <a:r>
                        <a:rPr sz="1300" b="1">
                          <a:solidFill>
                            <a:srgbClr val="12161C"/>
                          </a:solidFill>
                          <a:latin typeface="Segoe UI"/>
                        </a:rPr>
                        <a:t>tried → kept?</a:t>
                      </a:r>
                    </a:p>
                  </a:txBody>
                  <a:tcPr>
                    <a:solidFill>
                      <a:srgbClr val="5BC8F5"/>
                    </a:solidFill>
                  </a:tcPr>
                </a:tc>
              </a:tr>
              <a:tr h="394335">
                <a:tc>
                  <a:txBody>
                    <a:bodyPr/>
                    <a:lstStyle/>
                    <a:p>
                      <a:pPr>
                        <a:spcAft>
                          <a:spcPts val="0"/>
                        </a:spcAft>
                      </a:pPr>
                      <a:r>
                        <a:rPr sz="1200">
                          <a:solidFill>
                            <a:srgbClr val="E8ECF1"/>
                          </a:solidFill>
                          <a:latin typeface="Segoe UI"/>
                        </a:rPr>
                        <a:t>group-relative advantage, no critic</a:t>
                      </a:r>
                    </a:p>
                  </a:txBody>
                  <a:tcPr>
                    <a:solidFill>
                      <a:srgbClr val="1A1F27"/>
                    </a:solidFill>
                  </a:tcPr>
                </a:tc>
                <a:tc>
                  <a:txBody>
                    <a:bodyPr/>
                    <a:lstStyle/>
                    <a:p>
                      <a:pPr>
                        <a:spcAft>
                          <a:spcPts val="0"/>
                        </a:spcAft>
                      </a:pPr>
                      <a:r>
                        <a:rPr sz="1200">
                          <a:solidFill>
                            <a:srgbClr val="E8ECF1"/>
                          </a:solidFill>
                          <a:latin typeface="Segoe UI"/>
                        </a:rPr>
                        <a:t>GRPO (DeepSeek)</a:t>
                      </a:r>
                    </a:p>
                  </a:txBody>
                  <a:tcPr>
                    <a:solidFill>
                      <a:srgbClr val="1A1F27"/>
                    </a:solidFill>
                  </a:tcPr>
                </a:tc>
                <a:tc>
                  <a:txBody>
                    <a:bodyPr/>
                    <a:lstStyle/>
                    <a:p>
                      <a:pPr>
                        <a:spcAft>
                          <a:spcPts val="0"/>
                        </a:spcAft>
                      </a:pPr>
                      <a:r>
                        <a:rPr sz="1200">
                          <a:solidFill>
                            <a:srgbClr val="E8ECF1"/>
                          </a:solidFill>
                          <a:latin typeface="Segoe UI"/>
                        </a:rPr>
                        <a:t>KEPT — core of every run</a:t>
                      </a:r>
                    </a:p>
                  </a:txBody>
                  <a:tcPr>
                    <a:solidFill>
                      <a:srgbClr val="1A1F27"/>
                    </a:solidFill>
                  </a:tcPr>
                </a:tc>
              </a:tr>
              <a:tr h="394335">
                <a:tc>
                  <a:txBody>
                    <a:bodyPr/>
                    <a:lstStyle/>
                    <a:p>
                      <a:pPr>
                        <a:spcAft>
                          <a:spcPts val="0"/>
                        </a:spcAft>
                      </a:pPr>
                      <a:r>
                        <a:rPr sz="1200">
                          <a:solidFill>
                            <a:srgbClr val="E8ECF1"/>
                          </a:solidFill>
                          <a:latin typeface="Segoe UI"/>
                        </a:rPr>
                        <a:t>reward scaling (÷ group std)</a:t>
                      </a:r>
                    </a:p>
                  </a:txBody>
                  <a:tcPr>
                    <a:solidFill>
                      <a:srgbClr val="212731"/>
                    </a:solidFill>
                  </a:tcPr>
                </a:tc>
                <a:tc>
                  <a:txBody>
                    <a:bodyPr/>
                    <a:lstStyle/>
                    <a:p>
                      <a:pPr>
                        <a:spcAft>
                          <a:spcPts val="0"/>
                        </a:spcAft>
                      </a:pPr>
                      <a:r>
                        <a:rPr sz="1200">
                          <a:solidFill>
                            <a:srgbClr val="E8ECF1"/>
                          </a:solidFill>
                          <a:latin typeface="Segoe UI"/>
                        </a:rPr>
                        <a:t>GRPO default; removed = 'Dr. GRPO'</a:t>
                      </a:r>
                    </a:p>
                  </a:txBody>
                  <a:tcPr>
                    <a:solidFill>
                      <a:srgbClr val="212731"/>
                    </a:solidFill>
                  </a:tcPr>
                </a:tc>
                <a:tc>
                  <a:txBody>
                    <a:bodyPr/>
                    <a:lstStyle/>
                    <a:p>
                      <a:pPr>
                        <a:spcAft>
                          <a:spcPts val="0"/>
                        </a:spcAft>
                      </a:pPr>
                      <a:r>
                        <a:rPr sz="1200">
                          <a:solidFill>
                            <a:srgbClr val="E8ECF1"/>
                          </a:solidFill>
                          <a:latin typeface="Segoe UI"/>
                        </a:rPr>
                        <a:t>REMOVED: 8/14 — the winning RL pass</a:t>
                      </a:r>
                    </a:p>
                  </a:txBody>
                  <a:tcPr>
                    <a:solidFill>
                      <a:srgbClr val="212731"/>
                    </a:solidFill>
                  </a:tcPr>
                </a:tc>
              </a:tr>
              <a:tr h="394335">
                <a:tc>
                  <a:txBody>
                    <a:bodyPr/>
                    <a:lstStyle/>
                    <a:p>
                      <a:pPr>
                        <a:spcAft>
                          <a:spcPts val="0"/>
                        </a:spcAft>
                      </a:pPr>
                      <a:r>
                        <a:rPr sz="1200">
                          <a:solidFill>
                            <a:srgbClr val="E8ECF1"/>
                          </a:solidFill>
                          <a:latin typeface="Segoe UI"/>
                        </a:rPr>
                        <a:t>KL anchor (beta 0.3)</a:t>
                      </a:r>
                    </a:p>
                  </a:txBody>
                  <a:tcPr>
                    <a:solidFill>
                      <a:srgbClr val="1A1F27"/>
                    </a:solidFill>
                  </a:tcPr>
                </a:tc>
                <a:tc>
                  <a:txBody>
                    <a:bodyPr/>
                    <a:lstStyle/>
                    <a:p>
                      <a:pPr>
                        <a:spcAft>
                          <a:spcPts val="0"/>
                        </a:spcAft>
                      </a:pPr>
                      <a:r>
                        <a:rPr sz="1200">
                          <a:solidFill>
                            <a:srgbClr val="E8ECF1"/>
                          </a:solidFill>
                          <a:latin typeface="Segoe UI"/>
                        </a:rPr>
                        <a:t>Ch7 §7.5 — DeepSeek-R1 kl_coeff 0.02</a:t>
                      </a:r>
                    </a:p>
                  </a:txBody>
                  <a:tcPr>
                    <a:solidFill>
                      <a:srgbClr val="1A1F27"/>
                    </a:solidFill>
                  </a:tcPr>
                </a:tc>
                <a:tc>
                  <a:txBody>
                    <a:bodyPr/>
                    <a:lstStyle/>
                    <a:p>
                      <a:pPr>
                        <a:spcAft>
                          <a:spcPts val="0"/>
                        </a:spcAft>
                      </a:pPr>
                      <a:r>
                        <a:rPr sz="1200">
                          <a:solidFill>
                            <a:srgbClr val="E8ECF1"/>
                          </a:solidFill>
                          <a:latin typeface="Segoe UI"/>
                        </a:rPr>
                        <a:t>0.02 tried: climbed 4→8, scored 8/15 — kept 0.3</a:t>
                      </a:r>
                    </a:p>
                  </a:txBody>
                  <a:tcPr>
                    <a:solidFill>
                      <a:srgbClr val="1A1F27"/>
                    </a:solidFill>
                  </a:tcPr>
                </a:tc>
              </a:tr>
              <a:tr h="394335">
                <a:tc>
                  <a:txBody>
                    <a:bodyPr/>
                    <a:lstStyle/>
                    <a:p>
                      <a:pPr>
                        <a:spcAft>
                          <a:spcPts val="0"/>
                        </a:spcAft>
                      </a:pPr>
                      <a:r>
                        <a:rPr sz="1200">
                          <a:solidFill>
                            <a:srgbClr val="E8ECF1"/>
                          </a:solidFill>
                          <a:latin typeface="Segoe UI"/>
                        </a:rPr>
                        <a:t>clipped policy ratio (epsilon 0.2)</a:t>
                      </a:r>
                    </a:p>
                  </a:txBody>
                  <a:tcPr>
                    <a:solidFill>
                      <a:srgbClr val="212731"/>
                    </a:solidFill>
                  </a:tcPr>
                </a:tc>
                <a:tc>
                  <a:txBody>
                    <a:bodyPr/>
                    <a:lstStyle/>
                    <a:p>
                      <a:pPr>
                        <a:spcAft>
                          <a:spcPts val="0"/>
                        </a:spcAft>
                      </a:pPr>
                      <a:r>
                        <a:rPr sz="1200">
                          <a:solidFill>
                            <a:srgbClr val="E8ECF1"/>
                          </a:solidFill>
                          <a:latin typeface="Segoe UI"/>
                        </a:rPr>
                        <a:t>Ch7 §7.4 — DAPO raises the top to 0.28</a:t>
                      </a:r>
                    </a:p>
                  </a:txBody>
                  <a:tcPr>
                    <a:solidFill>
                      <a:srgbClr val="212731"/>
                    </a:solidFill>
                  </a:tcPr>
                </a:tc>
                <a:tc>
                  <a:txBody>
                    <a:bodyPr/>
                    <a:lstStyle/>
                    <a:p>
                      <a:pPr>
                        <a:spcAft>
                          <a:spcPts val="0"/>
                        </a:spcAft>
                      </a:pPr>
                      <a:r>
                        <a:rPr sz="1200">
                          <a:solidFill>
                            <a:srgbClr val="E8ECF1"/>
                          </a:solidFill>
                          <a:latin typeface="Segoe UI"/>
                        </a:rPr>
                        <a:t>0.28 tried: 4/15, worst — kept 0.2</a:t>
                      </a:r>
                    </a:p>
                  </a:txBody>
                  <a:tcPr>
                    <a:solidFill>
                      <a:srgbClr val="212731"/>
                    </a:solidFill>
                  </a:tcPr>
                </a:tc>
              </a:tr>
              <a:tr h="394335">
                <a:tc>
                  <a:txBody>
                    <a:bodyPr/>
                    <a:lstStyle/>
                    <a:p>
                      <a:pPr>
                        <a:spcAft>
                          <a:spcPts val="0"/>
                        </a:spcAft>
                      </a:pPr>
                      <a:r>
                        <a:rPr sz="1200">
                          <a:solidFill>
                            <a:srgbClr val="E8ECF1"/>
                          </a:solidFill>
                          <a:latin typeface="Segoe UI"/>
                        </a:rPr>
                        <a:t>zero-gradient filter + mixed-outcome sampling</a:t>
                      </a:r>
                    </a:p>
                  </a:txBody>
                  <a:tcPr>
                    <a:solidFill>
                      <a:srgbClr val="1A1F27"/>
                    </a:solidFill>
                  </a:tcPr>
                </a:tc>
                <a:tc>
                  <a:txBody>
                    <a:bodyPr/>
                    <a:lstStyle/>
                    <a:p>
                      <a:pPr>
                        <a:spcAft>
                          <a:spcPts val="0"/>
                        </a:spcAft>
                      </a:pPr>
                      <a:r>
                        <a:rPr sz="1200">
                          <a:solidFill>
                            <a:srgbClr val="E8ECF1"/>
                          </a:solidFill>
                          <a:latin typeface="Segoe UI"/>
                        </a:rPr>
                        <a:t>Ch7 §7.6.3 (DAPO 1-2)</a:t>
                      </a:r>
                    </a:p>
                  </a:txBody>
                  <a:tcPr>
                    <a:solidFill>
                      <a:srgbClr val="1A1F27"/>
                    </a:solidFill>
                  </a:tcPr>
                </a:tc>
                <a:tc>
                  <a:txBody>
                    <a:bodyPr/>
                    <a:lstStyle/>
                    <a:p>
                      <a:pPr>
                        <a:spcAft>
                          <a:spcPts val="0"/>
                        </a:spcAft>
                      </a:pPr>
                      <a:r>
                        <a:rPr sz="1200">
                          <a:solidFill>
                            <a:srgbClr val="E8ECF1"/>
                          </a:solidFill>
                          <a:latin typeface="Segoe UI"/>
                        </a:rPr>
                        <a:t>KEPT — never ablated</a:t>
                      </a:r>
                    </a:p>
                  </a:txBody>
                  <a:tcPr>
                    <a:solidFill>
                      <a:srgbClr val="1A1F27"/>
                    </a:solidFill>
                  </a:tcPr>
                </a:tc>
              </a:tr>
              <a:tr h="394335">
                <a:tc>
                  <a:txBody>
                    <a:bodyPr/>
                    <a:lstStyle/>
                    <a:p>
                      <a:pPr>
                        <a:spcAft>
                          <a:spcPts val="0"/>
                        </a:spcAft>
                      </a:pPr>
                      <a:r>
                        <a:rPr sz="1200">
                          <a:solidFill>
                            <a:srgbClr val="E8ECF1"/>
                          </a:solidFill>
                          <a:latin typeface="Segoe UI"/>
                        </a:rPr>
                        <a:t>token-level DAPO loss</a:t>
                      </a:r>
                    </a:p>
                  </a:txBody>
                  <a:tcPr>
                    <a:solidFill>
                      <a:srgbClr val="212731"/>
                    </a:solidFill>
                  </a:tcPr>
                </a:tc>
                <a:tc>
                  <a:txBody>
                    <a:bodyPr/>
                    <a:lstStyle/>
                    <a:p>
                      <a:pPr>
                        <a:spcAft>
                          <a:spcPts val="0"/>
                        </a:spcAft>
                      </a:pPr>
                      <a:r>
                        <a:rPr sz="1200">
                          <a:solidFill>
                            <a:srgbClr val="E8ECF1"/>
                          </a:solidFill>
                          <a:latin typeface="Segoe UI"/>
                        </a:rPr>
                        <a:t>Ch7 §7.6.3 item 3</a:t>
                      </a:r>
                    </a:p>
                  </a:txBody>
                  <a:tcPr>
                    <a:solidFill>
                      <a:srgbClr val="212731"/>
                    </a:solidFill>
                  </a:tcPr>
                </a:tc>
                <a:tc>
                  <a:txBody>
                    <a:bodyPr/>
                    <a:lstStyle/>
                    <a:p>
                      <a:pPr>
                        <a:spcAft>
                          <a:spcPts val="0"/>
                        </a:spcAft>
                      </a:pPr>
                      <a:r>
                        <a:rPr sz="1200">
                          <a:solidFill>
                            <a:srgbClr val="E8ECF1"/>
                          </a:solidFill>
                          <a:latin typeface="Segoe UI"/>
                        </a:rPr>
                        <a:t>KEPT (default)</a:t>
                      </a:r>
                    </a:p>
                  </a:txBody>
                  <a:tcPr>
                    <a:solidFill>
                      <a:srgbClr val="212731"/>
                    </a:solidFill>
                  </a:tcPr>
                </a:tc>
              </a:tr>
              <a:tr h="394335">
                <a:tc>
                  <a:txBody>
                    <a:bodyPr/>
                    <a:lstStyle/>
                    <a:p>
                      <a:pPr>
                        <a:spcAft>
                          <a:spcPts val="0"/>
                        </a:spcAft>
                      </a:pPr>
                      <a:r>
                        <a:rPr sz="1200">
                          <a:solidFill>
                            <a:srgbClr val="E8ECF1"/>
                          </a:solidFill>
                          <a:latin typeface="Segoe UI"/>
                        </a:rPr>
                        <a:t>zero-sum brevity, CORRECT only</a:t>
                      </a:r>
                    </a:p>
                  </a:txBody>
                  <a:tcPr>
                    <a:solidFill>
                      <a:srgbClr val="1A1F27"/>
                    </a:solidFill>
                  </a:tcPr>
                </a:tc>
                <a:tc>
                  <a:txBody>
                    <a:bodyPr/>
                    <a:lstStyle/>
                    <a:p>
                      <a:pPr>
                        <a:spcAft>
                          <a:spcPts val="0"/>
                        </a:spcAft>
                      </a:pPr>
                      <a:r>
                        <a:rPr sz="1200">
                          <a:solidFill>
                            <a:srgbClr val="E8ECF1"/>
                          </a:solidFill>
                          <a:latin typeface="Segoe UI"/>
                        </a:rPr>
                        <a:t>ours — Ch7 §7.6.2's naive version collapses</a:t>
                      </a:r>
                    </a:p>
                  </a:txBody>
                  <a:tcPr>
                    <a:solidFill>
                      <a:srgbClr val="1A1F27"/>
                    </a:solidFill>
                  </a:tcPr>
                </a:tc>
                <a:tc>
                  <a:txBody>
                    <a:bodyPr/>
                    <a:lstStyle/>
                    <a:p>
                      <a:pPr>
                        <a:spcAft>
                          <a:spcPts val="0"/>
                        </a:spcAft>
                      </a:pPr>
                      <a:r>
                        <a:rPr sz="1200">
                          <a:solidFill>
                            <a:srgbClr val="E8ECF1"/>
                          </a:solidFill>
                          <a:latin typeface="Segoe UI"/>
                        </a:rPr>
                        <a:t>KEPT at 0.2; OFF never tried</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Ch refs: Raschka, Build a Reasoning Model (From Scratch). Knobs tried one at a time, same start, same seed; numbers = correct of the frozen eval.</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FAQ — do uncertain prompts go back to SFT?</a:t>
            </a:r>
          </a:p>
        </p:txBody>
      </p:sp>
      <p:graphicFrame>
        <p:nvGraphicFramePr>
          <p:cNvPr id="4" name="Table 3"/>
          <p:cNvGraphicFramePr>
            <a:graphicFrameLocks noGrp="1"/>
          </p:cNvGraphicFramePr>
          <p:nvPr/>
        </p:nvGraphicFramePr>
        <p:xfrm>
          <a:off x="868680" y="1463040"/>
          <a:ext cx="10424160" cy="2057400"/>
        </p:xfrm>
        <a:graphic>
          <a:graphicData uri="http://schemas.openxmlformats.org/drawingml/2006/table">
            <a:tbl>
              <a:tblPr>
                <a:tableStyleId>{5C22544A-7EE6-4342-B048-85BDC9FD1C3A}</a:tableStyleId>
              </a:tblPr>
              <a:tblGrid>
                <a:gridCol w="3474720"/>
                <a:gridCol w="3474720"/>
                <a:gridCol w="3474720"/>
              </a:tblGrid>
              <a:tr h="411480">
                <a:tc>
                  <a:txBody>
                    <a:bodyPr/>
                    <a:lstStyle/>
                    <a:p>
                      <a:pPr>
                        <a:spcAft>
                          <a:spcPts val="0"/>
                        </a:spcAft>
                      </a:pPr>
                      <a:r>
                        <a:rPr sz="1300" b="1">
                          <a:solidFill>
                            <a:srgbClr val="12161C"/>
                          </a:solidFill>
                          <a:latin typeface="Segoe UI"/>
                        </a:rPr>
                        <a:t>bin</a:t>
                      </a:r>
                    </a:p>
                  </a:txBody>
                  <a:tcPr>
                    <a:solidFill>
                      <a:srgbClr val="5BC8F5"/>
                    </a:solidFill>
                  </a:tcPr>
                </a:tc>
                <a:tc>
                  <a:txBody>
                    <a:bodyPr/>
                    <a:lstStyle/>
                    <a:p>
                      <a:pPr>
                        <a:spcAft>
                          <a:spcPts val="0"/>
                        </a:spcAft>
                      </a:pPr>
                      <a:r>
                        <a:rPr sz="1300" b="1">
                          <a:solidFill>
                            <a:srgbClr val="12161C"/>
                          </a:solidFill>
                          <a:latin typeface="Segoe UI"/>
                        </a:rPr>
                        <a:t>signal</a:t>
                      </a:r>
                    </a:p>
                  </a:txBody>
                  <a:tcPr>
                    <a:solidFill>
                      <a:srgbClr val="5BC8F5"/>
                    </a:solidFill>
                  </a:tcPr>
                </a:tc>
                <a:tc>
                  <a:txBody>
                    <a:bodyPr/>
                    <a:lstStyle/>
                    <a:p>
                      <a:pPr>
                        <a:spcAft>
                          <a:spcPts val="0"/>
                        </a:spcAft>
                      </a:pPr>
                      <a:r>
                        <a:rPr sz="1300" b="1">
                          <a:solidFill>
                            <a:srgbClr val="12161C"/>
                          </a:solidFill>
                          <a:latin typeface="Segoe UI"/>
                        </a:rPr>
                        <a:t>route</a:t>
                      </a:r>
                    </a:p>
                  </a:txBody>
                  <a:tcPr>
                    <a:solidFill>
                      <a:srgbClr val="5BC8F5"/>
                    </a:solidFill>
                  </a:tcPr>
                </a:tc>
              </a:tr>
              <a:tr h="411480">
                <a:tc>
                  <a:txBody>
                    <a:bodyPr/>
                    <a:lstStyle/>
                    <a:p>
                      <a:pPr>
                        <a:spcAft>
                          <a:spcPts val="0"/>
                        </a:spcAft>
                      </a:pPr>
                      <a:r>
                        <a:rPr sz="1200">
                          <a:solidFill>
                            <a:srgbClr val="E8ECF1"/>
                          </a:solidFill>
                          <a:latin typeface="Segoe UI"/>
                        </a:rPr>
                        <a:t>always-right</a:t>
                      </a:r>
                    </a:p>
                  </a:txBody>
                  <a:tcPr>
                    <a:solidFill>
                      <a:srgbClr val="1A1F27"/>
                    </a:solidFill>
                  </a:tcPr>
                </a:tc>
                <a:tc>
                  <a:txBody>
                    <a:bodyPr/>
                    <a:lstStyle/>
                    <a:p>
                      <a:pPr>
                        <a:spcAft>
                          <a:spcPts val="0"/>
                        </a:spcAft>
                      </a:pPr>
                      <a:r>
                        <a:rPr sz="1200">
                          <a:solidFill>
                            <a:srgbClr val="E8ECF1"/>
                          </a:solidFill>
                          <a:latin typeface="Segoe UI"/>
                        </a:rPr>
                        <a:t>settled</a:t>
                      </a:r>
                    </a:p>
                  </a:txBody>
                  <a:tcPr>
                    <a:solidFill>
                      <a:srgbClr val="1A1F27"/>
                    </a:solidFill>
                  </a:tcPr>
                </a:tc>
                <a:tc>
                  <a:txBody>
                    <a:bodyPr/>
                    <a:lstStyle/>
                    <a:p>
                      <a:pPr>
                        <a:spcAft>
                          <a:spcPts val="0"/>
                        </a:spcAft>
                      </a:pPr>
                      <a:r>
                        <a:rPr sz="1200">
                          <a:solidFill>
                            <a:srgbClr val="E8ECF1"/>
                          </a:solidFill>
                          <a:latin typeface="Segoe UI"/>
                        </a:rPr>
                        <a:t>drop</a:t>
                      </a:r>
                    </a:p>
                  </a:txBody>
                  <a:tcPr>
                    <a:solidFill>
                      <a:srgbClr val="1A1F27"/>
                    </a:solidFill>
                  </a:tcPr>
                </a:tc>
              </a:tr>
              <a:tr h="411480">
                <a:tc>
                  <a:txBody>
                    <a:bodyPr/>
                    <a:lstStyle/>
                    <a:p>
                      <a:pPr>
                        <a:spcAft>
                          <a:spcPts val="0"/>
                        </a:spcAft>
                      </a:pPr>
                      <a:r>
                        <a:rPr sz="1200">
                          <a:solidFill>
                            <a:srgbClr val="E8ECF1"/>
                          </a:solidFill>
                          <a:latin typeface="Segoe UI"/>
                        </a:rPr>
                        <a:t>spread</a:t>
                      </a:r>
                    </a:p>
                  </a:txBody>
                  <a:tcPr>
                    <a:solidFill>
                      <a:srgbClr val="212731"/>
                    </a:solidFill>
                  </a:tcPr>
                </a:tc>
                <a:tc>
                  <a:txBody>
                    <a:bodyPr/>
                    <a:lstStyle/>
                    <a:p>
                      <a:pPr>
                        <a:spcAft>
                          <a:spcPts val="0"/>
                        </a:spcAft>
                      </a:pPr>
                      <a:r>
                        <a:rPr sz="1200">
                          <a:solidFill>
                            <a:srgbClr val="E8ECF1"/>
                          </a:solidFill>
                          <a:latin typeface="Segoe UI"/>
                        </a:rPr>
                        <a:t>measured uncertainty</a:t>
                      </a:r>
                    </a:p>
                  </a:txBody>
                  <a:tcPr>
                    <a:solidFill>
                      <a:srgbClr val="212731"/>
                    </a:solidFill>
                  </a:tcPr>
                </a:tc>
                <a:tc>
                  <a:txBody>
                    <a:bodyPr/>
                    <a:lstStyle/>
                    <a:p>
                      <a:pPr>
                        <a:spcAft>
                          <a:spcPts val="0"/>
                        </a:spcAft>
                      </a:pPr>
                      <a:r>
                        <a:rPr sz="1200">
                          <a:solidFill>
                            <a:srgbClr val="E8ECF1"/>
                          </a:solidFill>
                          <a:latin typeface="Segoe UI"/>
                        </a:rPr>
                        <a:t>RL cache — iterate</a:t>
                      </a:r>
                    </a:p>
                  </a:txBody>
                  <a:tcPr>
                    <a:solidFill>
                      <a:srgbClr val="212731"/>
                    </a:solidFill>
                  </a:tcPr>
                </a:tc>
              </a:tr>
              <a:tr h="411480">
                <a:tc>
                  <a:txBody>
                    <a:bodyPr/>
                    <a:lstStyle/>
                    <a:p>
                      <a:pPr>
                        <a:spcAft>
                          <a:spcPts val="0"/>
                        </a:spcAft>
                      </a:pPr>
                      <a:r>
                        <a:rPr sz="1200">
                          <a:solidFill>
                            <a:srgbClr val="E8ECF1"/>
                          </a:solidFill>
                          <a:latin typeface="Segoe UI"/>
                        </a:rPr>
                        <a:t>always-wrong</a:t>
                      </a:r>
                    </a:p>
                  </a:txBody>
                  <a:tcPr>
                    <a:solidFill>
                      <a:srgbClr val="1A1F27"/>
                    </a:solidFill>
                  </a:tcPr>
                </a:tc>
                <a:tc>
                  <a:txBody>
                    <a:bodyPr/>
                    <a:lstStyle/>
                    <a:p>
                      <a:pPr>
                        <a:spcAft>
                          <a:spcPts val="0"/>
                        </a:spcAft>
                      </a:pPr>
                      <a:r>
                        <a:rPr sz="1200">
                          <a:solidFill>
                            <a:srgbClr val="E8ECF1"/>
                          </a:solidFill>
                          <a:latin typeface="Segoe UI"/>
                        </a:rPr>
                        <a:t>ZERO gradient</a:t>
                      </a:r>
                    </a:p>
                  </a:txBody>
                  <a:tcPr>
                    <a:solidFill>
                      <a:srgbClr val="1A1F27"/>
                    </a:solidFill>
                  </a:tcPr>
                </a:tc>
                <a:tc>
                  <a:txBody>
                    <a:bodyPr/>
                    <a:lstStyle/>
                    <a:p>
                      <a:pPr>
                        <a:spcAft>
                          <a:spcPts val="0"/>
                        </a:spcAft>
                      </a:pPr>
                      <a:r>
                        <a:rPr sz="1200">
                          <a:solidFill>
                            <a:srgbClr val="E8ECF1"/>
                          </a:solidFill>
                          <a:latin typeface="Segoe UI"/>
                        </a:rPr>
                        <a:t>→ SFT deposit, then out of RL</a:t>
                      </a:r>
                    </a:p>
                  </a:txBody>
                  <a:tcPr>
                    <a:solidFill>
                      <a:srgbClr val="1A1F27"/>
                    </a:solidFill>
                  </a:tcPr>
                </a:tc>
              </a:tr>
              <a:tr h="411480">
                <a:tc>
                  <a:txBody>
                    <a:bodyPr/>
                    <a:lstStyle/>
                    <a:p>
                      <a:pPr>
                        <a:spcAft>
                          <a:spcPts val="0"/>
                        </a:spcAft>
                      </a:pPr>
                      <a:r>
                        <a:rPr sz="1200">
                          <a:solidFill>
                            <a:srgbClr val="E8ECF1"/>
                          </a:solidFill>
                          <a:latin typeface="Segoe UI"/>
                        </a:rPr>
                        <a:t>unseen</a:t>
                      </a:r>
                    </a:p>
                  </a:txBody>
                  <a:tcPr>
                    <a:solidFill>
                      <a:srgbClr val="212731"/>
                    </a:solidFill>
                  </a:tcPr>
                </a:tc>
                <a:tc>
                  <a:txBody>
                    <a:bodyPr/>
                    <a:lstStyle/>
                    <a:p>
                      <a:pPr>
                        <a:spcAft>
                          <a:spcPts val="0"/>
                        </a:spcAft>
                      </a:pPr>
                      <a:r>
                        <a:rPr sz="1200">
                          <a:solidFill>
                            <a:srgbClr val="E8ECF1"/>
                          </a:solidFill>
                          <a:latin typeface="Segoe UI"/>
                        </a:rPr>
                        <a:t>novelty</a:t>
                      </a:r>
                    </a:p>
                  </a:txBody>
                  <a:tcPr>
                    <a:solidFill>
                      <a:srgbClr val="212731"/>
                    </a:solidFill>
                  </a:tcPr>
                </a:tc>
                <a:tc>
                  <a:txBody>
                    <a:bodyPr/>
                    <a:lstStyle/>
                    <a:p>
                      <a:pPr>
                        <a:spcAft>
                          <a:spcPts val="0"/>
                        </a:spcAft>
                      </a:pPr>
                      <a:r>
                        <a:rPr sz="1200">
                          <a:solidFill>
                            <a:srgbClr val="E8ECF1"/>
                          </a:solidFill>
                          <a:latin typeface="Segoe UI"/>
                        </a:rPr>
                        <a:t>inject, no replacement</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Uncertainty is measurable only for SAMPLED prompts; unseen = novelty optimism (UCT). Precedent: TailSFT, STaR, ReST.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Prioritized replay (Schaul 2015) — the buffer's next form</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It's a flashcard box: Leitner (1972) = PER (2015).</a:t>
            </a:r>
          </a:p>
          <a:p>
            <a:pPr>
              <a:spcAft>
                <a:spcPts val="900"/>
              </a:spcAft>
            </a:pPr>
            <a:r>
              <a:rPr sz="1800" b="1">
                <a:solidFill>
                  <a:srgbClr val="E8ECF1"/>
                </a:solidFill>
                <a:latin typeface="Segoe UI"/>
              </a:rPr>
              <a:t>One GLOBAL score per prompt: Beta(1+wins, 1+losses) variance.</a:t>
            </a:r>
          </a:p>
          <a:p>
            <a:pPr>
              <a:spcAft>
                <a:spcPts val="900"/>
              </a:spcAft>
            </a:pPr>
            <a:r>
              <a:rPr sz="1800" b="1">
                <a:solidFill>
                  <a:srgbClr val="E8ECF1"/>
                </a:solidFill>
                <a:latin typeface="Segoe UI"/>
              </a:rPr>
              <a:t>Unseen = Beta(1,1) = max priority — 'we don't know' scores highest, free.</a:t>
            </a:r>
          </a:p>
          <a:p>
            <a:pPr>
              <a:spcAft>
                <a:spcPts val="900"/>
              </a:spcAft>
            </a:pPr>
            <a:r>
              <a:rPr sz="1800" b="1">
                <a:solidFill>
                  <a:srgbClr val="E8ECF1"/>
                </a:solidFill>
                <a:latin typeface="Segoe UI"/>
              </a:rPr>
              <a:t>Missed cards come back sooner; mastered cards stretch out</a:t>
            </a:r>
          </a:p>
          <a:p>
            <a:pPr>
              <a:spcAft>
                <a:spcPts val="400"/>
              </a:spcAft>
            </a:pPr>
            <a:r>
              <a:rPr sz="1500" b="0">
                <a:solidFill>
                  <a:srgbClr val="9AA6B4"/>
                </a:solidFill>
                <a:latin typeface="Segoe UI"/>
              </a:rPr>
              <a:t>     but NEVER leave the box (the epsilon-floor).</a:t>
            </a:r>
          </a:p>
          <a:p>
            <a:pPr>
              <a:spcAft>
                <a:spcPts val="900"/>
              </a:spcAft>
            </a:pPr>
            <a:r>
              <a:rPr sz="1800" b="1">
                <a:solidFill>
                  <a:srgbClr val="E8ECF1"/>
                </a:solidFill>
                <a:latin typeface="Segoe UI"/>
              </a:rPr>
              <a:t>Staleness term: old cards slowly resurface (drift guard).</a:t>
            </a:r>
          </a:p>
          <a:p>
            <a:pPr>
              <a:spcAft>
                <a:spcPts val="900"/>
              </a:spcAft>
            </a:pPr>
            <a:r>
              <a:rPr sz="1800" b="1">
                <a:solidFill>
                  <a:srgbClr val="E8ECF1"/>
                </a:solidFill>
                <a:latin typeface="Segoe UI"/>
              </a:rPr>
              <a:t>Priorities re-measured only when sampled — PER's own convention.</a:t>
            </a:r>
          </a:p>
        </p:txBody>
      </p:sp>
      <p:sp>
        <p:nvSpPr>
          <p:cNvPr id="5" name="Rounded Rectangle 4"/>
          <p:cNvSpPr/>
          <p:nvPr/>
        </p:nvSpPr>
        <p:spPr>
          <a:xfrm rot="21240000">
            <a:off x="9921240" y="4617720"/>
            <a:ext cx="1600200" cy="1051560"/>
          </a:xfrm>
          <a:prstGeom prst="roundRect">
            <a:avLst/>
          </a:prstGeom>
          <a:solidFill>
            <a:srgbClr val="2A333F"/>
          </a:solidFill>
          <a:ln w="19050">
            <a:solidFill>
              <a:srgbClr val="9AA6B4"/>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9AA6B4"/>
                </a:solidFill>
              </a:defRPr>
            </a:pPr>
            <a:r>
              <a:t>mastered</a:t>
            </a:r>
          </a:p>
        </p:txBody>
      </p:sp>
      <p:sp>
        <p:nvSpPr>
          <p:cNvPr id="6" name="Rounded Rectangle 5"/>
          <p:cNvSpPr/>
          <p:nvPr/>
        </p:nvSpPr>
        <p:spPr>
          <a:xfrm rot="180000">
            <a:off x="9464040" y="4800600"/>
            <a:ext cx="1600200" cy="1051560"/>
          </a:xfrm>
          <a:prstGeom prst="roundRect">
            <a:avLst/>
          </a:prstGeom>
          <a:solidFill>
            <a:srgbClr val="3A2F28"/>
          </a:solidFill>
          <a:ln w="19050">
            <a:solidFill>
              <a:srgbClr val="F5C56B"/>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5C56B"/>
                </a:solidFill>
              </a:defRPr>
            </a:pPr>
            <a:r>
              <a:t>new 50/50</a:t>
            </a:r>
          </a:p>
        </p:txBody>
      </p:sp>
      <p:sp>
        <p:nvSpPr>
          <p:cNvPr id="7" name="Rounded Rectangle 6"/>
          <p:cNvSpPr/>
          <p:nvPr/>
        </p:nvSpPr>
        <p:spPr>
          <a:xfrm rot="21480000">
            <a:off x="9006840" y="4983480"/>
            <a:ext cx="1600200" cy="1051560"/>
          </a:xfrm>
          <a:prstGeom prst="roundRect">
            <a:avLst/>
          </a:prstGeom>
          <a:solidFill>
            <a:srgbClr val="3D282C"/>
          </a:solidFill>
          <a:ln w="19050">
            <a:solidFill>
              <a:srgbClr val="F27A7A"/>
            </a:solidFill>
          </a:ln>
        </p:spPr>
        <p:style>
          <a:lnRef idx="1">
            <a:schemeClr val="accent1"/>
          </a:lnRef>
          <a:fillRef idx="3">
            <a:schemeClr val="accent1"/>
          </a:fillRef>
          <a:effectRef idx="2">
            <a:schemeClr val="accent1"/>
          </a:effectRef>
          <a:fontRef idx="minor">
            <a:schemeClr val="lt1"/>
          </a:fontRef>
        </p:style>
        <p:txBody>
          <a:bodyPr rtlCol="0" anchor="ctr"/>
          <a:lstStyle/>
          <a:p>
            <a:pPr>
              <a:defRPr sz="1100" b="1">
                <a:solidFill>
                  <a:srgbClr val="F27A7A"/>
                </a:solidFill>
              </a:defRPr>
            </a:pPr>
            <a:r>
              <a:t>missed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world model was the judge all along</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Dyna-Q: learn a model of the ENVIRONMENT from experience.</a:t>
            </a:r>
          </a:p>
          <a:p>
            <a:pPr>
              <a:spcAft>
                <a:spcPts val="900"/>
              </a:spcAft>
            </a:pPr>
            <a:r>
              <a:rPr sz="1800" b="1">
                <a:solidFill>
                  <a:srgbClr val="E8ECF1"/>
                </a:solidFill>
                <a:latin typeface="Segoe UI"/>
              </a:rPr>
              <a:t>Our environment has one payout: the LLM judge. So a model of the judge</a:t>
            </a:r>
          </a:p>
          <a:p>
            <a:pPr>
              <a:spcAft>
                <a:spcPts val="400"/>
              </a:spcAft>
            </a:pPr>
            <a:r>
              <a:rPr sz="1500" b="0">
                <a:solidFill>
                  <a:srgbClr val="9AA6B4"/>
                </a:solidFill>
                <a:latin typeface="Segoe UI"/>
              </a:rPr>
              <a:t>     IS the complete world model — reward model = world model here.</a:t>
            </a:r>
          </a:p>
          <a:p>
            <a:pPr>
              <a:spcAft>
                <a:spcPts val="900"/>
              </a:spcAft>
            </a:pPr>
            <a:r>
              <a:rPr sz="1800" b="1">
                <a:solidFill>
                  <a:srgbClr val="E8ECF1"/>
                </a:solidFill>
                <a:latin typeface="Segoe UI"/>
              </a:rPr>
              <a:t>Token view: each next-token is a state→state decision; the judge pays</a:t>
            </a:r>
          </a:p>
          <a:p>
            <a:pPr>
              <a:spcAft>
                <a:spcPts val="400"/>
              </a:spcAft>
            </a:pPr>
            <a:r>
              <a:rPr sz="1500" b="0">
                <a:solidFill>
                  <a:srgbClr val="9AA6B4"/>
                </a:solidFill>
                <a:latin typeface="Segoe UI"/>
              </a:rPr>
              <a:t>     at the trajectory's end. Episode view: a bandit over whole answers.</a:t>
            </a:r>
          </a:p>
          <a:p>
            <a:pPr>
              <a:spcAft>
                <a:spcPts val="900"/>
              </a:spcAft>
            </a:pPr>
            <a:r>
              <a:rPr sz="1800" b="1">
                <a:solidFill>
                  <a:srgbClr val="E8ECF1"/>
                </a:solidFill>
                <a:latin typeface="Segoe UI"/>
              </a:rPr>
              <a:t>We built it TWICE with the same buffer + labels:</a:t>
            </a:r>
          </a:p>
          <a:p>
            <a:pPr>
              <a:spcAft>
                <a:spcPts val="400"/>
              </a:spcAft>
            </a:pPr>
            <a:r>
              <a:rPr sz="1500" b="0">
                <a:solidFill>
                  <a:srgbClr val="9AA6B4"/>
                </a:solidFill>
                <a:latin typeface="Segoe UI"/>
              </a:rPr>
              <a:t>     explicit — prompt_world_model.py, a 768→64→1 ensemble predicting verdicts;</a:t>
            </a:r>
          </a:p>
          <a:p>
            <a:pPr>
              <a:spcAft>
                <a:spcPts val="400"/>
              </a:spcAft>
            </a:pPr>
            <a:r>
              <a:rPr sz="1500" b="0">
                <a:solidFill>
                  <a:srgbClr val="9AA6B4"/>
                </a:solidFill>
                <a:latin typeface="Segoe UI"/>
              </a:rPr>
              <a:t>     implicit — IPO, the DPO-family result: the policy's own likelihood-ratios</a:t>
            </a:r>
          </a:p>
          <a:p>
            <a:pPr>
              <a:spcAft>
                <a:spcPts val="400"/>
              </a:spcAft>
            </a:pPr>
            <a:r>
              <a:rPr sz="1500" b="0">
                <a:solidFill>
                  <a:srgbClr val="F5C56B"/>
                </a:solidFill>
                <a:latin typeface="Segoe UI"/>
              </a:rPr>
              <a:t>     become the reward model. Policy and world model: one set of weights.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Dyna-MGPO — the loop the notes were pointing at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Dyna-Q (model-based RL): act · model from experience ·</a:t>
            </a:r>
          </a:p>
          <a:p>
            <a:pPr>
              <a:spcAft>
                <a:spcPts val="400"/>
              </a:spcAft>
            </a:pPr>
            <a:r>
              <a:rPr sz="1500" b="0">
                <a:solidFill>
                  <a:srgbClr val="9AA6B4"/>
                </a:solidFill>
                <a:latin typeface="Segoe UI"/>
              </a:rPr>
              <a:t>     extra updates OFFLINE from the model, not the environment.</a:t>
            </a:r>
          </a:p>
          <a:p>
            <a:pPr>
              <a:spcAft>
                <a:spcPts val="900"/>
              </a:spcAft>
            </a:pPr>
            <a:r>
              <a:rPr sz="1800" b="1">
                <a:solidFill>
                  <a:srgbClr val="E8ECF1"/>
                </a:solidFill>
                <a:latin typeface="Segoe UI"/>
              </a:rPr>
              <a:t>Ours, one round:</a:t>
            </a:r>
          </a:p>
          <a:p>
            <a:pPr>
              <a:spcAft>
                <a:spcPts val="400"/>
              </a:spcAft>
            </a:pPr>
            <a:r>
              <a:rPr sz="1500" b="0">
                <a:solidFill>
                  <a:srgbClr val="9AA6B4"/>
                </a:solidFill>
                <a:latin typeface="Segoe UI"/>
              </a:rPr>
              <a:t>       ACT      GRPO rollouts, flashcard-PER picks the cards</a:t>
            </a:r>
          </a:p>
          <a:p>
            <a:pPr>
              <a:spcAft>
                <a:spcPts val="400"/>
              </a:spcAft>
            </a:pPr>
            <a:r>
              <a:rPr sz="1500" b="0">
                <a:solidFill>
                  <a:srgbClr val="9AA6B4"/>
                </a:solidFill>
                <a:latin typeface="Segoe UI"/>
              </a:rPr>
              <a:t>       REWARD   frozen judge scores every sample (the world pays)</a:t>
            </a:r>
          </a:p>
          <a:p>
            <a:pPr>
              <a:spcAft>
                <a:spcPts val="400"/>
              </a:spcAft>
            </a:pPr>
            <a:r>
              <a:rPr sz="1500" b="0">
                <a:solidFill>
                  <a:srgbClr val="9AA6B4"/>
                </a:solidFill>
                <a:latin typeface="Segoe UI"/>
              </a:rPr>
              <a:t>       STORE    replay ledger keeps (prompt, answer, score) — no longer discarded</a:t>
            </a:r>
          </a:p>
          <a:p>
            <a:pPr>
              <a:spcAft>
                <a:spcPts val="400"/>
              </a:spcAft>
            </a:pPr>
            <a:r>
              <a:rPr sz="1500" b="0">
                <a:solidFill>
                  <a:srgbClr val="9AA6B4"/>
                </a:solidFill>
                <a:latin typeface="Segoe UI"/>
              </a:rPr>
              <a:t>       LEARN    round boundary: mini IPO on the round's own pairs, merge, continue</a:t>
            </a:r>
          </a:p>
          <a:p>
            <a:pPr>
              <a:spcAft>
                <a:spcPts val="900"/>
              </a:spcAft>
            </a:pPr>
            <a:r>
              <a:rPr sz="1800" b="1">
                <a:solidFill>
                  <a:srgbClr val="E8ECF1"/>
                </a:solidFill>
                <a:latin typeface="Segoe UI"/>
              </a:rPr>
              <a:t>One deviation from textbook Dyna, on purpose: we replay REAL judged</a:t>
            </a:r>
          </a:p>
          <a:p>
            <a:pPr>
              <a:spcAft>
                <a:spcPts val="400"/>
              </a:spcAft>
            </a:pPr>
            <a:r>
              <a:rPr sz="1500" b="0">
                <a:solidFill>
                  <a:srgbClr val="F5C56B"/>
                </a:solidFill>
                <a:latin typeface="Segoe UI"/>
              </a:rPr>
              <a:t>     outcomes, never model-hallucinated ones — the safe half under a foolable judge.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course toolbox, scored against this project</a:t>
            </a:r>
          </a:p>
        </p:txBody>
      </p:sp>
      <p:graphicFrame>
        <p:nvGraphicFramePr>
          <p:cNvPr id="4" name="Table 3"/>
          <p:cNvGraphicFramePr>
            <a:graphicFrameLocks noGrp="1"/>
          </p:cNvGraphicFramePr>
          <p:nvPr/>
        </p:nvGraphicFramePr>
        <p:xfrm>
          <a:off x="868680" y="1463040"/>
          <a:ext cx="10424160" cy="3886200"/>
        </p:xfrm>
        <a:graphic>
          <a:graphicData uri="http://schemas.openxmlformats.org/drawingml/2006/table">
            <a:tbl>
              <a:tblPr>
                <a:tableStyleId>{5C22544A-7EE6-4342-B048-85BDC9FD1C3A}</a:tableStyleId>
              </a:tblPr>
              <a:tblGrid>
                <a:gridCol w="3474720"/>
                <a:gridCol w="3474720"/>
                <a:gridCol w="3474720"/>
              </a:tblGrid>
              <a:tr h="388620">
                <a:tc>
                  <a:txBody>
                    <a:bodyPr/>
                    <a:lstStyle/>
                    <a:p>
                      <a:pPr>
                        <a:spcAft>
                          <a:spcPts val="0"/>
                        </a:spcAft>
                      </a:pPr>
                      <a:r>
                        <a:rPr sz="1300" b="1">
                          <a:solidFill>
                            <a:srgbClr val="12161C"/>
                          </a:solidFill>
                          <a:latin typeface="Segoe UI"/>
                        </a:rPr>
                        <a:t>course concept</a:t>
                      </a:r>
                    </a:p>
                  </a:txBody>
                  <a:tcPr>
                    <a:solidFill>
                      <a:srgbClr val="5BC8F5"/>
                    </a:solidFill>
                  </a:tcPr>
                </a:tc>
                <a:tc>
                  <a:txBody>
                    <a:bodyPr/>
                    <a:lstStyle/>
                    <a:p>
                      <a:pPr>
                        <a:spcAft>
                          <a:spcPts val="0"/>
                        </a:spcAft>
                      </a:pPr>
                      <a:r>
                        <a:rPr sz="1300" b="1">
                          <a:solidFill>
                            <a:srgbClr val="12161C"/>
                          </a:solidFill>
                          <a:latin typeface="Segoe UI"/>
                        </a:rPr>
                        <a:t>where it landed here</a:t>
                      </a:r>
                    </a:p>
                  </a:txBody>
                  <a:tcPr>
                    <a:solidFill>
                      <a:srgbClr val="5BC8F5"/>
                    </a:solidFill>
                  </a:tcPr>
                </a:tc>
                <a:tc>
                  <a:txBody>
                    <a:bodyPr/>
                    <a:lstStyle/>
                    <a:p>
                      <a:pPr>
                        <a:spcAft>
                          <a:spcPts val="0"/>
                        </a:spcAft>
                      </a:pPr>
                      <a:r>
                        <a:rPr sz="1300" b="1">
                          <a:solidFill>
                            <a:srgbClr val="12161C"/>
                          </a:solidFill>
                          <a:latin typeface="Segoe UI"/>
                        </a:rPr>
                        <a:t>verdict</a:t>
                      </a:r>
                    </a:p>
                  </a:txBody>
                  <a:tcPr>
                    <a:solidFill>
                      <a:srgbClr val="5BC8F5"/>
                    </a:solidFill>
                  </a:tcPr>
                </a:tc>
              </a:tr>
              <a:tr h="388620">
                <a:tc>
                  <a:txBody>
                    <a:bodyPr/>
                    <a:lstStyle/>
                    <a:p>
                      <a:pPr>
                        <a:spcAft>
                          <a:spcPts val="0"/>
                        </a:spcAft>
                      </a:pPr>
                      <a:r>
                        <a:rPr sz="1200">
                          <a:solidFill>
                            <a:srgbClr val="E8ECF1"/>
                          </a:solidFill>
                          <a:latin typeface="Segoe UI"/>
                        </a:rPr>
                        <a:t>MDP formulation (part 1)</a:t>
                      </a:r>
                    </a:p>
                  </a:txBody>
                  <a:tcPr>
                    <a:solidFill>
                      <a:srgbClr val="1A1F27"/>
                    </a:solidFill>
                  </a:tcPr>
                </a:tc>
                <a:tc>
                  <a:txBody>
                    <a:bodyPr/>
                    <a:lstStyle/>
                    <a:p>
                      <a:pPr>
                        <a:spcAft>
                          <a:spcPts val="0"/>
                        </a:spcAft>
                      </a:pPr>
                      <a:r>
                        <a:rPr sz="1200">
                          <a:solidFill>
                            <a:srgbClr val="E8ECF1"/>
                          </a:solidFill>
                          <a:latin typeface="Segoe UI"/>
                        </a:rPr>
                        <a:t>episode = contextual bandit; token level = MDP, judge pays at the end</a:t>
                      </a:r>
                    </a:p>
                  </a:txBody>
                  <a:tcPr>
                    <a:solidFill>
                      <a:srgbClr val="1A1F27"/>
                    </a:solidFill>
                  </a:tcPr>
                </a:tc>
                <a:tc>
                  <a:txBody>
                    <a:bodyPr/>
                    <a:lstStyle/>
                    <a:p>
                      <a:pPr>
                        <a:spcAft>
                          <a:spcPts val="0"/>
                        </a:spcAft>
                      </a:pPr>
                      <a:r>
                        <a:rPr sz="1200">
                          <a:solidFill>
                            <a:srgbClr val="E8ECF1"/>
                          </a:solidFill>
                          <a:latin typeface="Segoe UI"/>
                        </a:rPr>
                        <a:t>the frame of every slide</a:t>
                      </a:r>
                    </a:p>
                  </a:txBody>
                  <a:tcPr>
                    <a:solidFill>
                      <a:srgbClr val="1A1F27"/>
                    </a:solidFill>
                  </a:tcPr>
                </a:tc>
              </a:tr>
              <a:tr h="388620">
                <a:tc>
                  <a:txBody>
                    <a:bodyPr/>
                    <a:lstStyle/>
                    <a:p>
                      <a:pPr>
                        <a:spcAft>
                          <a:spcPts val="0"/>
                        </a:spcAft>
                      </a:pPr>
                      <a:r>
                        <a:rPr sz="1200">
                          <a:solidFill>
                            <a:srgbClr val="E8ECF1"/>
                          </a:solidFill>
                          <a:latin typeface="Segoe UI"/>
                        </a:rPr>
                        <a:t>exploration under uncertainty (part 3)</a:t>
                      </a:r>
                    </a:p>
                  </a:txBody>
                  <a:tcPr>
                    <a:solidFill>
                      <a:srgbClr val="212731"/>
                    </a:solidFill>
                  </a:tcPr>
                </a:tc>
                <a:tc>
                  <a:txBody>
                    <a:bodyPr/>
                    <a:lstStyle/>
                    <a:p>
                      <a:pPr>
                        <a:spcAft>
                          <a:spcPts val="0"/>
                        </a:spcAft>
                      </a:pPr>
                      <a:r>
                        <a:rPr sz="1200">
                          <a:solidFill>
                            <a:srgbClr val="E8ECF1"/>
                          </a:solidFill>
                          <a:latin typeface="Segoe UI"/>
                        </a:rPr>
                        <a:t>train only prompts whose sampled outcomes disagree</a:t>
                      </a:r>
                    </a:p>
                  </a:txBody>
                  <a:tcPr>
                    <a:solidFill>
                      <a:srgbClr val="212731"/>
                    </a:solidFill>
                  </a:tcPr>
                </a:tc>
                <a:tc>
                  <a:txBody>
                    <a:bodyPr/>
                    <a:lstStyle/>
                    <a:p>
                      <a:pPr>
                        <a:spcAft>
                          <a:spcPts val="0"/>
                        </a:spcAft>
                      </a:pPr>
                      <a:r>
                        <a:rPr sz="1200">
                          <a:solidFill>
                            <a:srgbClr val="E8ECF1"/>
                          </a:solidFill>
                          <a:latin typeface="Segoe UI"/>
                        </a:rPr>
                        <a:t>KEPT — on in every run</a:t>
                      </a:r>
                    </a:p>
                  </a:txBody>
                  <a:tcPr>
                    <a:solidFill>
                      <a:srgbClr val="212731"/>
                    </a:solidFill>
                  </a:tcPr>
                </a:tc>
              </a:tr>
              <a:tr h="388620">
                <a:tc>
                  <a:txBody>
                    <a:bodyPr/>
                    <a:lstStyle/>
                    <a:p>
                      <a:pPr>
                        <a:spcAft>
                          <a:spcPts val="0"/>
                        </a:spcAft>
                      </a:pPr>
                      <a:r>
                        <a:rPr sz="1200">
                          <a:solidFill>
                            <a:srgbClr val="E8ECF1"/>
                          </a:solidFill>
                          <a:latin typeface="Segoe UI"/>
                        </a:rPr>
                        <a:t>optimistic initialization (part 3)</a:t>
                      </a:r>
                    </a:p>
                  </a:txBody>
                  <a:tcPr>
                    <a:solidFill>
                      <a:srgbClr val="1A1F27"/>
                    </a:solidFill>
                  </a:tcPr>
                </a:tc>
                <a:tc>
                  <a:txBody>
                    <a:bodyPr/>
                    <a:lstStyle/>
                    <a:p>
                      <a:pPr>
                        <a:spcAft>
                          <a:spcPts val="0"/>
                        </a:spcAft>
                      </a:pPr>
                      <a:r>
                        <a:rPr sz="1200">
                          <a:solidFill>
                            <a:srgbClr val="E8ECF1"/>
                          </a:solidFill>
                          <a:latin typeface="Segoe UI"/>
                        </a:rPr>
                        <a:t>unseen prompts enter at max priority — Beta(1,1)</a:t>
                      </a:r>
                    </a:p>
                  </a:txBody>
                  <a:tcPr>
                    <a:solidFill>
                      <a:srgbClr val="1A1F27"/>
                    </a:solidFill>
                  </a:tcPr>
                </a:tc>
                <a:tc>
                  <a:txBody>
                    <a:bodyPr/>
                    <a:lstStyle/>
                    <a:p>
                      <a:pPr>
                        <a:spcAft>
                          <a:spcPts val="0"/>
                        </a:spcAft>
                      </a:pPr>
                      <a:r>
                        <a:rPr sz="1200">
                          <a:solidFill>
                            <a:srgbClr val="E8ECF1"/>
                          </a:solidFill>
                          <a:latin typeface="Segoe UI"/>
                        </a:rPr>
                        <a:t>in the flashcard box</a:t>
                      </a:r>
                    </a:p>
                  </a:txBody>
                  <a:tcPr>
                    <a:solidFill>
                      <a:srgbClr val="1A1F27"/>
                    </a:solidFill>
                  </a:tcPr>
                </a:tc>
              </a:tr>
              <a:tr h="388620">
                <a:tc>
                  <a:txBody>
                    <a:bodyPr/>
                    <a:lstStyle/>
                    <a:p>
                      <a:pPr>
                        <a:spcAft>
                          <a:spcPts val="0"/>
                        </a:spcAft>
                      </a:pPr>
                      <a:r>
                        <a:rPr sz="1200">
                          <a:solidFill>
                            <a:srgbClr val="E8ECF1"/>
                          </a:solidFill>
                          <a:latin typeface="Segoe UI"/>
                        </a:rPr>
                        <a:t>prioritized replay (part 6)</a:t>
                      </a:r>
                    </a:p>
                  </a:txBody>
                  <a:tcPr>
                    <a:solidFill>
                      <a:srgbClr val="212731"/>
                    </a:solidFill>
                  </a:tcPr>
                </a:tc>
                <a:tc>
                  <a:txBody>
                    <a:bodyPr/>
                    <a:lstStyle/>
                    <a:p>
                      <a:pPr>
                        <a:spcAft>
                          <a:spcPts val="0"/>
                        </a:spcAft>
                      </a:pPr>
                      <a:r>
                        <a:rPr sz="1200">
                          <a:solidFill>
                            <a:srgbClr val="E8ECF1"/>
                          </a:solidFill>
                          <a:latin typeface="Segoe UI"/>
                        </a:rPr>
                        <a:t>flashcard prompt picking in the winning RL pass</a:t>
                      </a:r>
                    </a:p>
                  </a:txBody>
                  <a:tcPr>
                    <a:solidFill>
                      <a:srgbClr val="212731"/>
                    </a:solidFill>
                  </a:tcPr>
                </a:tc>
                <a:tc>
                  <a:txBody>
                    <a:bodyPr/>
                    <a:lstStyle/>
                    <a:p>
                      <a:pPr>
                        <a:spcAft>
                          <a:spcPts val="0"/>
                        </a:spcAft>
                      </a:pPr>
                      <a:r>
                        <a:rPr sz="1200">
                          <a:solidFill>
                            <a:srgbClr val="E8ECF1"/>
                          </a:solidFill>
                          <a:latin typeface="Segoe UI"/>
                        </a:rPr>
                        <a:t>KEPT — in the 8/14 pass</a:t>
                      </a:r>
                    </a:p>
                  </a:txBody>
                  <a:tcPr>
                    <a:solidFill>
                      <a:srgbClr val="212731"/>
                    </a:solidFill>
                  </a:tcPr>
                </a:tc>
              </a:tr>
              <a:tr h="388620">
                <a:tc>
                  <a:txBody>
                    <a:bodyPr/>
                    <a:lstStyle/>
                    <a:p>
                      <a:pPr>
                        <a:spcAft>
                          <a:spcPts val="0"/>
                        </a:spcAft>
                      </a:pPr>
                      <a:r>
                        <a:rPr sz="1200">
                          <a:solidFill>
                            <a:srgbClr val="E8ECF1"/>
                          </a:solidFill>
                          <a:latin typeface="Segoe UI"/>
                        </a:rPr>
                        <a:t>on-policy vs off-policy (part 3)</a:t>
                      </a:r>
                    </a:p>
                  </a:txBody>
                  <a:tcPr>
                    <a:solidFill>
                      <a:srgbClr val="1A1F27"/>
                    </a:solidFill>
                  </a:tcPr>
                </a:tc>
                <a:tc>
                  <a:txBody>
                    <a:bodyPr/>
                    <a:lstStyle/>
                    <a:p>
                      <a:pPr>
                        <a:spcAft>
                          <a:spcPts val="0"/>
                        </a:spcAft>
                      </a:pPr>
                      <a:r>
                        <a:rPr sz="1200">
                          <a:solidFill>
                            <a:srgbClr val="E8ECF1"/>
                          </a:solidFill>
                          <a:latin typeface="Segoe UI"/>
                        </a:rPr>
                        <a:t>2nd on-policy pass regressed x6 — confirmed on the locked board (fp p3: 2, flip2: 2); IPO polish reads 8 → 7</a:t>
                      </a:r>
                    </a:p>
                  </a:txBody>
                  <a:tcPr>
                    <a:solidFill>
                      <a:srgbClr val="1A1F27"/>
                    </a:solidFill>
                  </a:tcPr>
                </a:tc>
                <a:tc>
                  <a:txBody>
                    <a:bodyPr/>
                    <a:lstStyle/>
                    <a:p>
                      <a:pPr>
                        <a:spcAft>
                          <a:spcPts val="0"/>
                        </a:spcAft>
                      </a:pPr>
                      <a:r>
                        <a:rPr sz="1200">
                          <a:solidFill>
                            <a:srgbClr val="E8ECF1"/>
                          </a:solidFill>
                          <a:latin typeface="Segoe UI"/>
                        </a:rPr>
                        <a:t>THE finding</a:t>
                      </a:r>
                    </a:p>
                  </a:txBody>
                  <a:tcPr>
                    <a:solidFill>
                      <a:srgbClr val="1A1F27"/>
                    </a:solidFill>
                  </a:tcPr>
                </a:tc>
              </a:tr>
              <a:tr h="388620">
                <a:tc>
                  <a:txBody>
                    <a:bodyPr/>
                    <a:lstStyle/>
                    <a:p>
                      <a:pPr>
                        <a:spcAft>
                          <a:spcPts val="0"/>
                        </a:spcAft>
                      </a:pPr>
                      <a:r>
                        <a:rPr sz="1200">
                          <a:solidFill>
                            <a:srgbClr val="E8ECF1"/>
                          </a:solidFill>
                          <a:latin typeface="Segoe UI"/>
                        </a:rPr>
                        <a:t>world model (part 6)</a:t>
                      </a:r>
                    </a:p>
                  </a:txBody>
                  <a:tcPr>
                    <a:solidFill>
                      <a:srgbClr val="212731"/>
                    </a:solidFill>
                  </a:tcPr>
                </a:tc>
                <a:tc>
                  <a:txBody>
                    <a:bodyPr/>
                    <a:lstStyle/>
                    <a:p>
                      <a:pPr>
                        <a:spcAft>
                          <a:spcPts val="0"/>
                        </a:spcAft>
                      </a:pPr>
                      <a:r>
                        <a:rPr sz="1200">
                          <a:solidFill>
                            <a:srgbClr val="E8ECF1"/>
                          </a:solidFill>
                          <a:latin typeface="Segoe UI"/>
                        </a:rPr>
                        <a:t>model of the judge IS the world model; IPO carries it implicitly</a:t>
                      </a:r>
                    </a:p>
                  </a:txBody>
                  <a:tcPr>
                    <a:solidFill>
                      <a:srgbClr val="212731"/>
                    </a:solidFill>
                  </a:tcPr>
                </a:tc>
                <a:tc>
                  <a:txBody>
                    <a:bodyPr/>
                    <a:lstStyle/>
                    <a:p>
                      <a:pPr>
                        <a:spcAft>
                          <a:spcPts val="0"/>
                        </a:spcAft>
                      </a:pPr>
                      <a:r>
                        <a:rPr sz="1200">
                          <a:solidFill>
                            <a:srgbClr val="E8ECF1"/>
                          </a:solidFill>
                          <a:latin typeface="Segoe UI"/>
                        </a:rPr>
                        <a:t>+3 in 2 of 3 head-to-heads</a:t>
                      </a:r>
                    </a:p>
                  </a:txBody>
                  <a:tcPr>
                    <a:solidFill>
                      <a:srgbClr val="212731"/>
                    </a:solidFill>
                  </a:tcPr>
                </a:tc>
              </a:tr>
              <a:tr h="388620">
                <a:tc>
                  <a:txBody>
                    <a:bodyPr/>
                    <a:lstStyle/>
                    <a:p>
                      <a:pPr>
                        <a:spcAft>
                          <a:spcPts val="0"/>
                        </a:spcAft>
                      </a:pPr>
                      <a:r>
                        <a:rPr sz="1200">
                          <a:solidFill>
                            <a:srgbClr val="E8ECF1"/>
                          </a:solidFill>
                          <a:latin typeface="Segoe UI"/>
                        </a:rPr>
                        <a:t>Dyna (part 6)</a:t>
                      </a:r>
                    </a:p>
                  </a:txBody>
                  <a:tcPr>
                    <a:solidFill>
                      <a:srgbClr val="1A1F27"/>
                    </a:solidFill>
                  </a:tcPr>
                </a:tc>
                <a:tc>
                  <a:txBody>
                    <a:bodyPr/>
                    <a:lstStyle/>
                    <a:p>
                      <a:pPr>
                        <a:spcAft>
                          <a:spcPts val="0"/>
                        </a:spcAft>
                      </a:pPr>
                      <a:r>
                        <a:rPr sz="1200">
                          <a:solidFill>
                            <a:srgbClr val="E8ECF1"/>
                          </a:solidFill>
                          <a:latin typeface="Segoe UI"/>
                        </a:rPr>
                        <a:t>act → judge → store → offline update each round; real experience only</a:t>
                      </a:r>
                    </a:p>
                  </a:txBody>
                  <a:tcPr>
                    <a:solidFill>
                      <a:srgbClr val="1A1F27"/>
                    </a:solidFill>
                  </a:tcPr>
                </a:tc>
                <a:tc>
                  <a:txBody>
                    <a:bodyPr/>
                    <a:lstStyle/>
                    <a:p>
                      <a:pPr>
                        <a:spcAft>
                          <a:spcPts val="0"/>
                        </a:spcAft>
                      </a:pPr>
                      <a:r>
                        <a:rPr sz="1200">
                          <a:solidFill>
                            <a:srgbClr val="E8ECF1"/>
                          </a:solidFill>
                          <a:latin typeface="Segoe UI"/>
                        </a:rPr>
                        <a:t>tested: no credible win — and it exposed a judge-fooling mode</a:t>
                      </a:r>
                    </a:p>
                  </a:txBody>
                  <a:tcPr>
                    <a:solidFill>
                      <a:srgbClr val="1A1F27"/>
                    </a:solidFill>
                  </a:tcPr>
                </a:tc>
              </a:tr>
              <a:tr h="388620">
                <a:tc>
                  <a:txBody>
                    <a:bodyPr/>
                    <a:lstStyle/>
                    <a:p>
                      <a:pPr>
                        <a:spcAft>
                          <a:spcPts val="0"/>
                        </a:spcAft>
                      </a:pPr>
                      <a:r>
                        <a:rPr sz="1200">
                          <a:solidFill>
                            <a:srgbClr val="E8ECF1"/>
                          </a:solidFill>
                          <a:latin typeface="Segoe UI"/>
                        </a:rPr>
                        <a:t>learned verifier ensemble (part 6)</a:t>
                      </a:r>
                    </a:p>
                  </a:txBody>
                  <a:tcPr>
                    <a:solidFill>
                      <a:srgbClr val="212731"/>
                    </a:solidFill>
                  </a:tcPr>
                </a:tc>
                <a:tc>
                  <a:txBody>
                    <a:bodyPr/>
                    <a:lstStyle/>
                    <a:p>
                      <a:pPr>
                        <a:spcAft>
                          <a:spcPts val="0"/>
                        </a:spcAft>
                      </a:pPr>
                      <a:r>
                        <a:rPr sz="1200">
                          <a:solidFill>
                            <a:srgbClr val="E8ECF1"/>
                          </a:solidFill>
                          <a:latin typeface="Segoe UI"/>
                        </a:rPr>
                        <a:t>(q,a)→score heads picking among the model's own samples</a:t>
                      </a:r>
                    </a:p>
                  </a:txBody>
                  <a:tcPr>
                    <a:solidFill>
                      <a:srgbClr val="212731"/>
                    </a:solidFill>
                  </a:tcPr>
                </a:tc>
                <a:tc>
                  <a:txBody>
                    <a:bodyPr/>
                    <a:lstStyle/>
                    <a:p>
                      <a:pPr>
                        <a:spcAft>
                          <a:spcPts val="0"/>
                        </a:spcAft>
                      </a:pPr>
                      <a:r>
                        <a:rPr sz="1200">
                          <a:solidFill>
                            <a:srgbClr val="E8ECF1"/>
                          </a:solidFill>
                          <a:latin typeface="Segoe UI"/>
                        </a:rPr>
                        <a:t>tested: NO SIGNAL (AUC ≈ .5)</a:t>
                      </a:r>
                    </a:p>
                  </a:txBody>
                  <a:tcPr>
                    <a:solidFill>
                      <a:srgbClr val="212731"/>
                    </a:solidFill>
                  </a:tcPr>
                </a:tc>
              </a:tr>
              <a:tr h="388620">
                <a:tc>
                  <a:txBody>
                    <a:bodyPr/>
                    <a:lstStyle/>
                    <a:p>
                      <a:pPr>
                        <a:spcAft>
                          <a:spcPts val="0"/>
                        </a:spcAft>
                      </a:pPr>
                      <a:r>
                        <a:rPr sz="1200">
                          <a:solidFill>
                            <a:srgbClr val="E8ECF1"/>
                          </a:solidFill>
                          <a:latin typeface="Segoe UI"/>
                        </a:rPr>
                        <a:t>value iteration · tree search · DQN (parts 1-5)</a:t>
                      </a:r>
                    </a:p>
                  </a:txBody>
                  <a:tcPr>
                    <a:solidFill>
                      <a:srgbClr val="1A1F27"/>
                    </a:solidFill>
                  </a:tcPr>
                </a:tc>
                <a:tc>
                  <a:txBody>
                    <a:bodyPr/>
                    <a:lstStyle/>
                    <a:p>
                      <a:pPr>
                        <a:spcAft>
                          <a:spcPts val="0"/>
                        </a:spcAft>
                      </a:pPr>
                      <a:r>
                        <a:rPr sz="1200">
                          <a:solidFill>
                            <a:srgbClr val="E8ECF1"/>
                          </a:solidFill>
                          <a:latin typeface="Segoe UI"/>
                        </a:rPr>
                        <a:t>need a multi-step model or a value bootstrap; this problem is one step</a:t>
                      </a:r>
                    </a:p>
                  </a:txBody>
                  <a:tcPr>
                    <a:solidFill>
                      <a:srgbClr val="1A1F27"/>
                    </a:solidFill>
                  </a:tcPr>
                </a:tc>
                <a:tc>
                  <a:txBody>
                    <a:bodyPr/>
                    <a:lstStyle/>
                    <a:p>
                      <a:pPr>
                        <a:spcAft>
                          <a:spcPts val="0"/>
                        </a:spcAft>
                      </a:pPr>
                      <a:r>
                        <a:rPr sz="1200">
                          <a:solidFill>
                            <a:srgbClr val="E8ECF1"/>
                          </a:solidFill>
                          <a:latin typeface="Segoe UI"/>
                        </a:rPr>
                        <a:t>not applicable</a:t>
                      </a:r>
                    </a:p>
                  </a:txBody>
                  <a:tcPr>
                    <a:solidFill>
                      <a:srgbClr val="1A1F27"/>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The course's methods, each with where it landed and what it earned; numbers are correct counts on the frozen 16.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method ladder — what each rung bought (of 16)</a:t>
            </a:r>
          </a:p>
        </p:txBody>
      </p:sp>
      <p:graphicFrame>
        <p:nvGraphicFramePr>
          <p:cNvPr id="4" name="Table 3"/>
          <p:cNvGraphicFramePr>
            <a:graphicFrameLocks noGrp="1"/>
          </p:cNvGraphicFramePr>
          <p:nvPr/>
        </p:nvGraphicFramePr>
        <p:xfrm>
          <a:off x="868680" y="1463040"/>
          <a:ext cx="10424160" cy="2423160"/>
        </p:xfrm>
        <a:graphic>
          <a:graphicData uri="http://schemas.openxmlformats.org/drawingml/2006/table">
            <a:tbl>
              <a:tblPr>
                <a:tableStyleId>{5C22544A-7EE6-4342-B048-85BDC9FD1C3A}</a:tableStyleId>
              </a:tblPr>
              <a:tblGrid>
                <a:gridCol w="3474720"/>
                <a:gridCol w="3474720"/>
                <a:gridCol w="3474720"/>
              </a:tblGrid>
              <a:tr h="403860">
                <a:tc>
                  <a:txBody>
                    <a:bodyPr/>
                    <a:lstStyle/>
                    <a:p>
                      <a:pPr>
                        <a:spcAft>
                          <a:spcPts val="0"/>
                        </a:spcAft>
                      </a:pPr>
                      <a:r>
                        <a:rPr sz="1300" b="1">
                          <a:solidFill>
                            <a:srgbClr val="12161C"/>
                          </a:solidFill>
                          <a:latin typeface="Segoe UI"/>
                        </a:rPr>
                        <a:t>method</a:t>
                      </a:r>
                    </a:p>
                  </a:txBody>
                  <a:tcPr>
                    <a:solidFill>
                      <a:srgbClr val="5BC8F5"/>
                    </a:solidFill>
                  </a:tcPr>
                </a:tc>
                <a:tc>
                  <a:txBody>
                    <a:bodyPr/>
                    <a:lstStyle/>
                    <a:p>
                      <a:pPr>
                        <a:spcAft>
                          <a:spcPts val="0"/>
                        </a:spcAft>
                      </a:pPr>
                      <a:r>
                        <a:rPr sz="1300" b="1">
                          <a:solidFill>
                            <a:srgbClr val="12161C"/>
                          </a:solidFill>
                          <a:latin typeface="Segoe UI"/>
                        </a:rPr>
                        <a:t>locked board</a:t>
                      </a:r>
                    </a:p>
                  </a:txBody>
                  <a:tcPr>
                    <a:solidFill>
                      <a:srgbClr val="5BC8F5"/>
                    </a:solidFill>
                  </a:tcPr>
                </a:tc>
                <a:tc>
                  <a:txBody>
                    <a:bodyPr/>
                    <a:lstStyle/>
                    <a:p>
                      <a:pPr>
                        <a:spcAft>
                          <a:spcPts val="0"/>
                        </a:spcAft>
                      </a:pPr>
                      <a:r>
                        <a:rPr sz="1300" b="1">
                          <a:solidFill>
                            <a:srgbClr val="12161C"/>
                          </a:solidFill>
                          <a:latin typeface="Segoe UI"/>
                        </a:rPr>
                        <a:t>what the mechanism is</a:t>
                      </a:r>
                    </a:p>
                  </a:txBody>
                  <a:tcPr>
                    <a:solidFill>
                      <a:srgbClr val="5BC8F5"/>
                    </a:solidFill>
                  </a:tcPr>
                </a:tc>
              </a:tr>
              <a:tr h="403860">
                <a:tc>
                  <a:txBody>
                    <a:bodyPr/>
                    <a:lstStyle/>
                    <a:p>
                      <a:pPr>
                        <a:spcAft>
                          <a:spcPts val="0"/>
                        </a:spcAft>
                      </a:pPr>
                      <a:r>
                        <a:rPr sz="1200">
                          <a:solidFill>
                            <a:srgbClr val="E8ECF1"/>
                          </a:solidFill>
                          <a:latin typeface="Segoe UI"/>
                        </a:rPr>
                        <a:t>base (no training)</a:t>
                      </a:r>
                    </a:p>
                  </a:txBody>
                  <a:tcPr>
                    <a:solidFill>
                      <a:srgbClr val="1A1F27"/>
                    </a:solidFill>
                  </a:tcPr>
                </a:tc>
                <a:tc>
                  <a:txBody>
                    <a:bodyPr/>
                    <a:lstStyle/>
                    <a:p>
                      <a:pPr>
                        <a:spcAft>
                          <a:spcPts val="0"/>
                        </a:spcAft>
                      </a:pPr>
                      <a:r>
                        <a:rPr sz="1200">
                          <a:solidFill>
                            <a:srgbClr val="E8ECF1"/>
                          </a:solidFill>
                          <a:latin typeface="Segoe UI"/>
                        </a:rPr>
                        <a:t>4</a:t>
                      </a:r>
                    </a:p>
                  </a:txBody>
                  <a:tcPr>
                    <a:solidFill>
                      <a:srgbClr val="1A1F27"/>
                    </a:solidFill>
                  </a:tcPr>
                </a:tc>
                <a:tc>
                  <a:txBody>
                    <a:bodyPr/>
                    <a:lstStyle/>
                    <a:p>
                      <a:pPr>
                        <a:spcAft>
                          <a:spcPts val="0"/>
                        </a:spcAft>
                      </a:pPr>
                      <a:r>
                        <a:rPr sz="1200">
                          <a:solidFill>
                            <a:srgbClr val="E8ECF1"/>
                          </a:solidFill>
                          <a:latin typeface="Segoe UI"/>
                        </a:rPr>
                        <a:t>the 0.8B model as shipped</a:t>
                      </a:r>
                    </a:p>
                  </a:txBody>
                  <a:tcPr>
                    <a:solidFill>
                      <a:srgbClr val="1A1F27"/>
                    </a:solidFill>
                  </a:tcPr>
                </a:tc>
              </a:tr>
              <a:tr h="403860">
                <a:tc>
                  <a:txBody>
                    <a:bodyPr/>
                    <a:lstStyle/>
                    <a:p>
                      <a:pPr>
                        <a:spcAft>
                          <a:spcPts val="0"/>
                        </a:spcAft>
                      </a:pPr>
                      <a:r>
                        <a:rPr sz="1200">
                          <a:solidFill>
                            <a:srgbClr val="E8ECF1"/>
                          </a:solidFill>
                          <a:latin typeface="Segoe UI"/>
                        </a:rPr>
                        <a:t>+ full-param SFT</a:t>
                      </a:r>
                    </a:p>
                  </a:txBody>
                  <a:tcPr>
                    <a:solidFill>
                      <a:srgbClr val="212731"/>
                    </a:solidFill>
                  </a:tcPr>
                </a:tc>
                <a:tc>
                  <a:txBody>
                    <a:bodyPr/>
                    <a:lstStyle/>
                    <a:p>
                      <a:pPr>
                        <a:spcAft>
                          <a:spcPts val="0"/>
                        </a:spcAft>
                      </a:pPr>
                      <a:r>
                        <a:rPr sz="1200">
                          <a:solidFill>
                            <a:srgbClr val="E8ECF1"/>
                          </a:solidFill>
                          <a:latin typeface="Segoe UI"/>
                        </a:rPr>
                        <a:t>4</a:t>
                      </a:r>
                    </a:p>
                  </a:txBody>
                  <a:tcPr>
                    <a:solidFill>
                      <a:srgbClr val="212731"/>
                    </a:solidFill>
                  </a:tcPr>
                </a:tc>
                <a:tc>
                  <a:txBody>
                    <a:bodyPr/>
                    <a:lstStyle/>
                    <a:p>
                      <a:pPr>
                        <a:spcAft>
                          <a:spcPts val="0"/>
                        </a:spcAft>
                      </a:pPr>
                      <a:r>
                        <a:rPr sz="1200">
                          <a:solidFill>
                            <a:srgbClr val="E8ECF1"/>
                          </a:solidFill>
                          <a:latin typeface="Segoe UI"/>
                        </a:rPr>
                        <a:t>deposit: completion-only loss on domain QA</a:t>
                      </a:r>
                    </a:p>
                  </a:txBody>
                  <a:tcPr>
                    <a:solidFill>
                      <a:srgbClr val="212731"/>
                    </a:solidFill>
                  </a:tcPr>
                </a:tc>
              </a:tr>
              <a:tr h="403860">
                <a:tc>
                  <a:txBody>
                    <a:bodyPr/>
                    <a:lstStyle/>
                    <a:p>
                      <a:pPr>
                        <a:spcAft>
                          <a:spcPts val="0"/>
                        </a:spcAft>
                      </a:pPr>
                      <a:r>
                        <a:rPr sz="1200">
                          <a:solidFill>
                            <a:srgbClr val="E8ECF1"/>
                          </a:solidFill>
                          <a:latin typeface="Segoe UI"/>
                        </a:rPr>
                        <a:t>+ ReLoRA RL chain</a:t>
                      </a:r>
                    </a:p>
                  </a:txBody>
                  <a:tcPr>
                    <a:solidFill>
                      <a:srgbClr val="1A1F27"/>
                    </a:solidFill>
                  </a:tcPr>
                </a:tc>
                <a:tc>
                  <a:txBody>
                    <a:bodyPr/>
                    <a:lstStyle/>
                    <a:p>
                      <a:pPr>
                        <a:spcAft>
                          <a:spcPts val="0"/>
                        </a:spcAft>
                      </a:pPr>
                      <a:r>
                        <a:rPr sz="1200">
                          <a:solidFill>
                            <a:srgbClr val="E8ECF1"/>
                          </a:solidFill>
                          <a:latin typeface="Segoe UI"/>
                        </a:rPr>
                        <a:t>5</a:t>
                      </a:r>
                    </a:p>
                  </a:txBody>
                  <a:tcPr>
                    <a:solidFill>
                      <a:srgbClr val="1A1F27"/>
                    </a:solidFill>
                  </a:tcPr>
                </a:tc>
                <a:tc>
                  <a:txBody>
                    <a:bodyPr/>
                    <a:lstStyle/>
                    <a:p>
                      <a:pPr>
                        <a:spcAft>
                          <a:spcPts val="0"/>
                        </a:spcAft>
                      </a:pPr>
                      <a:r>
                        <a:rPr sz="1200">
                          <a:solidFill>
                            <a:srgbClr val="E8ECF1"/>
                          </a:solidFill>
                          <a:latin typeface="Segoe UI"/>
                        </a:rPr>
                        <a:t>LoRA pass, MERGE into weights, fresh LoRA, repeat</a:t>
                      </a:r>
                    </a:p>
                  </a:txBody>
                  <a:tcPr>
                    <a:solidFill>
                      <a:srgbClr val="1A1F27"/>
                    </a:solidFill>
                  </a:tcPr>
                </a:tc>
              </a:tr>
              <a:tr h="403860">
                <a:tc>
                  <a:txBody>
                    <a:bodyPr/>
                    <a:lstStyle/>
                    <a:p>
                      <a:pPr>
                        <a:spcAft>
                          <a:spcPts val="0"/>
                        </a:spcAft>
                      </a:pPr>
                      <a:r>
                        <a:rPr sz="1200">
                          <a:solidFill>
                            <a:srgbClr val="E8ECF1"/>
                          </a:solidFill>
                          <a:latin typeface="Segoe UI"/>
                        </a:rPr>
                        <a:t>+ 5-min offline IPO on a pass</a:t>
                      </a:r>
                    </a:p>
                  </a:txBody>
                  <a:tcPr>
                    <a:solidFill>
                      <a:srgbClr val="212731"/>
                    </a:solidFill>
                  </a:tcPr>
                </a:tc>
                <a:tc>
                  <a:txBody>
                    <a:bodyPr/>
                    <a:lstStyle/>
                    <a:p>
                      <a:pPr>
                        <a:spcAft>
                          <a:spcPts val="0"/>
                        </a:spcAft>
                      </a:pPr>
                      <a:r>
                        <a:rPr sz="1200">
                          <a:solidFill>
                            <a:srgbClr val="E8ECF1"/>
                          </a:solidFill>
                          <a:latin typeface="Segoe UI"/>
                        </a:rPr>
                        <a:t>7</a:t>
                      </a:r>
                    </a:p>
                  </a:txBody>
                  <a:tcPr>
                    <a:solidFill>
                      <a:srgbClr val="212731"/>
                    </a:solidFill>
                  </a:tcPr>
                </a:tc>
                <a:tc>
                  <a:txBody>
                    <a:bodyPr/>
                    <a:lstStyle/>
                    <a:p>
                      <a:pPr>
                        <a:spcAft>
                          <a:spcPts val="0"/>
                        </a:spcAft>
                      </a:pPr>
                      <a:r>
                        <a:rPr sz="1200">
                          <a:solidFill>
                            <a:srgbClr val="E8ECF1"/>
                          </a:solidFill>
                          <a:latin typeface="Segoe UI"/>
                        </a:rPr>
                        <a:t>the polish step; reads -1 under the locked grader</a:t>
                      </a:r>
                    </a:p>
                  </a:txBody>
                  <a:tcPr>
                    <a:solidFill>
                      <a:srgbClr val="212731"/>
                    </a:solidFill>
                  </a:tcPr>
                </a:tc>
              </a:tr>
              <a:tr h="403860">
                <a:tc>
                  <a:txBody>
                    <a:bodyPr/>
                    <a:lstStyle/>
                    <a:p>
                      <a:pPr>
                        <a:spcAft>
                          <a:spcPts val="0"/>
                        </a:spcAft>
                      </a:pPr>
                      <a:r>
                        <a:rPr sz="1200">
                          <a:solidFill>
                            <a:srgbClr val="E8ECF1"/>
                          </a:solidFill>
                          <a:latin typeface="Segoe UI"/>
                        </a:rPr>
                        <a:t>+ ONE full-param MGPO pass</a:t>
                      </a:r>
                    </a:p>
                  </a:txBody>
                  <a:tcPr>
                    <a:solidFill>
                      <a:srgbClr val="1A1F27"/>
                    </a:solidFill>
                  </a:tcPr>
                </a:tc>
                <a:tc>
                  <a:txBody>
                    <a:bodyPr/>
                    <a:lstStyle/>
                    <a:p>
                      <a:pPr>
                        <a:spcAft>
                          <a:spcPts val="0"/>
                        </a:spcAft>
                      </a:pPr>
                      <a:r>
                        <a:rPr sz="1200">
                          <a:solidFill>
                            <a:srgbClr val="E8ECF1"/>
                          </a:solidFill>
                          <a:latin typeface="Segoe UI"/>
                        </a:rPr>
                        <a:t>8</a:t>
                      </a:r>
                    </a:p>
                  </a:txBody>
                  <a:tcPr>
                    <a:solidFill>
                      <a:srgbClr val="1A1F27"/>
                    </a:solidFill>
                  </a:tcPr>
                </a:tc>
                <a:tc>
                  <a:txBody>
                    <a:bodyPr/>
                    <a:lstStyle/>
                    <a:p>
                      <a:pPr>
                        <a:spcAft>
                          <a:spcPts val="0"/>
                        </a:spcAft>
                      </a:pPr>
                      <a:r>
                        <a:rPr sz="1200">
                          <a:solidFill>
                            <a:srgbClr val="E8ECF1"/>
                          </a:solidFill>
                          <a:latin typeface="Segoe UI"/>
                        </a:rPr>
                        <a:t>THE WINNER — reproduced in two independent lanes</a:t>
                      </a:r>
                    </a:p>
                  </a:txBody>
                  <a:tcPr>
                    <a:solidFill>
                      <a:srgbClr val="1A1F27"/>
                    </a:solidFill>
                  </a:tcPr>
                </a:tc>
              </a:tr>
            </a:tbl>
          </a:graphicData>
        </a:graphic>
      </p:graphicFrame>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winner: ONE full-parameter MGPO pass — lift DOUBLED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Base answered 4 of 16 — 25%. The winner answers 8 of 16 — 50%.</a:t>
            </a:r>
          </a:p>
          <a:p>
            <a:pPr>
              <a:spcAft>
                <a:spcPts val="900"/>
              </a:spcAft>
            </a:pPr>
            <a:r>
              <a:rPr sz="1800" b="1">
                <a:solidFill>
                  <a:srgbClr val="6ED38A"/>
                </a:solidFill>
                <a:latin typeface="Segoe UI"/>
              </a:rPr>
              <a:t>The winner is ONE full-parameter MGPO pass on the full-param SFT deposit.</a:t>
            </a:r>
          </a:p>
          <a:p>
            <a:pPr>
              <a:spcAft>
                <a:spcPts val="900"/>
              </a:spcAft>
            </a:pPr>
            <a:r>
              <a:rPr sz="1800" b="1">
                <a:solidFill>
                  <a:srgbClr val="E8ECF1"/>
                </a:solidFill>
                <a:latin typeface="Segoe UI"/>
              </a:rPr>
              <a:t>Reproduced: two independent lanes reached 8 on the same core recipe —</a:t>
            </a:r>
          </a:p>
          <a:p>
            <a:pPr>
              <a:spcAft>
                <a:spcPts val="400"/>
              </a:spcAft>
            </a:pPr>
            <a:r>
              <a:rPr sz="1500" b="0">
                <a:solidFill>
                  <a:srgbClr val="9AA6B4"/>
                </a:solidFill>
                <a:latin typeface="Segoe UI"/>
              </a:rPr>
              <a:t>     full-param GRPO, lr 1e-5, G=4, binary-gate judge reward, deposit first.</a:t>
            </a:r>
          </a:p>
          <a:p>
            <a:pPr>
              <a:spcAft>
                <a:spcPts val="900"/>
              </a:spcAft>
            </a:pPr>
            <a:r>
              <a:rPr sz="1800" b="1">
                <a:solidFill>
                  <a:srgbClr val="F5C56B"/>
                </a:solidFill>
                <a:latin typeface="Segoe UI"/>
              </a:rPr>
              <a:t>Tried on top; changed NOTHING on the locked grader:</a:t>
            </a:r>
          </a:p>
          <a:p>
            <a:pPr>
              <a:spcAft>
                <a:spcPts val="400"/>
              </a:spcAft>
            </a:pPr>
            <a:r>
              <a:rPr sz="1500" b="0">
                <a:solidFill>
                  <a:srgbClr val="F5C56B"/>
                </a:solidFill>
                <a:latin typeface="Segoe UI"/>
              </a:rPr>
              <a:t>     5-min IPO polish 8 → 7 · Dyna in-loop updates 7 → 7 · every second</a:t>
            </a:r>
          </a:p>
          <a:p>
            <a:pPr>
              <a:spcAft>
                <a:spcPts val="400"/>
              </a:spcAft>
            </a:pPr>
            <a:r>
              <a:rPr sz="1500" b="0">
                <a:solidFill>
                  <a:srgbClr val="F5C56B"/>
                </a:solidFill>
                <a:latin typeface="Segoe UI"/>
              </a:rPr>
              <a:t>     pass on a lifted checkpoint COLLAPSED (2-5 of 16). One good pass. Stop.</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WHICH questions changed — the per-question grid</a:t>
            </a:r>
          </a:p>
        </p:txBody>
      </p:sp>
      <p:pic>
        <p:nvPicPr>
          <p:cNvPr id="4" name="Picture 3" descr="pipeline_flips.png"/>
          <p:cNvPicPr>
            <a:picLocks noChangeAspect="1"/>
          </p:cNvPicPr>
          <p:nvPr/>
        </p:nvPicPr>
        <p:blipFill>
          <a:blip r:embed="rId2"/>
          <a:stretch>
            <a:fillRect/>
          </a:stretch>
        </p:blipFill>
        <p:spPr>
          <a:xfrm>
            <a:off x="457200" y="1188720"/>
            <a:ext cx="11277295" cy="4820134"/>
          </a:xfrm>
          <a:prstGeom prst="rect">
            <a:avLst/>
          </a:prstGeom>
        </p:spPr>
      </p:pic>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Between base and chain-final: 4 questions gained, 4 lost. Churn, not a march — why per-stage claims stay direction-only.</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RL chain is ReLoRA — merge, then start fresh</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This has a name: ReLoRA (arXiv:2307.05695). rank(A+B) ≤ rank(A)+rank(B),</a:t>
            </a:r>
          </a:p>
          <a:p>
            <a:pPr>
              <a:spcAft>
                <a:spcPts val="400"/>
              </a:spcAft>
            </a:pPr>
            <a:r>
              <a:rPr sz="1500" b="0">
                <a:solidFill>
                  <a:srgbClr val="9AA6B4"/>
                </a:solidFill>
                <a:latin typeface="Segoe UI"/>
              </a:rPr>
              <a:t>     so k cycles at rank r accumulate an update of effective rank up to k·r —</a:t>
            </a:r>
          </a:p>
          <a:p>
            <a:pPr>
              <a:spcAft>
                <a:spcPts val="400"/>
              </a:spcAft>
            </a:pPr>
            <a:r>
              <a:rPr sz="1500" b="0">
                <a:solidFill>
                  <a:srgbClr val="9AA6B4"/>
                </a:solidFill>
                <a:latin typeface="Segoe UI"/>
              </a:rPr>
              <a:t>     high-rank capacity at low-rank memory cost.</a:t>
            </a:r>
          </a:p>
          <a:p>
            <a:pPr>
              <a:spcAft>
                <a:spcPts val="900"/>
              </a:spcAft>
            </a:pPr>
            <a:r>
              <a:rPr sz="1800" b="1">
                <a:solidFill>
                  <a:srgbClr val="E8ECF1"/>
                </a:solidFill>
                <a:latin typeface="Segoe UI"/>
              </a:rPr>
              <a:t>MERGE = fold the adapter's learned delta permanently into the weights.</a:t>
            </a:r>
          </a:p>
          <a:p>
            <a:pPr>
              <a:spcAft>
                <a:spcPts val="400"/>
              </a:spcAft>
            </a:pPr>
            <a:r>
              <a:rPr sz="1500" b="0">
                <a:solidFill>
                  <a:srgbClr val="9AA6B4"/>
                </a:solidFill>
                <a:latin typeface="Segoe UI"/>
              </a:rPr>
              <a:t>     The adapter disappears; one plain model remains.</a:t>
            </a:r>
          </a:p>
          <a:p>
            <a:pPr>
              <a:spcAft>
                <a:spcPts val="900"/>
              </a:spcAft>
            </a:pPr>
            <a:r>
              <a:rPr sz="1800" b="1">
                <a:solidFill>
                  <a:srgbClr val="9AA6B4"/>
                </a:solidFill>
                <a:latin typeface="Segoe UI"/>
              </a:rPr>
              <a:t>SFT checkpoint  (full model — no adapter to merge at the handoff)</a:t>
            </a:r>
          </a:p>
          <a:p>
            <a:pPr>
              <a:spcAft>
                <a:spcPts val="400"/>
              </a:spcAft>
            </a:pPr>
            <a:r>
              <a:rPr sz="1500" b="0">
                <a:solidFill>
                  <a:srgbClr val="9AA6B4"/>
                </a:solidFill>
                <a:latin typeface="Segoe UI"/>
              </a:rPr>
              <a:t>     ↓  fresh zero-init LoRA #1 → run → eval 0.3125 · MERGE</a:t>
            </a:r>
          </a:p>
          <a:p>
            <a:pPr>
              <a:spcAft>
                <a:spcPts val="400"/>
              </a:spcAft>
            </a:pPr>
            <a:r>
              <a:rPr sz="1500" b="0">
                <a:solidFill>
                  <a:srgbClr val="9AA6B4"/>
                </a:solidFill>
                <a:latin typeface="Segoe UI"/>
              </a:rPr>
              <a:t>     ↓  fresh zero-init LoRA #2 → run → eval 0.3750 · MERGE</a:t>
            </a:r>
          </a:p>
          <a:p>
            <a:pPr>
              <a:spcAft>
                <a:spcPts val="400"/>
              </a:spcAft>
            </a:pPr>
            <a:r>
              <a:rPr sz="1500" b="0">
                <a:solidFill>
                  <a:srgbClr val="9AA6B4"/>
                </a:solidFill>
                <a:latin typeface="Segoe UI"/>
              </a:rPr>
              <a:t>     ↓  fresh zero-init LoRA #3 → run → eval 0.5000 · MERGE → chain-final</a:t>
            </a:r>
          </a:p>
          <a:p>
            <a:pPr>
              <a:spcAft>
                <a:spcPts val="900"/>
              </a:spcAft>
            </a:pPr>
            <a:r>
              <a:rPr sz="1800" b="1">
                <a:solidFill>
                  <a:srgbClr val="F5C56B"/>
                </a:solidFill>
                <a:latin typeface="Segoe UI"/>
              </a:rPr>
              <a:t>RL has no epochs. Merges happen at RUN boundaries, ~every 12 steps.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RL: where the gain landed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Correct answers 12 → 22, and in the second run 23 → 28.</a:t>
            </a:r>
          </a:p>
          <a:p>
            <a:pPr>
              <a:spcAft>
                <a:spcPts val="900"/>
              </a:spcAft>
            </a:pPr>
            <a:r>
              <a:rPr sz="1800" b="1">
                <a:solidFill>
                  <a:srgbClr val="5BC8F5"/>
                </a:solidFill>
                <a:latin typeface="Segoe UI"/>
              </a:rPr>
              <a:t>The gain is CONCENTRATED, not spread:</a:t>
            </a:r>
          </a:p>
          <a:p>
            <a:pPr>
              <a:spcAft>
                <a:spcPts val="400"/>
              </a:spcAft>
            </a:pPr>
            <a:r>
              <a:rPr sz="1500" b="0">
                <a:solidFill>
                  <a:srgbClr val="6ED38A"/>
                </a:solidFill>
                <a:latin typeface="Segoe UI"/>
              </a:rPr>
              <a:t>     Instruction  0.20 → 0.67          Math  0.11 → 0.45</a:t>
            </a:r>
          </a:p>
          <a:p>
            <a:pPr>
              <a:spcAft>
                <a:spcPts val="400"/>
              </a:spcAft>
            </a:pPr>
            <a:r>
              <a:rPr sz="1500" b="0">
                <a:solidFill>
                  <a:srgbClr val="9AA6B4"/>
                </a:solidFill>
                <a:latin typeface="Segoe UI"/>
              </a:rPr>
              <a:t>     Code  0.78 → 0.73                 STEM  0.40 → 0.38</a:t>
            </a:r>
          </a:p>
          <a:p>
            <a:pPr>
              <a:spcAft>
                <a:spcPts val="900"/>
              </a:spcAft>
            </a:pPr>
            <a:r>
              <a:rPr sz="1800" b="1">
                <a:solidFill>
                  <a:srgbClr val="E8ECF1"/>
                </a:solidFill>
                <a:latin typeface="Segoe UI"/>
              </a:rPr>
              <a:t>The two categories the SFT checkpoint was WEAKEST in are the two that moved.</a:t>
            </a:r>
          </a:p>
          <a:p>
            <a:pPr>
              <a:spcAft>
                <a:spcPts val="900"/>
              </a:spcAft>
            </a:pPr>
            <a:r>
              <a:rPr sz="1800" b="1">
                <a:solidFill>
                  <a:srgbClr val="6ED38A"/>
                </a:solidFill>
                <a:latin typeface="Segoe UI"/>
              </a:rPr>
              <a:t>Never-solved questions fell from 3 of 16 to 1.</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we could NOT tell</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F5C56B"/>
                </a:solidFill>
                <a:latin typeface="Segoe UI"/>
              </a:rPr>
              <a:t>Whether the correct answers got BETTER.</a:t>
            </a:r>
          </a:p>
          <a:p>
            <a:pPr>
              <a:spcAft>
                <a:spcPts val="400"/>
              </a:spcAft>
            </a:pPr>
            <a:r>
              <a:rPr sz="1500" b="0">
                <a:solidFill>
                  <a:srgbClr val="9AA6B4"/>
                </a:solidFill>
                <a:latin typeface="Segoe UI"/>
              </a:rPr>
              <a:t>     Score-among-correct moved ±0.02 in opposite directions across two runs.</a:t>
            </a:r>
          </a:p>
          <a:p>
            <a:pPr>
              <a:spcAft>
                <a:spcPts val="900"/>
              </a:spcAft>
            </a:pPr>
            <a:r>
              <a:rPr sz="1800" b="1">
                <a:solidFill>
                  <a:srgbClr val="E8ECF1"/>
                </a:solidFill>
                <a:latin typeface="Segoe UI"/>
              </a:rPr>
              <a:t>The rubric puts every correct answer in 0.7-1.0, most at 0.92-0.98.</a:t>
            </a:r>
          </a:p>
          <a:p>
            <a:pPr>
              <a:spcAft>
                <a:spcPts val="400"/>
              </a:spcAft>
            </a:pPr>
            <a:r>
              <a:rPr sz="1500" b="0">
                <a:solidFill>
                  <a:srgbClr val="9AA6B4"/>
                </a:solidFill>
                <a:latin typeface="Segoe UI"/>
              </a:rPr>
              <a:t>     There is almost no headroom to detect a quality change either way.</a:t>
            </a:r>
          </a:p>
          <a:p>
            <a:pPr>
              <a:spcAft>
                <a:spcPts val="900"/>
              </a:spcAft>
            </a:pPr>
            <a:r>
              <a:rPr sz="1800" b="1">
                <a:solidFill>
                  <a:srgbClr val="5BC8F5"/>
                </a:solidFill>
                <a:latin typeface="Segoe UI"/>
              </a:rPr>
              <a:t>That is an instrument limit, not a null result.</a:t>
            </a:r>
          </a:p>
          <a:p>
            <a:pPr>
              <a:spcAft>
                <a:spcPts val="400"/>
              </a:spcAft>
            </a:pPr>
            <a:r>
              <a:rPr sz="1500" b="0">
                <a:solidFill>
                  <a:srgbClr val="9AA6B4"/>
                </a:solidFill>
                <a:latin typeface="Segoe UI"/>
              </a:rPr>
              <a:t>     Open question: how to score quality on a scale that does not saturate.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chain result, and what did not reproduce</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Single runs plateau (see failed-paths). Chaining was the only route.</a:t>
            </a:r>
          </a:p>
          <a:p>
            <a:pPr>
              <a:spcAft>
                <a:spcPts val="900"/>
              </a:spcAft>
            </a:pPr>
            <a:r>
              <a:rPr sz="1800" b="1">
                <a:solidFill>
                  <a:srgbClr val="6ED38A"/>
                </a:solidFill>
                <a:latin typeface="Segoe UI"/>
              </a:rPr>
              <a:t>Training-time ladder:  0.2500 → 0.3125 → 0.3750 → 0.5000</a:t>
            </a:r>
          </a:p>
          <a:p>
            <a:pPr>
              <a:spcAft>
                <a:spcPts val="400"/>
              </a:spcAft>
            </a:pPr>
            <a:r>
              <a:rPr sz="1500" b="0">
                <a:solidFill>
                  <a:srgbClr val="9AA6B4"/>
                </a:solidFill>
                <a:latin typeface="Segoe UI"/>
              </a:rPr>
              <a:t>     every step clearing the 0.0526 resolution floor.</a:t>
            </a:r>
          </a:p>
          <a:p>
            <a:pPr>
              <a:spcAft>
                <a:spcPts val="900"/>
              </a:spcAft>
            </a:pPr>
            <a:r>
              <a:rPr sz="1800" b="1">
                <a:solidFill>
                  <a:srgbClr val="F5C56B"/>
                </a:solidFill>
                <a:latin typeface="Segoe UI"/>
              </a:rPr>
              <a:t>BUT an independent re-score puts all three merges FLAT at 8/14.</a:t>
            </a:r>
          </a:p>
          <a:p>
            <a:pPr>
              <a:spcAft>
                <a:spcPts val="400"/>
              </a:spcAft>
            </a:pPr>
            <a:r>
              <a:rPr sz="1500" b="0">
                <a:solidFill>
                  <a:srgbClr val="9AA6B4"/>
                </a:solidFill>
                <a:latin typeface="Segoe UI"/>
              </a:rPr>
              <a:t>     Endpoint reproduces. The intermediate climb does not.</a:t>
            </a:r>
          </a:p>
          <a:p>
            <a:pPr>
              <a:spcAft>
                <a:spcPts val="900"/>
              </a:spcAft>
            </a:pPr>
            <a:r>
              <a:rPr sz="1800" b="1">
                <a:solidFill>
                  <a:srgbClr val="E8ECF1"/>
                </a:solidFill>
                <a:latin typeface="Segoe UI"/>
              </a:rPr>
              <a:t>Each step is ~one question wide — neither measurement adjudicates</a:t>
            </a:r>
          </a:p>
          <a:p>
            <a:pPr>
              <a:spcAft>
                <a:spcPts val="400"/>
              </a:spcAft>
            </a:pPr>
            <a:r>
              <a:rPr sz="1500" b="0">
                <a:solidFill>
                  <a:srgbClr val="9AA6B4"/>
                </a:solidFill>
                <a:latin typeface="Segoe UI"/>
              </a:rPr>
              <a:t>     the other. The fix is a bigger eval, not a better argument.</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16 paths failed. 8 were about getting the knowledge IN.</a:t>
            </a:r>
          </a:p>
        </p:txBody>
      </p:sp>
      <p:graphicFrame>
        <p:nvGraphicFramePr>
          <p:cNvPr id="4" name="Table 3"/>
          <p:cNvGraphicFramePr>
            <a:graphicFrameLocks noGrp="1"/>
          </p:cNvGraphicFramePr>
          <p:nvPr/>
        </p:nvGraphicFramePr>
        <p:xfrm>
          <a:off x="868680" y="1463040"/>
          <a:ext cx="10424160" cy="3520440"/>
        </p:xfrm>
        <a:graphic>
          <a:graphicData uri="http://schemas.openxmlformats.org/drawingml/2006/table">
            <a:tbl>
              <a:tblPr>
                <a:tableStyleId>{5C22544A-7EE6-4342-B048-85BDC9FD1C3A}</a:tableStyleId>
              </a:tblPr>
              <a:tblGrid>
                <a:gridCol w="5212080"/>
                <a:gridCol w="5212080"/>
              </a:tblGrid>
              <a:tr h="391160">
                <a:tc>
                  <a:txBody>
                    <a:bodyPr/>
                    <a:lstStyle/>
                    <a:p>
                      <a:pPr>
                        <a:spcAft>
                          <a:spcPts val="0"/>
                        </a:spcAft>
                      </a:pPr>
                      <a:r>
                        <a:rPr sz="1300" b="1">
                          <a:solidFill>
                            <a:srgbClr val="12161C"/>
                          </a:solidFill>
                          <a:latin typeface="Segoe UI"/>
                        </a:rPr>
                        <a:t>path attempted</a:t>
                      </a:r>
                    </a:p>
                  </a:txBody>
                  <a:tcPr>
                    <a:solidFill>
                      <a:srgbClr val="5BC8F5"/>
                    </a:solidFill>
                  </a:tcPr>
                </a:tc>
                <a:tc>
                  <a:txBody>
                    <a:bodyPr/>
                    <a:lstStyle/>
                    <a:p>
                      <a:pPr>
                        <a:spcAft>
                          <a:spcPts val="0"/>
                        </a:spcAft>
                      </a:pPr>
                      <a:r>
                        <a:rPr sz="1300" b="1">
                          <a:solidFill>
                            <a:srgbClr val="12161C"/>
                          </a:solidFill>
                          <a:latin typeface="Segoe UI"/>
                        </a:rPr>
                        <a:t>result</a:t>
                      </a:r>
                    </a:p>
                  </a:txBody>
                  <a:tcPr>
                    <a:solidFill>
                      <a:srgbClr val="5BC8F5"/>
                    </a:solidFill>
                  </a:tcPr>
                </a:tc>
              </a:tr>
              <a:tr h="391160">
                <a:tc>
                  <a:txBody>
                    <a:bodyPr/>
                    <a:lstStyle/>
                    <a:p>
                      <a:pPr>
                        <a:spcAft>
                          <a:spcPts val="0"/>
                        </a:spcAft>
                      </a:pPr>
                      <a:r>
                        <a:rPr sz="1200">
                          <a:solidFill>
                            <a:srgbClr val="F27A7A"/>
                          </a:solidFill>
                          <a:latin typeface="Segoe UI"/>
                        </a:rPr>
                        <a:t>CPT — next-token on chunked skills alone</a:t>
                      </a:r>
                    </a:p>
                  </a:txBody>
                  <a:tcPr>
                    <a:solidFill>
                      <a:srgbClr val="1A1F27"/>
                    </a:solidFill>
                  </a:tcPr>
                </a:tc>
                <a:tc>
                  <a:txBody>
                    <a:bodyPr/>
                    <a:lstStyle/>
                    <a:p>
                      <a:pPr>
                        <a:spcAft>
                          <a:spcPts val="0"/>
                        </a:spcAft>
                      </a:pPr>
                      <a:r>
                        <a:rPr sz="1200">
                          <a:solidFill>
                            <a:srgbClr val="F27A7A"/>
                          </a:solidFill>
                          <a:latin typeface="Segoe UI"/>
                        </a:rPr>
                        <a:t>macroF1 0.181 → 0.124  REGRESSION</a:t>
                      </a:r>
                    </a:p>
                  </a:txBody>
                  <a:tcPr>
                    <a:solidFill>
                      <a:srgbClr val="1A1F27"/>
                    </a:solidFill>
                  </a:tcPr>
                </a:tc>
              </a:tr>
              <a:tr h="391160">
                <a:tc>
                  <a:txBody>
                    <a:bodyPr/>
                    <a:lstStyle/>
                    <a:p>
                      <a:pPr>
                        <a:spcAft>
                          <a:spcPts val="0"/>
                        </a:spcAft>
                      </a:pPr>
                      <a:r>
                        <a:rPr sz="1200">
                          <a:solidFill>
                            <a:srgbClr val="F27A7A"/>
                          </a:solidFill>
                          <a:latin typeface="Segoe UI"/>
                        </a:rPr>
                        <a:t>CPT — next-token on the R3 QA corpus, 3 lrs</a:t>
                      </a:r>
                    </a:p>
                  </a:txBody>
                  <a:tcPr>
                    <a:solidFill>
                      <a:srgbClr val="212731"/>
                    </a:solidFill>
                  </a:tcPr>
                </a:tc>
                <a:tc>
                  <a:txBody>
                    <a:bodyPr/>
                    <a:lstStyle/>
                    <a:p>
                      <a:pPr>
                        <a:spcAft>
                          <a:spcPts val="0"/>
                        </a:spcAft>
                      </a:pPr>
                      <a:r>
                        <a:rPr sz="1200">
                          <a:solidFill>
                            <a:srgbClr val="F27A7A"/>
                          </a:solidFill>
                          <a:latin typeface="Segoe UI"/>
                        </a:rPr>
                        <a:t>no binary lift; +1 item, 0.6 SE</a:t>
                      </a:r>
                    </a:p>
                  </a:txBody>
                  <a:tcPr>
                    <a:solidFill>
                      <a:srgbClr val="212731"/>
                    </a:solidFill>
                  </a:tcPr>
                </a:tc>
              </a:tr>
              <a:tr h="391160">
                <a:tc>
                  <a:txBody>
                    <a:bodyPr/>
                    <a:lstStyle/>
                    <a:p>
                      <a:pPr>
                        <a:spcAft>
                          <a:spcPts val="0"/>
                        </a:spcAft>
                      </a:pPr>
                      <a:r>
                        <a:rPr sz="1200">
                          <a:solidFill>
                            <a:srgbClr val="F27A7A"/>
                          </a:solidFill>
                          <a:latin typeface="Segoe UI"/>
                        </a:rPr>
                        <a:t>SFT via LoRA adapter (adapter-only)</a:t>
                      </a:r>
                    </a:p>
                  </a:txBody>
                  <a:tcPr>
                    <a:solidFill>
                      <a:srgbClr val="1A1F27"/>
                    </a:solidFill>
                  </a:tcPr>
                </a:tc>
                <a:tc>
                  <a:txBody>
                    <a:bodyPr/>
                    <a:lstStyle/>
                    <a:p>
                      <a:pPr>
                        <a:spcAft>
                          <a:spcPts val="0"/>
                        </a:spcAft>
                      </a:pPr>
                      <a:r>
                        <a:rPr sz="1200">
                          <a:solidFill>
                            <a:srgbClr val="F27A7A"/>
                          </a:solidFill>
                          <a:latin typeface="Segoe UI"/>
                        </a:rPr>
                        <a:t>deposits 0.063 → 0.327, RL destroys → 0.170</a:t>
                      </a:r>
                    </a:p>
                  </a:txBody>
                  <a:tcPr>
                    <a:solidFill>
                      <a:srgbClr val="1A1F27"/>
                    </a:solidFill>
                  </a:tcPr>
                </a:tc>
              </a:tr>
              <a:tr h="391160">
                <a:tc>
                  <a:txBody>
                    <a:bodyPr/>
                    <a:lstStyle/>
                    <a:p>
                      <a:pPr>
                        <a:spcAft>
                          <a:spcPts val="0"/>
                        </a:spcAft>
                      </a:pPr>
                      <a:r>
                        <a:rPr sz="1200">
                          <a:solidFill>
                            <a:srgbClr val="F27A7A"/>
                          </a:solidFill>
                          <a:latin typeface="Segoe UI"/>
                        </a:rPr>
                        <a:t>ReLoRA SFT — merge between epochs</a:t>
                      </a:r>
                    </a:p>
                  </a:txBody>
                  <a:tcPr>
                    <a:solidFill>
                      <a:srgbClr val="212731"/>
                    </a:solidFill>
                  </a:tcPr>
                </a:tc>
                <a:tc>
                  <a:txBody>
                    <a:bodyPr/>
                    <a:lstStyle/>
                    <a:p>
                      <a:pPr>
                        <a:spcAft>
                          <a:spcPts val="0"/>
                        </a:spcAft>
                      </a:pPr>
                      <a:r>
                        <a:rPr sz="1200">
                          <a:solidFill>
                            <a:srgbClr val="F27A7A"/>
                          </a:solidFill>
                          <a:latin typeface="Segoe UI"/>
                        </a:rPr>
                        <a:t>FLAT 5/5/5 of 16; unmerged control = 6</a:t>
                      </a:r>
                    </a:p>
                  </a:txBody>
                  <a:tcPr>
                    <a:solidFill>
                      <a:srgbClr val="212731"/>
                    </a:solidFill>
                  </a:tcPr>
                </a:tc>
              </a:tr>
              <a:tr h="391160">
                <a:tc>
                  <a:txBody>
                    <a:bodyPr/>
                    <a:lstStyle/>
                    <a:p>
                      <a:pPr>
                        <a:spcAft>
                          <a:spcPts val="0"/>
                        </a:spcAft>
                      </a:pPr>
                      <a:r>
                        <a:rPr sz="1200">
                          <a:solidFill>
                            <a:srgbClr val="F27A7A"/>
                          </a:solidFill>
                          <a:latin typeface="Segoe UI"/>
                        </a:rPr>
                        <a:t>SFT dose escalation — triple the passes</a:t>
                      </a:r>
                    </a:p>
                  </a:txBody>
                  <a:tcPr>
                    <a:solidFill>
                      <a:srgbClr val="1A1F27"/>
                    </a:solidFill>
                  </a:tcPr>
                </a:tc>
                <a:tc>
                  <a:txBody>
                    <a:bodyPr/>
                    <a:lstStyle/>
                    <a:p>
                      <a:pPr>
                        <a:spcAft>
                          <a:spcPts val="0"/>
                        </a:spcAft>
                      </a:pPr>
                      <a:r>
                        <a:rPr sz="1200">
                          <a:solidFill>
                            <a:srgbClr val="F27A7A"/>
                          </a:solidFill>
                          <a:latin typeface="Segoe UI"/>
                        </a:rPr>
                        <a:t>0.389/0.309/0.327; never-correct 4 → 9</a:t>
                      </a:r>
                    </a:p>
                  </a:txBody>
                  <a:tcPr>
                    <a:solidFill>
                      <a:srgbClr val="1A1F27"/>
                    </a:solidFill>
                  </a:tcPr>
                </a:tc>
              </a:tr>
              <a:tr h="391160">
                <a:tc>
                  <a:txBody>
                    <a:bodyPr/>
                    <a:lstStyle/>
                    <a:p>
                      <a:pPr>
                        <a:spcAft>
                          <a:spcPts val="0"/>
                        </a:spcAft>
                      </a:pPr>
                      <a:r>
                        <a:rPr sz="1200">
                          <a:solidFill>
                            <a:srgbClr val="F27A7A"/>
                          </a:solidFill>
                          <a:latin typeface="Segoe UI"/>
                        </a:rPr>
                        <a:t>LoRA SFT → merge → RL, alpha 32→64</a:t>
                      </a:r>
                    </a:p>
                  </a:txBody>
                  <a:tcPr>
                    <a:solidFill>
                      <a:srgbClr val="212731"/>
                    </a:solidFill>
                  </a:tcPr>
                </a:tc>
                <a:tc>
                  <a:txBody>
                    <a:bodyPr/>
                    <a:lstStyle/>
                    <a:p>
                      <a:pPr>
                        <a:spcAft>
                          <a:spcPts val="0"/>
                        </a:spcAft>
                      </a:pPr>
                      <a:r>
                        <a:rPr sz="1200">
                          <a:solidFill>
                            <a:srgbClr val="F27A7A"/>
                          </a:solidFill>
                          <a:latin typeface="Segoe UI"/>
                        </a:rPr>
                        <a:t>0.170  DEAD</a:t>
                      </a:r>
                    </a:p>
                  </a:txBody>
                  <a:tcPr>
                    <a:solidFill>
                      <a:srgbClr val="212731"/>
                    </a:solidFill>
                  </a:tcPr>
                </a:tc>
              </a:tr>
              <a:tr h="391160">
                <a:tc>
                  <a:txBody>
                    <a:bodyPr/>
                    <a:lstStyle/>
                    <a:p>
                      <a:pPr>
                        <a:spcAft>
                          <a:spcPts val="0"/>
                        </a:spcAft>
                      </a:pPr>
                      <a:r>
                        <a:rPr sz="1200">
                          <a:solidFill>
                            <a:srgbClr val="F27A7A"/>
                          </a:solidFill>
                          <a:latin typeface="Segoe UI"/>
                        </a:rPr>
                        <a:t>LoRA SFT → merge → RL, alpha matched</a:t>
                      </a:r>
                    </a:p>
                  </a:txBody>
                  <a:tcPr>
                    <a:solidFill>
                      <a:srgbClr val="1A1F27"/>
                    </a:solidFill>
                  </a:tcPr>
                </a:tc>
                <a:tc>
                  <a:txBody>
                    <a:bodyPr/>
                    <a:lstStyle/>
                    <a:p>
                      <a:pPr>
                        <a:spcAft>
                          <a:spcPts val="0"/>
                        </a:spcAft>
                      </a:pPr>
                      <a:r>
                        <a:rPr sz="1200">
                          <a:solidFill>
                            <a:srgbClr val="F27A7A"/>
                          </a:solidFill>
                          <a:latin typeface="Segoe UI"/>
                        </a:rPr>
                        <a:t>0.288  DEAD</a:t>
                      </a:r>
                    </a:p>
                  </a:txBody>
                  <a:tcPr>
                    <a:solidFill>
                      <a:srgbClr val="1A1F27"/>
                    </a:solidFill>
                  </a:tcPr>
                </a:tc>
              </a:tr>
              <a:tr h="391160">
                <a:tc>
                  <a:txBody>
                    <a:bodyPr/>
                    <a:lstStyle/>
                    <a:p>
                      <a:pPr>
                        <a:spcAft>
                          <a:spcPts val="0"/>
                        </a:spcAft>
                      </a:pPr>
                      <a:r>
                        <a:rPr sz="1200">
                          <a:solidFill>
                            <a:srgbClr val="F27A7A"/>
                          </a:solidFill>
                          <a:latin typeface="Segoe UI"/>
                        </a:rPr>
                        <a:t>LoRA SFT → continue SAME adapter into RL</a:t>
                      </a:r>
                    </a:p>
                  </a:txBody>
                  <a:tcPr>
                    <a:solidFill>
                      <a:srgbClr val="212731"/>
                    </a:solidFill>
                  </a:tcPr>
                </a:tc>
                <a:tc>
                  <a:txBody>
                    <a:bodyPr/>
                    <a:lstStyle/>
                    <a:p>
                      <a:pPr>
                        <a:spcAft>
                          <a:spcPts val="0"/>
                        </a:spcAft>
                      </a:pPr>
                      <a:r>
                        <a:rPr sz="1200">
                          <a:solidFill>
                            <a:srgbClr val="F27A7A"/>
                          </a:solidFill>
                          <a:latin typeface="Segoe UI"/>
                        </a:rPr>
                        <a:t>~0.26 at every lr tried  DEAD</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Injection, and the SFT→RL handoff. Every row is measured, not abandoned.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other 8 were the optimiser and the instrument</a:t>
            </a:r>
          </a:p>
        </p:txBody>
      </p:sp>
      <p:graphicFrame>
        <p:nvGraphicFramePr>
          <p:cNvPr id="4" name="Table 3"/>
          <p:cNvGraphicFramePr>
            <a:graphicFrameLocks noGrp="1"/>
          </p:cNvGraphicFramePr>
          <p:nvPr/>
        </p:nvGraphicFramePr>
        <p:xfrm>
          <a:off x="868680" y="1463040"/>
          <a:ext cx="10424160" cy="3520440"/>
        </p:xfrm>
        <a:graphic>
          <a:graphicData uri="http://schemas.openxmlformats.org/drawingml/2006/table">
            <a:tbl>
              <a:tblPr>
                <a:tableStyleId>{5C22544A-7EE6-4342-B048-85BDC9FD1C3A}</a:tableStyleId>
              </a:tblPr>
              <a:tblGrid>
                <a:gridCol w="5212080"/>
                <a:gridCol w="5212080"/>
              </a:tblGrid>
              <a:tr h="391160">
                <a:tc>
                  <a:txBody>
                    <a:bodyPr/>
                    <a:lstStyle/>
                    <a:p>
                      <a:pPr>
                        <a:spcAft>
                          <a:spcPts val="0"/>
                        </a:spcAft>
                      </a:pPr>
                      <a:r>
                        <a:rPr sz="1300" b="1">
                          <a:solidFill>
                            <a:srgbClr val="12161C"/>
                          </a:solidFill>
                          <a:latin typeface="Segoe UI"/>
                        </a:rPr>
                        <a:t>path attempted</a:t>
                      </a:r>
                    </a:p>
                  </a:txBody>
                  <a:tcPr>
                    <a:solidFill>
                      <a:srgbClr val="5BC8F5"/>
                    </a:solidFill>
                  </a:tcPr>
                </a:tc>
                <a:tc>
                  <a:txBody>
                    <a:bodyPr/>
                    <a:lstStyle/>
                    <a:p>
                      <a:pPr>
                        <a:spcAft>
                          <a:spcPts val="0"/>
                        </a:spcAft>
                      </a:pPr>
                      <a:r>
                        <a:rPr sz="1300" b="1">
                          <a:solidFill>
                            <a:srgbClr val="12161C"/>
                          </a:solidFill>
                          <a:latin typeface="Segoe UI"/>
                        </a:rPr>
                        <a:t>result</a:t>
                      </a:r>
                    </a:p>
                  </a:txBody>
                  <a:tcPr>
                    <a:solidFill>
                      <a:srgbClr val="5BC8F5"/>
                    </a:solidFill>
                  </a:tcPr>
                </a:tc>
              </a:tr>
              <a:tr h="391160">
                <a:tc>
                  <a:txBody>
                    <a:bodyPr/>
                    <a:lstStyle/>
                    <a:p>
                      <a:pPr>
                        <a:spcAft>
                          <a:spcPts val="0"/>
                        </a:spcAft>
                      </a:pPr>
                      <a:r>
                        <a:rPr sz="1200">
                          <a:solidFill>
                            <a:srgbClr val="F27A7A"/>
                          </a:solidFill>
                          <a:latin typeface="Segoe UI"/>
                        </a:rPr>
                        <a:t>Raw graded reward (not a binary gate)</a:t>
                      </a:r>
                    </a:p>
                  </a:txBody>
                  <a:tcPr>
                    <a:solidFill>
                      <a:srgbClr val="1A1F27"/>
                    </a:solidFill>
                  </a:tcPr>
                </a:tc>
                <a:tc>
                  <a:txBody>
                    <a:bodyPr/>
                    <a:lstStyle/>
                    <a:p>
                      <a:pPr>
                        <a:spcAft>
                          <a:spcPts val="0"/>
                        </a:spcAft>
                      </a:pPr>
                      <a:r>
                        <a:rPr sz="1200">
                          <a:solidFill>
                            <a:srgbClr val="F27A7A"/>
                          </a:solidFill>
                          <a:latin typeface="Segoe UI"/>
                        </a:rPr>
                        <a:t>paid ~0.5 for confident wrongness</a:t>
                      </a:r>
                    </a:p>
                  </a:txBody>
                  <a:tcPr>
                    <a:solidFill>
                      <a:srgbClr val="1A1F27"/>
                    </a:solidFill>
                  </a:tcPr>
                </a:tc>
              </a:tr>
              <a:tr h="391160">
                <a:tc>
                  <a:txBody>
                    <a:bodyPr/>
                    <a:lstStyle/>
                    <a:p>
                      <a:pPr>
                        <a:spcAft>
                          <a:spcPts val="0"/>
                        </a:spcAft>
                      </a:pPr>
                      <a:r>
                        <a:rPr sz="1200">
                          <a:solidFill>
                            <a:srgbClr val="F27A7A"/>
                          </a:solidFill>
                          <a:latin typeface="Segoe UI"/>
                        </a:rPr>
                        <a:t>ONE RL run for three sequential lifts</a:t>
                      </a:r>
                    </a:p>
                  </a:txBody>
                  <a:tcPr>
                    <a:solidFill>
                      <a:srgbClr val="212731"/>
                    </a:solidFill>
                  </a:tcPr>
                </a:tc>
                <a:tc>
                  <a:txBody>
                    <a:bodyPr/>
                    <a:lstStyle/>
                    <a:p>
                      <a:pPr>
                        <a:spcAft>
                          <a:spcPts val="0"/>
                        </a:spcAft>
                      </a:pPr>
                      <a:r>
                        <a:rPr sz="1200">
                          <a:solidFill>
                            <a:srgbClr val="F27A7A"/>
                          </a:solidFill>
                          <a:latin typeface="Segoe UI"/>
                        </a:rPr>
                        <a:t>17 trials; ceiling of ONE, none reached two</a:t>
                      </a:r>
                    </a:p>
                  </a:txBody>
                  <a:tcPr>
                    <a:solidFill>
                      <a:srgbClr val="212731"/>
                    </a:solidFill>
                  </a:tcPr>
                </a:tc>
              </a:tr>
              <a:tr h="391160">
                <a:tc>
                  <a:txBody>
                    <a:bodyPr/>
                    <a:lstStyle/>
                    <a:p>
                      <a:pPr>
                        <a:spcAft>
                          <a:spcPts val="0"/>
                        </a:spcAft>
                      </a:pPr>
                      <a:r>
                        <a:rPr sz="1200">
                          <a:solidFill>
                            <a:srgbClr val="F27A7A"/>
                          </a:solidFill>
                          <a:latin typeface="Segoe UI"/>
                        </a:rPr>
                        <a:t>RL beta 0.10 at lr 1e-4</a:t>
                      </a:r>
                    </a:p>
                  </a:txBody>
                  <a:tcPr>
                    <a:solidFill>
                      <a:srgbClr val="1A1F27"/>
                    </a:solidFill>
                  </a:tcPr>
                </a:tc>
                <a:tc>
                  <a:txBody>
                    <a:bodyPr/>
                    <a:lstStyle/>
                    <a:p>
                      <a:pPr>
                        <a:spcAft>
                          <a:spcPts val="0"/>
                        </a:spcAft>
                      </a:pPr>
                      <a:r>
                        <a:rPr sz="1200">
                          <a:solidFill>
                            <a:srgbClr val="F27A7A"/>
                          </a:solidFill>
                          <a:latin typeface="Segoe UI"/>
                        </a:rPr>
                        <a:t>rise then crash, 3 independent collapses</a:t>
                      </a:r>
                    </a:p>
                  </a:txBody>
                  <a:tcPr>
                    <a:solidFill>
                      <a:srgbClr val="1A1F27"/>
                    </a:solidFill>
                  </a:tcPr>
                </a:tc>
              </a:tr>
              <a:tr h="391160">
                <a:tc>
                  <a:txBody>
                    <a:bodyPr/>
                    <a:lstStyle/>
                    <a:p>
                      <a:pPr>
                        <a:spcAft>
                          <a:spcPts val="0"/>
                        </a:spcAft>
                      </a:pPr>
                      <a:r>
                        <a:rPr sz="1200">
                          <a:solidFill>
                            <a:srgbClr val="F27A7A"/>
                          </a:solidFill>
                          <a:latin typeface="Segoe UI"/>
                        </a:rPr>
                        <a:t>RL lr 5e-5 / 1e-4</a:t>
                      </a:r>
                    </a:p>
                  </a:txBody>
                  <a:tcPr>
                    <a:solidFill>
                      <a:srgbClr val="212731"/>
                    </a:solidFill>
                  </a:tcPr>
                </a:tc>
                <a:tc>
                  <a:txBody>
                    <a:bodyPr/>
                    <a:lstStyle/>
                    <a:p>
                      <a:pPr>
                        <a:spcAft>
                          <a:spcPts val="0"/>
                        </a:spcAft>
                      </a:pPr>
                      <a:r>
                        <a:rPr sz="1200">
                          <a:solidFill>
                            <a:srgbClr val="F27A7A"/>
                          </a:solidFill>
                          <a:latin typeface="Segoe UI"/>
                        </a:rPr>
                        <a:t>0.398 / 0.387 — both beaten by 3e-5</a:t>
                      </a:r>
                    </a:p>
                  </a:txBody>
                  <a:tcPr>
                    <a:solidFill>
                      <a:srgbClr val="212731"/>
                    </a:solidFill>
                  </a:tcPr>
                </a:tc>
              </a:tr>
              <a:tr h="391160">
                <a:tc>
                  <a:txBody>
                    <a:bodyPr/>
                    <a:lstStyle/>
                    <a:p>
                      <a:pPr>
                        <a:spcAft>
                          <a:spcPts val="0"/>
                        </a:spcAft>
                      </a:pPr>
                      <a:r>
                        <a:rPr sz="1200">
                          <a:solidFill>
                            <a:srgbClr val="F27A7A"/>
                          </a:solidFill>
                          <a:latin typeface="Segoe UI"/>
                        </a:rPr>
                        <a:t>Replay: fixed band around the threshold</a:t>
                      </a:r>
                    </a:p>
                  </a:txBody>
                  <a:tcPr>
                    <a:solidFill>
                      <a:srgbClr val="1A1F27"/>
                    </a:solidFill>
                  </a:tcPr>
                </a:tc>
                <a:tc>
                  <a:txBody>
                    <a:bodyPr/>
                    <a:lstStyle/>
                    <a:p>
                      <a:pPr>
                        <a:spcAft>
                          <a:spcPts val="0"/>
                        </a:spcAft>
                      </a:pPr>
                      <a:r>
                        <a:rPr sz="1200">
                          <a:solidFill>
                            <a:srgbClr val="F27A7A"/>
                          </a:solidFill>
                          <a:latin typeface="Segoe UI"/>
                        </a:rPr>
                        <a:t>[0.65, 0.68] are two buckets, both WRONG</a:t>
                      </a:r>
                    </a:p>
                  </a:txBody>
                  <a:tcPr>
                    <a:solidFill>
                      <a:srgbClr val="1A1F27"/>
                    </a:solidFill>
                  </a:tcPr>
                </a:tc>
              </a:tr>
              <a:tr h="391160">
                <a:tc>
                  <a:txBody>
                    <a:bodyPr/>
                    <a:lstStyle/>
                    <a:p>
                      <a:pPr>
                        <a:spcAft>
                          <a:spcPts val="0"/>
                        </a:spcAft>
                      </a:pPr>
                      <a:r>
                        <a:rPr sz="1200">
                          <a:solidFill>
                            <a:srgbClr val="F5C56B"/>
                          </a:solidFill>
                          <a:latin typeface="Segoe UI"/>
                        </a:rPr>
                        <a:t>A 2B judge instead of 4B</a:t>
                      </a:r>
                    </a:p>
                  </a:txBody>
                  <a:tcPr>
                    <a:solidFill>
                      <a:srgbClr val="212731"/>
                    </a:solidFill>
                  </a:tcPr>
                </a:tc>
                <a:tc>
                  <a:txBody>
                    <a:bodyPr/>
                    <a:lstStyle/>
                    <a:p>
                      <a:pPr>
                        <a:spcAft>
                          <a:spcPts val="0"/>
                        </a:spcAft>
                      </a:pPr>
                      <a:r>
                        <a:rPr sz="1200">
                          <a:solidFill>
                            <a:srgbClr val="F5C56B"/>
                          </a:solidFill>
                          <a:latin typeface="Segoe UI"/>
                        </a:rPr>
                        <a:t>accepted 3 of 12 fluent-but-wrong decoys</a:t>
                      </a:r>
                    </a:p>
                  </a:txBody>
                  <a:tcPr>
                    <a:solidFill>
                      <a:srgbClr val="212731"/>
                    </a:solidFill>
                  </a:tcPr>
                </a:tc>
              </a:tr>
              <a:tr h="391160">
                <a:tc>
                  <a:txBody>
                    <a:bodyPr/>
                    <a:lstStyle/>
                    <a:p>
                      <a:pPr>
                        <a:spcAft>
                          <a:spcPts val="0"/>
                        </a:spcAft>
                      </a:pPr>
                      <a:r>
                        <a:rPr sz="1200">
                          <a:solidFill>
                            <a:srgbClr val="F5C56B"/>
                          </a:solidFill>
                          <a:latin typeface="Segoe UI"/>
                        </a:rPr>
                        <a:t>macroF1 as the injection objective</a:t>
                      </a:r>
                    </a:p>
                  </a:txBody>
                  <a:tcPr>
                    <a:solidFill>
                      <a:srgbClr val="1A1F27"/>
                    </a:solidFill>
                  </a:tcPr>
                </a:tc>
                <a:tc>
                  <a:txBody>
                    <a:bodyPr/>
                    <a:lstStyle/>
                    <a:p>
                      <a:pPr>
                        <a:spcAft>
                          <a:spcPts val="0"/>
                        </a:spcAft>
                      </a:pPr>
                      <a:r>
                        <a:rPr sz="1200">
                          <a:solidFill>
                            <a:srgbClr val="F5C56B"/>
                          </a:solidFill>
                          <a:latin typeface="Segoe UI"/>
                        </a:rPr>
                        <a:t>inflated by abstention, not knowledge</a:t>
                      </a:r>
                    </a:p>
                  </a:txBody>
                  <a:tcPr>
                    <a:solidFill>
                      <a:srgbClr val="1A1F27"/>
                    </a:solidFill>
                  </a:tcPr>
                </a:tc>
              </a:tr>
              <a:tr h="391160">
                <a:tc>
                  <a:txBody>
                    <a:bodyPr/>
                    <a:lstStyle/>
                    <a:p>
                      <a:pPr>
                        <a:spcAft>
                          <a:spcPts val="0"/>
                        </a:spcAft>
                      </a:pPr>
                      <a:r>
                        <a:rPr sz="1200">
                          <a:solidFill>
                            <a:srgbClr val="F5C56B"/>
                          </a:solidFill>
                          <a:latin typeface="Segoe UI"/>
                        </a:rPr>
                        <a:t>fp16 GradScaler at the 65536 default</a:t>
                      </a:r>
                    </a:p>
                  </a:txBody>
                  <a:tcPr>
                    <a:solidFill>
                      <a:srgbClr val="212731"/>
                    </a:solidFill>
                  </a:tcPr>
                </a:tc>
                <a:tc>
                  <a:txBody>
                    <a:bodyPr/>
                    <a:lstStyle/>
                    <a:p>
                      <a:pPr>
                        <a:spcAft>
                          <a:spcPts val="0"/>
                        </a:spcAft>
                      </a:pPr>
                      <a:r>
                        <a:rPr sz="1200">
                          <a:solidFill>
                            <a:srgbClr val="F5C56B"/>
                          </a:solidFill>
                          <a:latin typeface="Segoe UI"/>
                        </a:rPr>
                        <a:t>silently ZEROED training (max|B| 1.2e-05)</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A wrong instrument is indistinguishable from a wrong method — three of these were measurement, not modelling.</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THE PATH THAT WORKED</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6ED38A"/>
                </a:solidFill>
                <a:latin typeface="Segoe UI"/>
              </a:rPr>
              <a:t>1.  FULL-PARAMETER SFT — 3 epochs, lr 1e-5, completion-only loss.</a:t>
            </a:r>
          </a:p>
          <a:p>
            <a:pPr>
              <a:spcAft>
                <a:spcPts val="400"/>
              </a:spcAft>
            </a:pPr>
            <a:r>
              <a:rPr sz="1500" b="0">
                <a:solidFill>
                  <a:srgbClr val="9AA6B4"/>
                </a:solidFill>
                <a:latin typeface="Segoe UI"/>
              </a:rPr>
              <a:t>     Adapters deposit knowledge but it does not survive RL. Full-param does.</a:t>
            </a:r>
          </a:p>
          <a:p>
            <a:pPr>
              <a:spcAft>
                <a:spcPts val="900"/>
              </a:spcAft>
            </a:pPr>
            <a:r>
              <a:rPr sz="1800" b="1">
                <a:solidFill>
                  <a:srgbClr val="6ED38A"/>
                </a:solidFill>
                <a:latin typeface="Segoe UI"/>
              </a:rPr>
              <a:t>2.  ONE full-param RL pass — GRPO, reward scaling off, flashcard prompt picks.</a:t>
            </a:r>
          </a:p>
          <a:p>
            <a:pPr>
              <a:spcAft>
                <a:spcPts val="400"/>
              </a:spcAft>
            </a:pPr>
            <a:r>
              <a:rPr sz="1500" b="0">
                <a:solidFill>
                  <a:srgbClr val="9AA6B4"/>
                </a:solidFill>
                <a:latin typeface="Segoe UI"/>
              </a:rPr>
              <a:t>     Second on-policy passes REGRESSED in six lineages; one pass consolidates.</a:t>
            </a:r>
          </a:p>
          <a:p>
            <a:pPr>
              <a:spcAft>
                <a:spcPts val="900"/>
              </a:spcAft>
            </a:pPr>
            <a:r>
              <a:rPr sz="1800" b="1">
                <a:solidFill>
                  <a:srgbClr val="6ED38A"/>
                </a:solidFill>
                <a:latin typeface="Segoe UI"/>
              </a:rPr>
              <a:t>3.  BINARY GATE reward at 0.70, plus a zero-sum brevity term,</a:t>
            </a:r>
          </a:p>
          <a:p>
            <a:pPr>
              <a:spcAft>
                <a:spcPts val="400"/>
              </a:spcAft>
            </a:pPr>
            <a:r>
              <a:rPr sz="1500" b="0">
                <a:solidFill>
                  <a:srgbClr val="9AA6B4"/>
                </a:solidFill>
                <a:latin typeface="Segoe UI"/>
              </a:rPr>
              <a:t>     judged by a 4B model applying a WRITTEN rubric, one call per answer.</a:t>
            </a:r>
          </a:p>
          <a:p>
            <a:pPr>
              <a:spcAft>
                <a:spcPts val="900"/>
              </a:spcAft>
            </a:pPr>
            <a:r>
              <a:rPr sz="1800" b="1">
                <a:solidFill>
                  <a:srgbClr val="6ED38A"/>
                </a:solidFill>
                <a:latin typeface="Segoe UI"/>
              </a:rPr>
              <a:t>4.  Threshold-spanning replay — train the boundary, not the settled.</a:t>
            </a:r>
          </a:p>
          <a:p>
            <a:pPr>
              <a:spcAft>
                <a:spcPts val="900"/>
              </a:spcAft>
            </a:pPr>
            <a:r>
              <a:rPr sz="1800" b="1">
                <a:solidFill>
                  <a:srgbClr val="6ED38A"/>
                </a:solidFill>
                <a:latin typeface="Segoe UI"/>
              </a:rPr>
              <a:t>5.  SHARPEN OFFLINE: harvest the model's own k=8 samples,</a:t>
            </a:r>
          </a:p>
          <a:p>
            <a:pPr>
              <a:spcAft>
                <a:spcPts val="400"/>
              </a:spcAft>
            </a:pPr>
            <a:r>
              <a:rPr sz="1500" b="0">
                <a:solidFill>
                  <a:srgbClr val="9AA6B4"/>
                </a:solidFill>
                <a:latin typeface="Segoe UI"/>
              </a:rPr>
              <a:t>     24 judge-picked pairs, 5 minutes of IPO, merge. No second RL pass.</a:t>
            </a:r>
          </a:p>
          <a:p>
            <a:pPr>
              <a:spcAft>
                <a:spcPts val="900"/>
              </a:spcAft>
            </a:pPr>
            <a:r>
              <a:rPr sz="1800" b="1">
                <a:solidFill>
                  <a:srgbClr val="6ED38A"/>
                </a:solidFill>
                <a:latin typeface="Segoe UI"/>
              </a:rPr>
              <a:t>base 4  →  best trained 8   of 16, on the locked scoring mechanism.</a:t>
            </a:r>
          </a:p>
          <a:p>
            <a:pPr>
              <a:spcAft>
                <a:spcPts val="400"/>
              </a:spcAft>
            </a:pPr>
            <a:r>
              <a:rPr sz="1500" b="0">
                <a:solidFill>
                  <a:srgbClr val="9AA6B4"/>
                </a:solidFill>
                <a:latin typeface="Segoe UI"/>
              </a:rPr>
              <a:t>     The end-to-end lift is the result; the method ranking is not resolvable.</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How we got here: we kept walking UPSTREAM</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E8ECF1"/>
                </a:solidFill>
                <a:latin typeface="Segoe UI"/>
              </a:rPr>
              <a:t>Nobody planned this order. Each stage failed and sent us one step earlier.</a:t>
            </a:r>
          </a:p>
          <a:p>
            <a:pPr>
              <a:spcAft>
                <a:spcPts val="900"/>
              </a:spcAft>
            </a:pPr>
            <a:r>
              <a:rPr sz="1800" b="1">
                <a:solidFill>
                  <a:srgbClr val="5BC8F5"/>
                </a:solidFill>
                <a:latin typeface="Segoe UI"/>
              </a:rPr>
              <a:t>STARTED AT RL — sharpen what the model already knows.</a:t>
            </a:r>
          </a:p>
          <a:p>
            <a:pPr>
              <a:spcAft>
                <a:spcPts val="400"/>
              </a:spcAft>
            </a:pPr>
            <a:r>
              <a:rPr sz="1500" b="0">
                <a:solidFill>
                  <a:srgbClr val="9AA6B4"/>
                </a:solidFill>
                <a:latin typeface="Segoe UI"/>
              </a:rPr>
              <a:t>     It sharpened nothing, because nothing was in there. Go upstream.</a:t>
            </a:r>
          </a:p>
          <a:p>
            <a:pPr>
              <a:spcAft>
                <a:spcPts val="900"/>
              </a:spcAft>
            </a:pPr>
            <a:r>
              <a:rPr sz="1800" b="1">
                <a:solidFill>
                  <a:srgbClr val="5BC8F5"/>
                </a:solidFill>
                <a:latin typeface="Segoe UI"/>
              </a:rPr>
              <a:t>THEN SFT — and here we got bitten.</a:t>
            </a:r>
          </a:p>
          <a:p>
            <a:pPr>
              <a:spcAft>
                <a:spcPts val="400"/>
              </a:spcAft>
            </a:pPr>
            <a:r>
              <a:rPr sz="1500" b="0">
                <a:solidFill>
                  <a:srgbClr val="9AA6B4"/>
                </a:solidFill>
                <a:latin typeface="Segoe UI"/>
              </a:rPr>
              <a:t>     LoRA SFT deposits the knowledge; RL on top DESTROYS it (0.327 → 0.170).</a:t>
            </a:r>
          </a:p>
          <a:p>
            <a:pPr>
              <a:spcAft>
                <a:spcPts val="400"/>
              </a:spcAft>
            </a:pPr>
            <a:r>
              <a:rPr sz="1500" b="0">
                <a:solidFill>
                  <a:srgbClr val="9AA6B4"/>
                </a:solidFill>
                <a:latin typeface="Segoe UI"/>
              </a:rPr>
              <a:t>     Full-parameter SFT holds and improves under RL (0.420 → 0.548).</a:t>
            </a:r>
          </a:p>
          <a:p>
            <a:pPr>
              <a:spcAft>
                <a:spcPts val="900"/>
              </a:spcAft>
            </a:pPr>
            <a:r>
              <a:rPr sz="1800" b="1">
                <a:solidFill>
                  <a:srgbClr val="F5C56B"/>
                </a:solidFill>
                <a:latin typeface="Segoe UI"/>
              </a:rPr>
              <a:t>THEN CPT — and we have NOT found a path. Flat, flat, collapse.</a:t>
            </a:r>
          </a:p>
          <a:p>
            <a:pPr>
              <a:spcAft>
                <a:spcPts val="400"/>
              </a:spcAft>
            </a:pPr>
            <a:r>
              <a:rPr sz="1500" b="0">
                <a:solidFill>
                  <a:srgbClr val="9AA6B4"/>
                </a:solidFill>
                <a:latin typeface="Segoe UI"/>
              </a:rPr>
              <a:t>     Measured and dispositioned, not abandoned. But not solved.</a:t>
            </a:r>
          </a:p>
          <a:p>
            <a:pPr>
              <a:spcAft>
                <a:spcPts val="900"/>
              </a:spcAft>
            </a:pPr>
            <a:r>
              <a:rPr sz="1800" b="1">
                <a:solidFill>
                  <a:srgbClr val="F5C56B"/>
                </a:solidFill>
                <a:latin typeface="Segoe UI"/>
              </a:rPr>
              <a:t>AND BACK TO ADAPTERS — ReLoRA SFT. Flat. See the failed-paths list.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HPO is the GATE, not a tuning nicety</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It is what makes each stage a VERDICT instead of an opinion.</a:t>
            </a:r>
          </a:p>
          <a:p>
            <a:pPr>
              <a:spcAft>
                <a:spcPts val="900"/>
              </a:spcAft>
            </a:pPr>
            <a:r>
              <a:rPr sz="1800" b="1">
                <a:solidFill>
                  <a:srgbClr val="E8ECF1"/>
                </a:solidFill>
                <a:latin typeface="Segoe UI"/>
              </a:rPr>
              <a:t>NO LIFT = NO FULL. A configuration that cannot show lift in a short</a:t>
            </a:r>
          </a:p>
          <a:p>
            <a:pPr>
              <a:spcAft>
                <a:spcPts val="400"/>
              </a:spcAft>
            </a:pPr>
            <a:r>
              <a:rPr sz="1500" b="0">
                <a:solidFill>
                  <a:srgbClr val="9AA6B4"/>
                </a:solidFill>
                <a:latin typeface="Segoe UI"/>
              </a:rPr>
              <a:t>     search never earns a multi-hour run.</a:t>
            </a:r>
          </a:p>
          <a:p>
            <a:pPr>
              <a:spcAft>
                <a:spcPts val="900"/>
              </a:spcAft>
            </a:pPr>
            <a:r>
              <a:rPr sz="1800" b="1">
                <a:solidFill>
                  <a:srgbClr val="E8ECF1"/>
                </a:solidFill>
                <a:latin typeface="Segoe UI"/>
              </a:rPr>
              <a:t>It STOPPED CPT. It passed RL, 17 trials deep.</a:t>
            </a:r>
          </a:p>
          <a:p>
            <a:pPr>
              <a:spcAft>
                <a:spcPts val="400"/>
              </a:spcAft>
            </a:pPr>
            <a:r>
              <a:rPr sz="1500" b="0">
                <a:solidFill>
                  <a:srgbClr val="9AA6B4"/>
                </a:solidFill>
                <a:latin typeface="Segoe UI"/>
              </a:rPr>
              <a:t>     And the ceiling it found — one climb, never two — is what told us to</a:t>
            </a:r>
          </a:p>
          <a:p>
            <a:pPr>
              <a:spcAft>
                <a:spcPts val="400"/>
              </a:spcAft>
            </a:pPr>
            <a:r>
              <a:rPr sz="1500" b="0">
                <a:solidFill>
                  <a:srgbClr val="9AA6B4"/>
                </a:solidFill>
                <a:latin typeface="Segoe UI"/>
              </a:rPr>
              <a:t>     CHAIN runs rather than keep tuning.</a:t>
            </a:r>
          </a:p>
          <a:p>
            <a:pPr>
              <a:spcAft>
                <a:spcPts val="900"/>
              </a:spcAft>
            </a:pPr>
            <a:r>
              <a:rPr sz="1800" b="1">
                <a:solidFill>
                  <a:srgbClr val="F5C56B"/>
                </a:solidFill>
                <a:latin typeface="Segoe UI"/>
              </a:rPr>
              <a:t>LIMITATION: those 17 trials DID NOT MERGE adapters.</a:t>
            </a:r>
          </a:p>
          <a:p>
            <a:pPr>
              <a:spcAft>
                <a:spcPts val="400"/>
              </a:spcAft>
            </a:pPr>
            <a:r>
              <a:rPr sz="1500" b="0">
                <a:solidFill>
                  <a:srgbClr val="9AA6B4"/>
                </a:solidFill>
                <a:latin typeface="Segoe UI"/>
              </a:rPr>
              <a:t>     HPO searched the UNMERGED single-run setting — exactly where</a:t>
            </a:r>
          </a:p>
          <a:p>
            <a:pPr>
              <a:spcAft>
                <a:spcPts val="400"/>
              </a:spcAft>
            </a:pPr>
            <a:r>
              <a:rPr sz="1500" b="0">
                <a:solidFill>
                  <a:srgbClr val="9AA6B4"/>
                </a:solidFill>
                <a:latin typeface="Segoe UI"/>
              </a:rPr>
              <a:t>     one-climb-then-plateau is expected. Merging inside the search is UNTESTED.</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POSTSCRIPT — full-parameter RL, run to a playbook: 9 of 16</a:t>
            </a:r>
          </a:p>
        </p:txBody>
      </p:sp>
      <p:graphicFrame>
        <p:nvGraphicFramePr>
          <p:cNvPr id="4" name="Table 3"/>
          <p:cNvGraphicFramePr>
            <a:graphicFrameLocks noGrp="1"/>
          </p:cNvGraphicFramePr>
          <p:nvPr/>
        </p:nvGraphicFramePr>
        <p:xfrm>
          <a:off x="868680" y="1463040"/>
          <a:ext cx="10424160" cy="2788920"/>
        </p:xfrm>
        <a:graphic>
          <a:graphicData uri="http://schemas.openxmlformats.org/drawingml/2006/table">
            <a:tbl>
              <a:tblPr>
                <a:tableStyleId>{5C22544A-7EE6-4342-B048-85BDC9FD1C3A}</a:tableStyleId>
              </a:tblPr>
              <a:tblGrid>
                <a:gridCol w="5212080"/>
                <a:gridCol w="5212080"/>
              </a:tblGrid>
              <a:tr h="398417">
                <a:tc>
                  <a:txBody>
                    <a:bodyPr/>
                    <a:lstStyle/>
                    <a:p>
                      <a:pPr>
                        <a:spcAft>
                          <a:spcPts val="0"/>
                        </a:spcAft>
                      </a:pPr>
                      <a:r>
                        <a:rPr sz="1300" b="1">
                          <a:solidFill>
                            <a:srgbClr val="12161C"/>
                          </a:solidFill>
                          <a:latin typeface="Segoe UI"/>
                        </a:rPr>
                        <a:t>checkpoint</a:t>
                      </a:r>
                    </a:p>
                  </a:txBody>
                  <a:tcPr>
                    <a:solidFill>
                      <a:srgbClr val="5BC8F5"/>
                    </a:solidFill>
                  </a:tcPr>
                </a:tc>
                <a:tc>
                  <a:txBody>
                    <a:bodyPr/>
                    <a:lstStyle/>
                    <a:p>
                      <a:pPr>
                        <a:spcAft>
                          <a:spcPts val="0"/>
                        </a:spcAft>
                      </a:pPr>
                      <a:r>
                        <a:rPr sz="1300" b="1">
                          <a:solidFill>
                            <a:srgbClr val="12161C"/>
                          </a:solidFill>
                          <a:latin typeface="Segoe UI"/>
                        </a:rPr>
                        <a:t>correct / 16</a:t>
                      </a:r>
                    </a:p>
                  </a:txBody>
                  <a:tcPr>
                    <a:solidFill>
                      <a:srgbClr val="5BC8F5"/>
                    </a:solidFill>
                  </a:tcPr>
                </a:tc>
              </a:tr>
              <a:tr h="398417">
                <a:tc>
                  <a:txBody>
                    <a:bodyPr/>
                    <a:lstStyle/>
                    <a:p>
                      <a:pPr>
                        <a:spcAft>
                          <a:spcPts val="0"/>
                        </a:spcAft>
                      </a:pPr>
                      <a:r>
                        <a:rPr sz="1200">
                          <a:solidFill>
                            <a:srgbClr val="E8ECF1"/>
                          </a:solidFill>
                          <a:latin typeface="Segoe UI"/>
                        </a:rPr>
                        <a:t>base</a:t>
                      </a:r>
                    </a:p>
                  </a:txBody>
                  <a:tcPr>
                    <a:solidFill>
                      <a:srgbClr val="1A1F27"/>
                    </a:solidFill>
                  </a:tcPr>
                </a:tc>
                <a:tc>
                  <a:txBody>
                    <a:bodyPr/>
                    <a:lstStyle/>
                    <a:p>
                      <a:pPr>
                        <a:spcAft>
                          <a:spcPts val="0"/>
                        </a:spcAft>
                      </a:pPr>
                      <a:r>
                        <a:rPr sz="1200">
                          <a:solidFill>
                            <a:srgbClr val="E8ECF1"/>
                          </a:solidFill>
                          <a:latin typeface="Segoe UI"/>
                        </a:rPr>
                        <a:t>3</a:t>
                      </a:r>
                    </a:p>
                  </a:txBody>
                  <a:tcPr>
                    <a:solidFill>
                      <a:srgbClr val="1A1F27"/>
                    </a:solidFill>
                  </a:tcPr>
                </a:tc>
              </a:tr>
              <a:tr h="398417">
                <a:tc>
                  <a:txBody>
                    <a:bodyPr/>
                    <a:lstStyle/>
                    <a:p>
                      <a:pPr>
                        <a:spcAft>
                          <a:spcPts val="0"/>
                        </a:spcAft>
                      </a:pPr>
                      <a:r>
                        <a:rPr sz="1200">
                          <a:solidFill>
                            <a:srgbClr val="E8ECF1"/>
                          </a:solidFill>
                          <a:latin typeface="Segoe UI"/>
                        </a:rPr>
                        <a:t>SFT epoch 3</a:t>
                      </a:r>
                    </a:p>
                  </a:txBody>
                  <a:tcPr>
                    <a:solidFill>
                      <a:srgbClr val="212731"/>
                    </a:solidFill>
                  </a:tcPr>
                </a:tc>
                <a:tc>
                  <a:txBody>
                    <a:bodyPr/>
                    <a:lstStyle/>
                    <a:p>
                      <a:pPr>
                        <a:spcAft>
                          <a:spcPts val="0"/>
                        </a:spcAft>
                      </a:pPr>
                      <a:r>
                        <a:rPr sz="1200">
                          <a:solidFill>
                            <a:srgbClr val="E8ECF1"/>
                          </a:solidFill>
                          <a:latin typeface="Segoe UI"/>
                        </a:rPr>
                        <a:t>4</a:t>
                      </a:r>
                    </a:p>
                  </a:txBody>
                  <a:tcPr>
                    <a:solidFill>
                      <a:srgbClr val="212731"/>
                    </a:solidFill>
                  </a:tcPr>
                </a:tc>
              </a:tr>
              <a:tr h="398417">
                <a:tc>
                  <a:txBody>
                    <a:bodyPr/>
                    <a:lstStyle/>
                    <a:p>
                      <a:pPr>
                        <a:spcAft>
                          <a:spcPts val="0"/>
                        </a:spcAft>
                      </a:pPr>
                      <a:r>
                        <a:rPr sz="1200">
                          <a:solidFill>
                            <a:srgbClr val="E8ECF1"/>
                          </a:solidFill>
                          <a:latin typeface="Segoe UI"/>
                        </a:rPr>
                        <a:t>full-param RL pass 1</a:t>
                      </a:r>
                    </a:p>
                  </a:txBody>
                  <a:tcPr>
                    <a:solidFill>
                      <a:srgbClr val="1A1F27"/>
                    </a:solidFill>
                  </a:tcPr>
                </a:tc>
                <a:tc>
                  <a:txBody>
                    <a:bodyPr/>
                    <a:lstStyle/>
                    <a:p>
                      <a:pPr>
                        <a:spcAft>
                          <a:spcPts val="0"/>
                        </a:spcAft>
                      </a:pPr>
                      <a:r>
                        <a:rPr sz="1200">
                          <a:solidFill>
                            <a:srgbClr val="E8ECF1"/>
                          </a:solidFill>
                          <a:latin typeface="Segoe UI"/>
                        </a:rPr>
                        <a:t>3</a:t>
                      </a:r>
                    </a:p>
                  </a:txBody>
                  <a:tcPr>
                    <a:solidFill>
                      <a:srgbClr val="1A1F27"/>
                    </a:solidFill>
                  </a:tcPr>
                </a:tc>
              </a:tr>
              <a:tr h="398417">
                <a:tc>
                  <a:txBody>
                    <a:bodyPr/>
                    <a:lstStyle/>
                    <a:p>
                      <a:pPr>
                        <a:spcAft>
                          <a:spcPts val="0"/>
                        </a:spcAft>
                      </a:pPr>
                      <a:r>
                        <a:rPr sz="1200">
                          <a:solidFill>
                            <a:srgbClr val="E8ECF1"/>
                          </a:solidFill>
                          <a:latin typeface="Segoe UI"/>
                        </a:rPr>
                        <a:t>full-param RL pass 2</a:t>
                      </a:r>
                    </a:p>
                  </a:txBody>
                  <a:tcPr>
                    <a:solidFill>
                      <a:srgbClr val="212731"/>
                    </a:solidFill>
                  </a:tcPr>
                </a:tc>
                <a:tc>
                  <a:txBody>
                    <a:bodyPr/>
                    <a:lstStyle/>
                    <a:p>
                      <a:pPr>
                        <a:spcAft>
                          <a:spcPts val="0"/>
                        </a:spcAft>
                      </a:pPr>
                      <a:r>
                        <a:rPr sz="1200">
                          <a:solidFill>
                            <a:srgbClr val="E8ECF1"/>
                          </a:solidFill>
                          <a:latin typeface="Segoe UI"/>
                        </a:rPr>
                        <a:t>9</a:t>
                      </a:r>
                    </a:p>
                  </a:txBody>
                  <a:tcPr>
                    <a:solidFill>
                      <a:srgbClr val="212731"/>
                    </a:solidFill>
                  </a:tcPr>
                </a:tc>
              </a:tr>
              <a:tr h="398417">
                <a:tc>
                  <a:txBody>
                    <a:bodyPr/>
                    <a:lstStyle/>
                    <a:p>
                      <a:pPr>
                        <a:spcAft>
                          <a:spcPts val="0"/>
                        </a:spcAft>
                      </a:pPr>
                      <a:r>
                        <a:rPr sz="1200">
                          <a:solidFill>
                            <a:srgbClr val="E8ECF1"/>
                          </a:solidFill>
                          <a:latin typeface="Segoe UI"/>
                        </a:rPr>
                        <a:t>full-param RL pass 3</a:t>
                      </a:r>
                    </a:p>
                  </a:txBody>
                  <a:tcPr>
                    <a:solidFill>
                      <a:srgbClr val="1A1F27"/>
                    </a:solidFill>
                  </a:tcPr>
                </a:tc>
                <a:tc>
                  <a:txBody>
                    <a:bodyPr/>
                    <a:lstStyle/>
                    <a:p>
                      <a:pPr>
                        <a:spcAft>
                          <a:spcPts val="0"/>
                        </a:spcAft>
                      </a:pPr>
                      <a:r>
                        <a:rPr sz="1200">
                          <a:solidFill>
                            <a:srgbClr val="E8ECF1"/>
                          </a:solidFill>
                          <a:latin typeface="Segoe UI"/>
                        </a:rPr>
                        <a:t>4   (plateau)</a:t>
                      </a:r>
                    </a:p>
                  </a:txBody>
                  <a:tcPr>
                    <a:solidFill>
                      <a:srgbClr val="1A1F27"/>
                    </a:solidFill>
                  </a:tcPr>
                </a:tc>
              </a:tr>
              <a:tr h="398418">
                <a:tc>
                  <a:txBody>
                    <a:bodyPr/>
                    <a:lstStyle/>
                    <a:p>
                      <a:pPr>
                        <a:spcAft>
                          <a:spcPts val="0"/>
                        </a:spcAft>
                      </a:pPr>
                      <a:r>
                        <a:rPr sz="1200">
                          <a:solidFill>
                            <a:srgbClr val="E8ECF1"/>
                          </a:solidFill>
                          <a:latin typeface="Segoe UI"/>
                        </a:rPr>
                        <a:t>LoRA chain (reference)</a:t>
                      </a:r>
                    </a:p>
                  </a:txBody>
                  <a:tcPr>
                    <a:solidFill>
                      <a:srgbClr val="212731"/>
                    </a:solidFill>
                  </a:tcPr>
                </a:tc>
                <a:tc>
                  <a:txBody>
                    <a:bodyPr/>
                    <a:lstStyle/>
                    <a:p>
                      <a:pPr>
                        <a:spcAft>
                          <a:spcPts val="0"/>
                        </a:spcAft>
                      </a:pPr>
                      <a:r>
                        <a:rPr sz="1200">
                          <a:solidFill>
                            <a:srgbClr val="E8ECF1"/>
                          </a:solidFill>
                          <a:latin typeface="Segoe UI"/>
                        </a:rPr>
                        <a:t>6</a:t>
                      </a:r>
                    </a:p>
                  </a:txBody>
                  <a:tcPr>
                    <a:solidFill>
                      <a:srgbClr val="212731"/>
                    </a:solidFill>
                  </a:tcPr>
                </a:tc>
              </a:tr>
            </a:tbl>
          </a:graphicData>
        </a:graphic>
      </p:graphicFrame>
      <p:sp>
        <p:nvSpPr>
          <p:cNvPr id="5" name="TextBox 4"/>
          <p:cNvSpPr txBox="1"/>
          <p:nvPr/>
        </p:nvSpPr>
        <p:spPr>
          <a:xfrm>
            <a:off x="868680" y="6144768"/>
            <a:ext cx="10424160" cy="548640"/>
          </a:xfrm>
          <a:prstGeom prst="rect">
            <a:avLst/>
          </a:prstGeom>
          <a:noFill/>
        </p:spPr>
        <p:txBody>
          <a:bodyPr wrap="square">
            <a:spAutoFit/>
          </a:bodyPr>
          <a:lstStyle/>
          <a:p>
            <a:pPr>
              <a:spcAft>
                <a:spcPts val="0"/>
              </a:spcAft>
            </a:pPr>
            <a:r>
              <a:rPr sz="1300" b="0">
                <a:solidFill>
                  <a:srgbClr val="9AA6B4"/>
                </a:solidFill>
                <a:latin typeface="Segoe UI"/>
              </a:rPr>
              <a:t>One judge invocation. Pre-registered bar +2 over SFT; pass 2 delivered +5 — on the complete re-judge this arm reads 9/16, the champion 10/16.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2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457200"/>
            <a:ext cx="10607040" cy="822960"/>
          </a:xfrm>
          <a:prstGeom prst="rect">
            <a:avLst/>
          </a:prstGeom>
          <a:noFill/>
        </p:spPr>
        <p:txBody>
          <a:bodyPr wrap="square">
            <a:spAutoFit/>
          </a:bodyPr>
          <a:lstStyle/>
          <a:p>
            <a:pPr>
              <a:spcAft>
                <a:spcPts val="400"/>
              </a:spcAft>
            </a:pPr>
            <a:r>
              <a:rPr sz="2700" b="1">
                <a:solidFill>
                  <a:srgbClr val="E8ECF1"/>
                </a:solidFill>
                <a:latin typeface="Segoe UI"/>
              </a:rPr>
              <a:t>What I would do next</a:t>
            </a:r>
          </a:p>
        </p:txBody>
      </p:sp>
      <p:sp>
        <p:nvSpPr>
          <p:cNvPr id="4" name="TextBox 3"/>
          <p:cNvSpPr txBox="1"/>
          <p:nvPr/>
        </p:nvSpPr>
        <p:spPr>
          <a:xfrm>
            <a:off x="868680" y="1417320"/>
            <a:ext cx="10424160" cy="4846320"/>
          </a:xfrm>
          <a:prstGeom prst="rect">
            <a:avLst/>
          </a:prstGeom>
          <a:noFill/>
        </p:spPr>
        <p:txBody>
          <a:bodyPr wrap="square">
            <a:spAutoFit/>
          </a:bodyPr>
          <a:lstStyle/>
          <a:p>
            <a:pPr>
              <a:spcAft>
                <a:spcPts val="900"/>
              </a:spcAft>
            </a:pPr>
            <a:r>
              <a:rPr sz="1800" b="1">
                <a:solidFill>
                  <a:srgbClr val="5BC8F5"/>
                </a:solidFill>
                <a:latin typeface="Segoe UI"/>
              </a:rPr>
              <a:t>1. RECORD OUTPUT LENGTH in the eval. Cheapest fix, everything inherits it.</a:t>
            </a:r>
          </a:p>
          <a:p>
            <a:pPr>
              <a:spcAft>
                <a:spcPts val="900"/>
              </a:spcAft>
            </a:pPr>
            <a:r>
              <a:rPr sz="1800" b="1">
                <a:solidFill>
                  <a:srgbClr val="E8ECF1"/>
                </a:solidFill>
                <a:latin typeface="Segoe UI"/>
              </a:rPr>
              <a:t>2. ABLATE THE REPLAY BUFFER — one filter-off arm settles a PROVEN claim</a:t>
            </a:r>
          </a:p>
          <a:p>
            <a:pPr>
              <a:spcAft>
                <a:spcPts val="400"/>
              </a:spcAft>
            </a:pPr>
            <a:r>
              <a:rPr sz="1500" b="0">
                <a:solidFill>
                  <a:srgbClr val="9AA6B4"/>
                </a:solidFill>
                <a:latin typeface="Segoe UI"/>
              </a:rPr>
              <a:t>     we had to demote.</a:t>
            </a:r>
          </a:p>
          <a:p>
            <a:pPr>
              <a:spcAft>
                <a:spcPts val="900"/>
              </a:spcAft>
            </a:pPr>
            <a:r>
              <a:rPr sz="1800" b="1">
                <a:solidFill>
                  <a:srgbClr val="E8ECF1"/>
                </a:solidFill>
                <a:latin typeface="Segoe UI"/>
              </a:rPr>
              <a:t>3. A BIGGER EVAL. 16 items proves direction; it cannot price the gain.</a:t>
            </a:r>
          </a:p>
          <a:p>
            <a:pPr>
              <a:spcAft>
                <a:spcPts val="900"/>
              </a:spcAft>
            </a:pPr>
            <a:r>
              <a:rPr sz="1800" b="1">
                <a:solidFill>
                  <a:srgbClr val="E8ECF1"/>
                </a:solidFill>
                <a:latin typeface="Segoe UI"/>
              </a:rPr>
              <a:t>4. RESTORE THE FULL OBJECTIVE — answering only when it KNOWS.</a:t>
            </a:r>
          </a:p>
          <a:p>
            <a:pPr>
              <a:spcAft>
                <a:spcPts val="400"/>
              </a:spcAft>
            </a:pPr>
            <a:r>
              <a:rPr sz="1500" b="0">
                <a:solidFill>
                  <a:srgbClr val="9AA6B4"/>
                </a:solidFill>
                <a:latin typeface="Segoe UI"/>
              </a:rPr>
              <a:t>     The abstention machinery is built and lane-switched; it waits on a run.</a:t>
            </a:r>
          </a:p>
          <a:p>
            <a:pPr>
              <a:spcAft>
                <a:spcPts val="900"/>
              </a:spcAft>
            </a:pPr>
            <a:r>
              <a:rPr sz="1800" b="1">
                <a:solidFill>
                  <a:srgbClr val="6ED38A"/>
                </a:solidFill>
                <a:latin typeface="Segoe UI"/>
              </a:rPr>
              <a:t>SFT put the knowledge in. RL made more of it come out — and ONE</a:t>
            </a:r>
          </a:p>
          <a:p>
            <a:pPr>
              <a:spcAft>
                <a:spcPts val="900"/>
              </a:spcAft>
            </a:pPr>
            <a:r>
              <a:rPr sz="1800" b="1">
                <a:solidFill>
                  <a:srgbClr val="6ED38A"/>
                </a:solidFill>
                <a:latin typeface="Segoe UI"/>
              </a:rPr>
              <a:t>MGPO pass came out furthest: 4 → 8. Pretraining on this corpus did neither.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