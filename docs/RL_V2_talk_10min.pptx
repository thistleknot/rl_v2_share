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STORY, and every number on it opens as a file. Left panel, from data/probe3_locked.json (one invocation, fixed scorer): base 4 · SFT epoch 1 = 1 (format collapse — that checkpoint answers with an empty string on most questions) · epoch 2 = 3 · epoch 3 = 5 · then ONE full-parameter MGPO pass trained FROM that SFT checkpoint reads 9. The dashed trail behind the star is that same run's own in-run readings (6, 8, 7, 8) — the same model, not a later timeline.   ·   Read the split honestly: the deposit buys about +1 over base and mostly recovers its own epoch-1 collapse; the RL pass buys +4. RL is where the lift is, and it is surfacing knowledge the deposit already placed — RL trains on its own 240 records, disjoint from SFT's 240 (verified: zero question overlap).   ·   Right panel: the full-coverage campaign, one visit to each of RL's 238 records instead of drilling 6. Regenerate the whole figure with: python -c "import sys;sys.path.insert(0,'src');import plot_pipeline_curve as P;P.plot_critical_lifts()".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LOCKED MECHANISM (operator directive, 2026-09-06: one clear scoring mechanism at every phase so we don't double-guess ourselves): each checkpoint's greedy answers, every answer judged ALONE three times, majority of readings is the verdict, empty and content-free-stub answers scored 0 mechanically before any LLM call. 18 phase checkpoints, all 16 questions, 864 readings, complete. The board: base 4 · SFT epochs 1/3/4 · LoRA chain 5/5/5 · champion's RL pass 8 → +IPO 7 · full-param passes 3/8/2 · doubled-data 7/5/5, 2nd pass 2 · Dyna 7 → +IPO 7. What it says: every FIRST RL pass lifts (+3 to +4 over base); every second or third pass collapses; the polish steps (IPO, Dyna's in-loop update) read 0 to -1 under this grader — their earlier +3 lived in comparative grading, whose neighbor-fooling mode cannot be gated and which is retired from verdicts (kept in the report as sensitivity). Every number quoted anywhere in this deck traces to data/uniform_board.json.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coverage campaign's premise was that visiting all 240 training records would beat drilling a handful. It never got the chance to be tested: no run survived long enough to finish the 240, because each one peaked at its first update and then declined until the automatic stop fired. Three different step sizes, same shape. The counts here are each run's own quick grading (one read per answer), which is why they are shown as movement rather than as final scores — the careful three-read grading is reserved for the checkpoints that go on the board. What the sample answers show at the bottom of the decline: the model turns terse — five-character answers like '(0.4)' — and the few it still answers fully are graded higher than ever. That is the brevity term in the reward winning over correctness, not the model breaking.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0.8B is a hardware constraint, not the variable under study. The variable is full-parameter versus adapter. Four question categories: Math, Code, STEM, Instruction. Self-sufficient scoping was a deliberate paring: the original design also covered unanswerable questions where the right move is to decline, and that half returns in future directions.   ·   The formulation follows the part 1 MDP checklist: states = the prompt plus tokens emitted so far, actions = the vocabulary, transitions deterministic (appending a token), reward zero everywhere except the terminal judge call, gamma 1. Because the episode-level problem is one decision wide, the environment reduces to its reward function — which is why 'model the judge' equals 'model the world'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resolution floor was measured, not chosen: four copies of ONE checkpoint, scored independently, spread that far apart. It becomes the min_delta for every patience decision downstream. No stage is allowed to pick its metric after seeing results.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before any training: 375 / 370 / 3, plus the frozen 16-item eval and a 12-item rubric split the judge's examples come from. Every record keeps skill, chunk, category and cosine, so a bad item is traceable rather than arguable.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Embeddings: local nomic-embed-text. The comparison is against the full running kept set, so the filter tightens as the pool grows — the last items admitted are the hardest-won. Historically this corpus saturated near 60-78 items at the 0.80 gate; the category axis (four question flavours per chunk) grew yield to 748 WITHOUT producing paraphrase-duplicates, which is why it beat the ceiling and gate-relaxing would not have. Relaxing the gate for headroom is on the project's banned list. Each record carries its max-cosine-to-prior, so any suspect item can be traced and excised rather than argued about.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separation is the reason the numbers mean anything. Author and judge are different models; the student never sees the standard it is being held to. Everything the 0.8B learns arrives through one channel — the scalar reward.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CPT was measured across three learning rates — 0.250 / 0.250 / 0.062 against a 0.250 baseline. Flat, flat, collapse: a gradient with no usable domain signal, where small steps are noise and the large one is damage. CLOSED means measured and dispositioned, NOT untried — that distinction is what stops it being re-run next month.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scored in ONE judge invocation, so the comparison is valid. Tripling the dose did NOT help: 0.389 / 0.309 / 0.327, peaking at epoch 1. Training loss still fell 2.5 → 1.2 — the extra passes bought MEMORISATION and spent the model's uncertainty, never-correct 4 → 9 while the teachable band collapsed 11 → 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had this wrong until I opened the generations instead of trusting the rate — it was being presented as a learning-dynamics finding. The design lesson survives (you need the per-epoch curve; a one-epoch read would still have killed the lane) but the MECHANISM is format collapse, not knowledge loss. This is the cheapest instrument fix on the list and everything downstream inherits the ambiguity until it lands.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this implies, and it is now the operating definition: a stage is judged by its BEST checkpoint against the phase before it, never by its first epoch and never by its last alone. Early stopping must not fire before a minimum epoch count — patience measured from epoch 1 would have killed full-param SFT, which is the lane that works.   ·   Consequence worth stating out loud: CPT's CLOSED verdict does not meet this bar. It was three learning rates, each one end-of-run number, no epoch curve, and the checkpoints were not kept so nobody could go back and look. Under this definition CPT is UNRESOLVED, not closed.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adapter CAN hold the knowledge — 0.063 → 0.327 is a real deposit — so the failure is not capacity, it is what happens NEXT.   ·   METRIC WARNING: macroF1 on the abstention-lane eval, a DIFFERENT instrument from the binary@0.70 numbers elsewhere in this talk. All four rows share it, so the comparison inside the table is valid; do not read it against the R3 ladder.   ·   The last cell FILLED on 2026-09-02: full-param SFT → full-param RL now runs on 16 GB (8-bit Adam + frozen embeddings + sequence caps) and its campaign WON — see the postscript slide. The old NOT_RUN is superseded.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data/synthetic_domain_rubric.md, worked-examples block (REQ-J11 — every exemplar is drawn from a held-out 12-item rubric split, never from training or eval).   ·   Why the 'wrong, good' row exists: 0.4-0.6 is reserved for the most DEMANDING kind of wrong — a specific false claim, a confident wrong number, a flipped comparison. An answer that commits to nothing has not earned that band and drops to 0.05-0.25. Collapsing those two is how a judge ends up scoring every wrong answer ~0.45 and treating 'wrong' as one category when it is three.   ·   Why 'correct, bad' exists: the gold band is 0.9-1.0, NOT 1.0. If every correct answer scores 1.000 the instrument has no resolution above 'correct', and RL has no way to prefer one right answer over another. The five correct exemplars score 0.98, 0.95, 0.92, 0.85, 0.72 by design.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from the RL course material to our design: every mechanism on the next slides is an instance of uncertainty-aware exploration. Count bonus: MCTS/UCT's Q + C*sqrt(ln N / N(s,a)) — rarely-visited gets optimism. Entropy: SAC maximizes reward plus policy entropy, staying deliberately uncertain until forced to commit. The 'two models' answer (ensemble disagreement / RND: frozen random net + trained predictor, error high exactly on unseen states) measures epistemic uncertainty. The 'surprise'/learning-progress answer (Schmidhuber's curiosity line; prioritized replay's TD-error is the value-based cousin) measures information content directly but pays one gradient step per candidate just to score it. MGPO gets the same quantity for free: a prompt whose G sampled outcomes disagree has maximal within-group reward variance, which IS the expected-gradient magnitude under GRPO's variance-normalised advantage. Same principle, zero extra forward passes.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was MEASURED, not argued: the raw-score reward demonstrably could not distinguish the SFT checkpoint from base, which made it useless as a training signal. Zero-sum matters because a brevity bonus that shifted the group mean would leak into the advantage and quietly become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zero-variance argument is a DERIVATION, not a result. The old deck marked this lane PROVEN on the evidence 'every in-run lift followed a spanning round' — true, and equally true if the filter did nothing, because every run had it on. Demoted to UNTESTED. Counter-risk worth stating: dropping 4 of 6 leaves round 2 training on two prompts, thin enough to be a liability rather than a feature.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from a real run (fpv2_pass2, 2026-09-02):   '[bootstrap] cohort=6 distinct prompts | round 1 uniform'  →  '[maxent] dropped 2/6 prompts from round 2 (2 not threshold-spanning at 0.7)'  →  '[select:maxent] top_probabilities 0.386 / 0.235 / 0.212 / 0.167 / 0.000 / 0.000'.   ·   Read the weights out loud: the question the model is most INCONSISTENT on gets practiced most; the two all-wrong questions get nothing, because a group with identical outcomes has zero reward variance and GRPO's advantage is variance-normalised — the update is exactly zero, so spending steps there is burning GPU on nothing.   ·   'Replay buffer' is a loose name: unlike DQN-style replay no stored rollout is ever trained on — past outcomes only choose what to practice next. Ablation caveat from the previous slide still applies.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is principled, not improvised: where we borrowed, the source is named (Raschka Ch 6-7); the clip epsilon and KL strength were silently inherited from TRL before being exposed and tried. The knob trials (2026-09-05, one variable each from the same checkpoint): turning OFF reward scaling — GRPO's divide-by-group-std, whose removal is published as 'Dr. GRPO' (Liu et al. 2025), scale_rewards='none' in our code — scored 8/14 and became the RL pass the 5-minute IPO step sharpened to the champion (10/16 complete).DeepSeek's KL value 0.02 made the biggest climb from its own start (4→8) but scored 8/15 head-to-head, no better, so beta stayed 0.3. DAPO's clip-higher (0.28) scored 4/15, the worst, and was dropped. The brevity term: the naive version's failure mode is accuracy falling as answers shorten; our zero-sum/correct-only guard prevents that, and the brevity-OFF trial never ran — the campaign hit its stopping point first, so that knob is untested, not lost.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Operator question, verbatim: 'what was the verdict on uncertain prompts, do we send them back to sft, is that something we were considering when we drafted our plan, or is that already dispositioned (I think it was dispositioned when we trained on the 720 for both sft and rl which is obviously derp). iow we can treat the replay buffer as our cache during rl and continue to iterate on prompts that still have spread and occasionally provide a real world experience (sample without replacement) where we pull from the remaining unseen records' — and: 'and that's what we measure for uncertainty?'   ·   Answer: what's dispositioned is SAME records through both stages (the 720 confound). Sending ALWAYS-WRONG prompts to SFT is pre-endorsed (TRIZ harm-to-benefit) and paper-backed: TailSFT trains SFT for what RLVR can't reach; STaR and ReST iterate exactly this loop. The zero-gradient argument makes it necessary: GRPO's advantage is exactly 0 on uniform-outcome groups, so RL cannot move the always-wrong bin at all. Uncertainty = reward spread (sampled prompts) + cross-model disagreement (probe screen); unseen prompts have no measurement, only novelty — the visit ledger's count=0 pool IS the injection source, sized max(2, 10% of cache) capped at 1/3 of the curriculum.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 on what you are uncertain of — the operator's framing: 'that's the whole paradigm in human learning... memory flash cards.' The Leitner spaced-repetition box IS prioritized replay: miss a card, it returns sooner (high priority); master it, the interval stretches but the card never leaves the deck (epsilon-floor); new cards enter at the front (max priority); an old card resurfacing is the staleness term. Spaced repetition also answers the overtraining concern the same way PER does: mastery stretches the revisit interval instead of deleting the item — and our own measured collapse mode (round-2 pools thinning to 2-3 prompts) is exactly what training ONLY on the boundary looks like; the floor + fresh injection keep the curriculum wide.   ·   Operator design, formalized against Prioritized Experience Replay (Schaul et al. 2015). The mapping is exact: PER inserts new transitions at MAX priority (here: Beta(1,1) uniform = maximum variance, so the 50/50-don't-know prior falls out with no special-casing); PER's epsilon-floor exists because a zero-probability item can silently regress unseen — the operator's instability concern, named; PER updates priority only on replay (staleness accepted, re-measured on visit). Differences from DQN-style PER: we prioritize PROMPTS not transitions, the 'TD-error' analog is Bernoulli outcome variance from judge history, and nothing stored is ever retrained — priority only steers which prompts get fresh rollouts. Always-wrong prompts additionally go on the SFT deposit targeting list but STAY in the ledger at low priority, so post-deposit RL re-measures them for free. Status: designed (playbook-uncertainty-menu.md E8), ledger substrate built; not yet wired into round selection.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RL-NOTES TIE-IN, explicit (operator, 2026-09-05: 'model of the judge IS the complete world model — exactly what I meant'). Concepts borrowed: Dyna-Q and model-based RL (replay buffer, learned world model, ensemble world model, uncertainty masking) and model-based RL (MDP objects, model-based loop). Two granularities are both true and worth saying: at token level the generation IS an MDP — every next-token prediction is a state-to-state transition with reward only at the terminal state (see docs/TRUE_RL_MDP.md) — while at episode level one exam answer is a contextual bandit, and in a bandit the environment reduces to its reward function, so modeling the judge models the world completely. The 'autoencoder' intuition: IPO compresses 1,920 judged experiences into the policy's own probability ratios — the DPO-family derivation literally shows the trained policy carries an implicit reward model (Rafailov et al.'s 'your LM is secretly a reward model', regularized by IPO for 24-pair scarcity). Same buffer, same labels as the explicit ensemble head in src/prompt_world_model.py — different carrier.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as --dyna-ipo (src/mgpo.py, task #44): the reward path already judged every G=4 rollout and threw the result away after one gradient step; now each round's judged rollouts become chosen/rejected pairs (same rules as the winning offline step: best correct non-degenerate vs worst nonempty, judge-fooled spam admitted as rejected) and a 5-minute IPO pass updates the live policy before the next round's card selection. This is the integrated form of the by-hand winner (one pass then offline IPO), and the DeepSeek-R1 RL-preference alternation in miniature. Textbook Dyna also plans on IMAGINED rollouts from the world model; we deliberately keep only the real-experience half — under a judge we have measured being fooled (empty answers at 0.70, digit-spam at 0.98, a 3-word stub at 0.98), training on model-imagined reward would compound the instrument's blind spots.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ALIGNMENT SLIDE (operator, 2026-09-06: 'that's what my course taught me and this presentation is for that course'). Read it top to bottom as the course arc: formulate the MDP (part 1), explore what you are unsure of (part 3), prioritize replay and learn a world model (part 6). The three verdict classes matter: KEPT means load-bearing in the recipe that reached 10 of 16 complete; the verifier row closed on 2026-09-06 — an ensemble over frozen embeddings (5,760 judged samples) scored in-distribution AUC 0.485, chance, so cheap features cannot see correctness and the row is TESTED, not skipped. The Dyna row closed the same night: its complete comparative receipt read 12/16 vs the champion's 9 — but spot-reads showed confidently WRONG answers graded correct (entropy 1.51 where the gold says 0; a bootstrap calculation off by 60+ samples), and single-answer re-reads of the same answers gave 6/16. No credible win — and the receipt's real value is the instrument finding: a comparative ranking prompt can pass a wrong answer when its neighbors are worse. 'not applicable' is a shape mismatch, not a skipped assignment — value iteration, Dijkstra/A*/MCTS-as-search, and DQN all need a multi-step transition model or a value function to bootstrap through, and the episode-level problem here is a one-step contextual bandit (DQN was also ruled out by design). Every applied row has its own slide earlier in the deck; this table is the index.</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LADDER IN ONE TABLE, every count with all 16 questions judged (2026-09-06 complete re-judge; earlier receipts left 1-5 questions unjudged and read up to 11 as floors over fewer questions). Sourcing, honestly: base 6 / full-param 9 / IPO 10 share ONE invocation (data/full16_verdict.json); SFT 8 and chain 8 come from the pipeline invocation (data/pipeline_curve_full16.json), where base read 7. The champion's 10 replicated in a third complete receipt. Read the ladder as: endpoint-over-base (+3 to +5) is robust; each RUNG is ~1 question on an instrument whose repeat-judge swing is 2-3, so the rung ordering is consistent direction, not measured effect size.   ·   Relationship between rungs: ReLoRA and full-param MGPO are the same objective at different capacity (adapter merges vs full weights); IPO is NOT an RL pass — it replaced the SECOND pass, which declined in six independent lineages. MGPO is not dropped: the champion IS one MGPO pass (scale_rewards='none'), IPO is the polish on top. IPO = identity preference optimization (Azar et al. 2023): DPO-family offline pairwise loss, regularized toward a fixed preference margin so 24 pairs cannot overfit — no rollouts, no reward model, no collapse risk, 5 minutes on the same 16 GB card.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STORY IN ONE SENTENCE: we doubled the model's lift — 25% of the exam answerable at base, 50% after deposit + one RL pass.   ·   If anyone asks where the earlier 10-12 readings went: same weights, retired grader. The comparative judging protocol read the IPO-polished checkpoint at 10-11, but that protocol was caught grading confidently wrong answers correct when their neighbors were worse, and was retired from verdicts; under the locked mechanism (each answer judged alone, 3x, majority, empty/stub gates) the polish reads 7 — one BELOW its own parent's 8 — and every polish attempt across three lanes read 0 to -1. The 8 belongs to MGPO.   ·   The winning pass in detail: 2 rounds x 6 steps, 6-prompt pool, 4 samples per prompt, lr 1e-5, KL beta 0.3 to the frozen SFT reference, token-level DAPO loss, flashcard prompt selection (practice only prompts whose sampled outcomes disagree — uniform outcomes give exactly zero gradient), 8-bit Adam + frozen embeddings on 16 GB, ~50 min. One variant used reward-scaling-off ('Dr. GRPO', Liu et al. 2025) and one did not; both reached 8 — the core recipe, not the knob, carries the result.   ·   Residual headroom, honestly: the winner's own 8 samples contain a correct answer for 14 of 16 questions, and three picker families failed to select them (chance-AUC ensemble, blind LLM verifier 7/16, own log-likelihood 4/16) — closing that gap is a selection and instrument problem, first item on future directions. Receipts: data/uniform_board.json / past9_r1a train_stats / fullparam_rl_verdict.json.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Units are step (one prompt, 4 answers, one update) → round (6-12 steps) → run (2 rounds). There is no epoch boundary to merge at, because there are no epochs. Each run gets a new cohort and a new seed (7, 29, 37).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ratio, not just the endpoint: sixteen measured dead ends for one working path. That is what a real search looks like, and the dead ends are the transferable part — anyone repeating this can skip them.   ·   The ReLoRA chain is no longer on the recipe: it was the route to 8 at adapter capacity, and the full-param pass + offline IPO superseded it (the ReLoRA slide keeps the insight).   ·   Honest caveats carried from the rest of the deck: n=16, so this is DIRECTION not effect size; the replay-buffer component was never ablated; the IPO step reads +1 over plain full-param RL on the complete instrument (10 vs 9, same invocation) — consistent direction, size at the floor of what 16 questions can resolve.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mgpo.py contains no merge step; the chain was assembled afterwards from the winning config. So we have no evidence about what HPO would select with merging inside the search loop — which is the premise of the next experiment, and the reason it is worth running rather than assuming.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Ordered by cost-to-value. Items 1 and 2 close honesty gaps in claims already made, so they come before anything that spends GPU hours. Full-parameter RL moved OFF this list on 2026-09-02 (its pass 2 is one of the two winners at 8/16 on the locked board); IPO iteration is NOT on the list — the polish read 0 to -1 across three lanes under the locked grader. Receipts, per-trial ledgers and checkpoints are in the repo; every number traces to a JSON file.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07040" cy="2377440"/>
          </a:xfrm>
          <a:prstGeom prst="rect">
            <a:avLst/>
          </a:prstGeom>
          <a:noFill/>
        </p:spPr>
        <p:txBody>
          <a:bodyPr wrap="square">
            <a:spAutoFit/>
          </a:bodyPr>
          <a:lstStyle/>
          <a:p>
            <a:pPr>
              <a:spcAft>
                <a:spcPts val="1200"/>
              </a:spcAft>
            </a:pPr>
            <a:r>
              <a:rPr sz="4000" b="1">
                <a:solidFill>
                  <a:srgbClr val="E8ECF1"/>
                </a:solidFill>
                <a:latin typeface="Segoe UI"/>
              </a:rPr>
              <a:t>Injecting Domain Knowledge: full-parameter vs adapter</a:t>
            </a:r>
          </a:p>
          <a:p>
            <a:pPr>
              <a:spcAft>
                <a:spcPts val="2000"/>
              </a:spcAft>
            </a:pPr>
            <a:r>
              <a:rPr sz="2000" b="0">
                <a:solidFill>
                  <a:srgbClr val="5BC8F5"/>
                </a:solidFill>
                <a:latin typeface="Segoe UI"/>
              </a:rPr>
              <a:t>Get the knowledge in with full-parameter SFT; get more of it OUT with RL.</a:t>
            </a:r>
          </a:p>
          <a:p>
            <a:pPr>
              <a:spcAft>
                <a:spcPts val="600"/>
              </a:spcAft>
            </a:pPr>
            <a:r>
              <a:rPr sz="1400" b="0">
                <a:solidFill>
                  <a:srgbClr val="9AA6B4"/>
                </a:solidFill>
                <a:latin typeface="Segoe UI"/>
              </a:rPr>
              <a:t>RL_V2 · 10-minute report   ·   0.8B because that is what fit the card — size is the constraint, not the variable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result: base 4 → SFT 5 → one RL pass 9, of 16</a:t>
            </a:r>
          </a:p>
        </p:txBody>
      </p:sp>
      <p:pic>
        <p:nvPicPr>
          <p:cNvPr id="4" name="Picture 3" descr="critical_lifts.png"/>
          <p:cNvPicPr>
            <a:picLocks noChangeAspect="1"/>
          </p:cNvPicPr>
          <p:nvPr/>
        </p:nvPicPr>
        <p:blipFill>
          <a:blip r:embed="rId2"/>
          <a:stretch>
            <a:fillRect/>
          </a:stretch>
        </p:blipFill>
        <p:spPr>
          <a:xfrm>
            <a:off x="457200" y="1188720"/>
            <a:ext cx="11277295" cy="4820134"/>
          </a:xfrm>
          <a:prstGeom prst="rect">
            <a:avLst/>
          </a:prstGeom>
        </p:spPr>
      </p:pic>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Left: every SFT epoch and the RL checkpoint trained from it. Right: the full-coverage campaign's own readings. Every count judged 3x alone, majority vote, all 16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Every phase of every lane — one locked scoring mechanism</a:t>
            </a:r>
          </a:p>
        </p:txBody>
      </p:sp>
      <p:pic>
        <p:nvPicPr>
          <p:cNvPr id="4" name="Picture 3" descr="attempt_line.png"/>
          <p:cNvPicPr>
            <a:picLocks noChangeAspect="1"/>
          </p:cNvPicPr>
          <p:nvPr/>
        </p:nvPicPr>
        <p:blipFill>
          <a:blip r:embed="rId2"/>
          <a:stretch>
            <a:fillRect/>
          </a:stretch>
        </p:blipFill>
        <p:spPr>
          <a:xfrm>
            <a:off x="457200" y="1188720"/>
            <a:ext cx="11277295" cy="4820134"/>
          </a:xfrm>
          <a:prstGeom prst="rect">
            <a:avLst/>
          </a:prstGeom>
        </p:spPr>
      </p:pic>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base 4 → best trained 8, of 16 — and every SFT epoch, RL pass, and polish step scored by the SAME rule (data/uniform_board.json, regenerable by one command).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Training past the first pass gave questions back — three times</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3474720"/>
                <a:gridCol w="3474720"/>
                <a:gridCol w="3474720"/>
              </a:tblGrid>
              <a:tr h="411480">
                <a:tc>
                  <a:txBody>
                    <a:bodyPr/>
                    <a:lstStyle/>
                    <a:p>
                      <a:pPr>
                        <a:spcAft>
                          <a:spcPts val="0"/>
                        </a:spcAft>
                      </a:pPr>
                      <a:r>
                        <a:rPr sz="1300" b="1">
                          <a:solidFill>
                            <a:srgbClr val="12161C"/>
                          </a:solidFill>
                          <a:latin typeface="Segoe UI"/>
                        </a:rPr>
                        <a:t>what we trained</a:t>
                      </a:r>
                    </a:p>
                  </a:txBody>
                  <a:tcPr>
                    <a:solidFill>
                      <a:srgbClr val="5BC8F5"/>
                    </a:solidFill>
                  </a:tcPr>
                </a:tc>
                <a:tc>
                  <a:txBody>
                    <a:bodyPr/>
                    <a:lstStyle/>
                    <a:p>
                      <a:pPr>
                        <a:spcAft>
                          <a:spcPts val="0"/>
                        </a:spcAft>
                      </a:pPr>
                      <a:r>
                        <a:rPr sz="1300" b="1">
                          <a:solidFill>
                            <a:srgbClr val="12161C"/>
                          </a:solidFill>
                          <a:latin typeface="Segoe UI"/>
                        </a:rPr>
                        <a:t>records</a:t>
                      </a:r>
                    </a:p>
                  </a:txBody>
                  <a:tcPr>
                    <a:solidFill>
                      <a:srgbClr val="5BC8F5"/>
                    </a:solidFill>
                  </a:tcPr>
                </a:tc>
                <a:tc>
                  <a:txBody>
                    <a:bodyPr/>
                    <a:lstStyle/>
                    <a:p>
                      <a:pPr>
                        <a:spcAft>
                          <a:spcPts val="0"/>
                        </a:spcAft>
                      </a:pPr>
                      <a:r>
                        <a:rPr sz="1300" b="1">
                          <a:solidFill>
                            <a:srgbClr val="12161C"/>
                          </a:solidFill>
                          <a:latin typeface="Segoe UI"/>
                        </a:rPr>
                        <a:t>correct, of 16</a:t>
                      </a:r>
                    </a:p>
                  </a:txBody>
                  <a:tcPr>
                    <a:solidFill>
                      <a:srgbClr val="5BC8F5"/>
                    </a:solidFill>
                  </a:tcPr>
                </a:tc>
              </a:tr>
              <a:tr h="411480">
                <a:tc>
                  <a:txBody>
                    <a:bodyPr/>
                    <a:lstStyle/>
                    <a:p>
                      <a:pPr>
                        <a:spcAft>
                          <a:spcPts val="0"/>
                        </a:spcAft>
                      </a:pPr>
                      <a:r>
                        <a:rPr sz="1200">
                          <a:solidFill>
                            <a:srgbClr val="E8ECF1"/>
                          </a:solidFill>
                          <a:latin typeface="Segoe UI"/>
                        </a:rPr>
                        <a:t>one update, then stopped</a:t>
                      </a:r>
                    </a:p>
                  </a:txBody>
                  <a:tcPr>
                    <a:solidFill>
                      <a:srgbClr val="1A1F27"/>
                    </a:solidFill>
                  </a:tcPr>
                </a:tc>
                <a:tc>
                  <a:txBody>
                    <a:bodyPr/>
                    <a:lstStyle/>
                    <a:p>
                      <a:pPr>
                        <a:spcAft>
                          <a:spcPts val="0"/>
                        </a:spcAft>
                      </a:pPr>
                      <a:r>
                        <a:rPr sz="1200">
                          <a:solidFill>
                            <a:srgbClr val="E8ECF1"/>
                          </a:solidFill>
                          <a:latin typeface="Segoe UI"/>
                        </a:rPr>
                        <a:t>12</a:t>
                      </a:r>
                    </a:p>
                  </a:txBody>
                  <a:tcPr>
                    <a:solidFill>
                      <a:srgbClr val="1A1F27"/>
                    </a:solidFill>
                  </a:tcPr>
                </a:tc>
                <a:tc>
                  <a:txBody>
                    <a:bodyPr/>
                    <a:lstStyle/>
                    <a:p>
                      <a:pPr>
                        <a:spcAft>
                          <a:spcPts val="0"/>
                        </a:spcAft>
                      </a:pPr>
                      <a:r>
                        <a:rPr sz="1200">
                          <a:solidFill>
                            <a:srgbClr val="E8ECF1"/>
                          </a:solidFill>
                          <a:latin typeface="Segoe UI"/>
                        </a:rPr>
                        <a:t>4 — below SFT</a:t>
                      </a:r>
                    </a:p>
                  </a:txBody>
                  <a:tcPr>
                    <a:solidFill>
                      <a:srgbClr val="1A1F27"/>
                    </a:solidFill>
                  </a:tcPr>
                </a:tc>
              </a:tr>
              <a:tr h="411480">
                <a:tc>
                  <a:txBody>
                    <a:bodyPr/>
                    <a:lstStyle/>
                    <a:p>
                      <a:pPr>
                        <a:spcAft>
                          <a:spcPts val="0"/>
                        </a:spcAft>
                      </a:pPr>
                      <a:r>
                        <a:rPr sz="1200">
                          <a:solidFill>
                            <a:srgbClr val="E8ECF1"/>
                          </a:solidFill>
                          <a:latin typeface="Segoe UI"/>
                        </a:rPr>
                        <a:t>kept going, bigger steps</a:t>
                      </a:r>
                    </a:p>
                  </a:txBody>
                  <a:tcPr>
                    <a:solidFill>
                      <a:srgbClr val="212731"/>
                    </a:solidFill>
                  </a:tcPr>
                </a:tc>
                <a:tc>
                  <a:txBody>
                    <a:bodyPr/>
                    <a:lstStyle/>
                    <a:p>
                      <a:pPr>
                        <a:spcAft>
                          <a:spcPts val="0"/>
                        </a:spcAft>
                      </a:pPr>
                      <a:r>
                        <a:rPr sz="1200">
                          <a:solidFill>
                            <a:srgbClr val="E8ECF1"/>
                          </a:solidFill>
                          <a:latin typeface="Segoe UI"/>
                        </a:rPr>
                        <a:t>72</a:t>
                      </a:r>
                    </a:p>
                  </a:txBody>
                  <a:tcPr>
                    <a:solidFill>
                      <a:srgbClr val="212731"/>
                    </a:solidFill>
                  </a:tcPr>
                </a:tc>
                <a:tc>
                  <a:txBody>
                    <a:bodyPr/>
                    <a:lstStyle/>
                    <a:p>
                      <a:pPr>
                        <a:spcAft>
                          <a:spcPts val="0"/>
                        </a:spcAft>
                      </a:pPr>
                      <a:r>
                        <a:rPr sz="1200">
                          <a:solidFill>
                            <a:srgbClr val="E8ECF1"/>
                          </a:solidFill>
                          <a:latin typeface="Segoe UI"/>
                        </a:rPr>
                        <a:t>got worse, stopped itself</a:t>
                      </a:r>
                    </a:p>
                  </a:txBody>
                  <a:tcPr>
                    <a:solidFill>
                      <a:srgbClr val="212731"/>
                    </a:solidFill>
                  </a:tcPr>
                </a:tc>
              </a:tr>
              <a:tr h="411480">
                <a:tc>
                  <a:txBody>
                    <a:bodyPr/>
                    <a:lstStyle/>
                    <a:p>
                      <a:pPr>
                        <a:spcAft>
                          <a:spcPts val="0"/>
                        </a:spcAft>
                      </a:pPr>
                      <a:r>
                        <a:rPr sz="1200">
                          <a:solidFill>
                            <a:srgbClr val="E8ECF1"/>
                          </a:solidFill>
                          <a:latin typeface="Segoe UI"/>
                        </a:rPr>
                        <a:t>kept going, smaller steps</a:t>
                      </a:r>
                    </a:p>
                  </a:txBody>
                  <a:tcPr>
                    <a:solidFill>
                      <a:srgbClr val="1A1F27"/>
                    </a:solidFill>
                  </a:tcPr>
                </a:tc>
                <a:tc>
                  <a:txBody>
                    <a:bodyPr/>
                    <a:lstStyle/>
                    <a:p>
                      <a:pPr>
                        <a:spcAft>
                          <a:spcPts val="0"/>
                        </a:spcAft>
                      </a:pPr>
                      <a:r>
                        <a:rPr sz="1200">
                          <a:solidFill>
                            <a:srgbClr val="E8ECF1"/>
                          </a:solidFill>
                          <a:latin typeface="Segoe UI"/>
                        </a:rPr>
                        <a:t>60</a:t>
                      </a:r>
                    </a:p>
                  </a:txBody>
                  <a:tcPr>
                    <a:solidFill>
                      <a:srgbClr val="1A1F27"/>
                    </a:solidFill>
                  </a:tcPr>
                </a:tc>
                <a:tc>
                  <a:txBody>
                    <a:bodyPr/>
                    <a:lstStyle/>
                    <a:p>
                      <a:pPr>
                        <a:spcAft>
                          <a:spcPts val="0"/>
                        </a:spcAft>
                      </a:pPr>
                      <a:r>
                        <a:rPr sz="1200">
                          <a:solidFill>
                            <a:srgbClr val="E8ECF1"/>
                          </a:solidFill>
                          <a:latin typeface="Segoe UI"/>
                        </a:rPr>
                        <a:t>flat, then killed</a:t>
                      </a:r>
                    </a:p>
                  </a:txBody>
                  <a:tcPr>
                    <a:solidFill>
                      <a:srgbClr val="1A1F27"/>
                    </a:solidFill>
                  </a:tcPr>
                </a:tc>
              </a:tr>
              <a:tr h="411480">
                <a:tc>
                  <a:txBody>
                    <a:bodyPr/>
                    <a:lstStyle/>
                    <a:p>
                      <a:pPr>
                        <a:spcAft>
                          <a:spcPts val="0"/>
                        </a:spcAft>
                      </a:pPr>
                      <a:r>
                        <a:rPr sz="1200">
                          <a:solidFill>
                            <a:srgbClr val="E8ECF1"/>
                          </a:solidFill>
                          <a:latin typeface="Segoe UI"/>
                        </a:rPr>
                        <a:t>restarted from the better model</a:t>
                      </a:r>
                    </a:p>
                  </a:txBody>
                  <a:tcPr>
                    <a:solidFill>
                      <a:srgbClr val="212731"/>
                    </a:solidFill>
                  </a:tcPr>
                </a:tc>
                <a:tc>
                  <a:txBody>
                    <a:bodyPr/>
                    <a:lstStyle/>
                    <a:p>
                      <a:pPr>
                        <a:spcAft>
                          <a:spcPts val="0"/>
                        </a:spcAft>
                      </a:pPr>
                      <a:r>
                        <a:rPr sz="1200">
                          <a:solidFill>
                            <a:srgbClr val="E8ECF1"/>
                          </a:solidFill>
                          <a:latin typeface="Segoe UI"/>
                        </a:rPr>
                        <a:t>60</a:t>
                      </a:r>
                    </a:p>
                  </a:txBody>
                  <a:tcPr>
                    <a:solidFill>
                      <a:srgbClr val="212731"/>
                    </a:solidFill>
                  </a:tcPr>
                </a:tc>
                <a:tc>
                  <a:txBody>
                    <a:bodyPr/>
                    <a:lstStyle/>
                    <a:p>
                      <a:pPr>
                        <a:spcAft>
                          <a:spcPts val="0"/>
                        </a:spcAft>
                      </a:pPr>
                      <a:r>
                        <a:rPr sz="1200">
                          <a:solidFill>
                            <a:srgbClr val="E8ECF1"/>
                          </a:solidFill>
                          <a:latin typeface="Segoe UI"/>
                        </a:rPr>
                        <a:t>got worse, stopped itself</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Not one coverage run beat SFT. The 9 came from 6 records, not 240.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question</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Can a 0.8B model HOLD novel domain knowledge in its weights?</a:t>
            </a:r>
          </a:p>
          <a:p>
            <a:pPr>
              <a:spcAft>
                <a:spcPts val="900"/>
              </a:spcAft>
            </a:pPr>
            <a:r>
              <a:rPr sz="1800" b="1">
                <a:solidFill>
                  <a:srgbClr val="E8ECF1"/>
                </a:solidFill>
                <a:latin typeface="Segoe UI"/>
              </a:rPr>
              <a:t>Scoped to SELF-SUFFICIENT questions — everything needed to answer is in</a:t>
            </a:r>
          </a:p>
          <a:p>
            <a:pPr>
              <a:spcAft>
                <a:spcPts val="400"/>
              </a:spcAft>
            </a:pPr>
            <a:r>
              <a:rPr sz="1500" b="0">
                <a:solidFill>
                  <a:srgbClr val="9AA6B4"/>
                </a:solidFill>
                <a:latin typeface="Segoe UI"/>
              </a:rPr>
              <a:t>     the question. So the answer is in the weights, or it is not.</a:t>
            </a:r>
          </a:p>
          <a:p>
            <a:pPr>
              <a:spcAft>
                <a:spcPts val="900"/>
              </a:spcAft>
            </a:pPr>
            <a:r>
              <a:rPr sz="1800" b="1">
                <a:solidFill>
                  <a:srgbClr val="E8ECF1"/>
                </a:solidFill>
                <a:latin typeface="Segoe UI"/>
              </a:rPr>
              <a:t>Domain: decision trees and ensembles.</a:t>
            </a:r>
          </a:p>
          <a:p>
            <a:pPr>
              <a:spcAft>
                <a:spcPts val="400"/>
              </a:spcAft>
            </a:pPr>
            <a:r>
              <a:rPr sz="1500" b="0">
                <a:solidFill>
                  <a:srgbClr val="9AA6B4"/>
                </a:solidFill>
                <a:latin typeface="Segoe UI"/>
              </a:rPr>
              <a:t>     240 questions · 16 frozen as the eval, never trained on</a:t>
            </a:r>
          </a:p>
          <a:p>
            <a:pPr>
              <a:spcAft>
                <a:spcPts val="900"/>
              </a:spcAft>
            </a:pPr>
            <a:r>
              <a:rPr sz="1800" b="1">
                <a:solidFill>
                  <a:srgbClr val="5BC8F5"/>
                </a:solidFill>
                <a:latin typeface="Segoe UI"/>
              </a:rPr>
              <a:t>Formulated as the course taught: at episode level a CONTEXTUAL BANDIT —</a:t>
            </a:r>
          </a:p>
          <a:p>
            <a:pPr>
              <a:spcAft>
                <a:spcPts val="400"/>
              </a:spcAft>
            </a:pPr>
            <a:r>
              <a:rPr sz="1500" b="0">
                <a:solidFill>
                  <a:srgbClr val="9AA6B4"/>
                </a:solidFill>
                <a:latin typeface="Segoe UI"/>
              </a:rPr>
              <a:t>     one answer, one terminal payout from the judge (the environment).</a:t>
            </a:r>
          </a:p>
          <a:p>
            <a:pPr>
              <a:spcAft>
                <a:spcPts val="400"/>
              </a:spcAft>
            </a:pPr>
            <a:r>
              <a:rPr sz="1500" b="0">
                <a:solidFill>
                  <a:srgbClr val="9AA6B4"/>
                </a:solidFill>
                <a:latin typeface="Segoe UI"/>
              </a:rPr>
              <a:t>     At token level an MDP: each next token a state→state decision.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trap, and the instrument built to avoid it</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A model that learns to SOUND right scores the same as one that IS right.</a:t>
            </a:r>
          </a:p>
          <a:p>
            <a:pPr>
              <a:spcAft>
                <a:spcPts val="900"/>
              </a:spcAft>
            </a:pPr>
            <a:r>
              <a:rPr sz="1800" b="1">
                <a:solidFill>
                  <a:srgbClr val="E8ECF1"/>
                </a:solidFill>
                <a:latin typeface="Segoe UI"/>
              </a:rPr>
              <a:t>So the instrument is fixed BEFORE any run:</a:t>
            </a:r>
          </a:p>
          <a:p>
            <a:pPr>
              <a:spcAft>
                <a:spcPts val="400"/>
              </a:spcAft>
            </a:pPr>
            <a:r>
              <a:rPr sz="1500" b="0">
                <a:solidFill>
                  <a:srgbClr val="9AA6B4"/>
                </a:solidFill>
                <a:latin typeface="Segoe UI"/>
              </a:rPr>
              <a:t>     A 4B judge applies a written rubric, verifier-style, per category.</a:t>
            </a:r>
          </a:p>
          <a:p>
            <a:pPr>
              <a:spcAft>
                <a:spcPts val="400"/>
              </a:spcAft>
            </a:pPr>
            <a:r>
              <a:rPr sz="1500" b="0">
                <a:solidFill>
                  <a:srgbClr val="9AA6B4"/>
                </a:solidFill>
                <a:latin typeface="Segoe UI"/>
              </a:rPr>
              <a:t>     One call per answer. Correct means 0.70 or above.</a:t>
            </a:r>
          </a:p>
          <a:p>
            <a:pPr>
              <a:spcAft>
                <a:spcPts val="900"/>
              </a:spcAft>
            </a:pPr>
            <a:r>
              <a:rPr sz="1800" b="1">
                <a:solidFill>
                  <a:srgbClr val="F27A7A"/>
                </a:solidFill>
                <a:latin typeface="Segoe UI"/>
              </a:rPr>
              <a:t>A smaller 2B judge was REJECTED — it accepted 3 of 12 fluent-but-wrong</a:t>
            </a:r>
          </a:p>
          <a:p>
            <a:pPr>
              <a:spcAft>
                <a:spcPts val="400"/>
              </a:spcAft>
            </a:pPr>
            <a:r>
              <a:rPr sz="1500" b="0">
                <a:solidFill>
                  <a:srgbClr val="9AA6B4"/>
                </a:solidFill>
                <a:latin typeface="Segoe UI"/>
              </a:rPr>
              <a:t>     decoys, and RL would have optimised straight into that hole.</a:t>
            </a:r>
          </a:p>
          <a:p>
            <a:pPr>
              <a:spcAft>
                <a:spcPts val="900"/>
              </a:spcAft>
            </a:pPr>
            <a:r>
              <a:rPr sz="1800" b="1">
                <a:solidFill>
                  <a:srgbClr val="F5C56B"/>
                </a:solidFill>
                <a:latin typeface="Segoe UI"/>
              </a:rPr>
              <a:t>0.0526 is the MEASURED resolution floor. Anything smaller is not a result.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How the data was made</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16 skills on decision trees / ensembles → 79 chunks → 748 questions,</a:t>
            </a:r>
          </a:p>
          <a:p>
            <a:pPr>
              <a:spcAft>
                <a:spcPts val="400"/>
              </a:spcAft>
            </a:pPr>
            <a:r>
              <a:rPr sz="1500" b="0">
                <a:solidFill>
                  <a:srgbClr val="9AA6B4"/>
                </a:solidFill>
                <a:latin typeface="Segoe UI"/>
              </a:rPr>
              <a:t>     each answerable FROM ITS CHUNK ALONE.</a:t>
            </a:r>
          </a:p>
          <a:p>
            <a:pPr>
              <a:spcAft>
                <a:spcPts val="400"/>
              </a:spcAft>
            </a:pPr>
            <a:r>
              <a:rPr sz="1500" b="0">
                <a:solidFill>
                  <a:srgbClr val="9AA6B4"/>
                </a:solidFill>
                <a:latin typeface="Segoe UI"/>
              </a:rPr>
              <a:t>     Math 230 · Code 179 · Instruction 172 · STEM 167</a:t>
            </a:r>
          </a:p>
          <a:p>
            <a:pPr>
              <a:spcAft>
                <a:spcPts val="900"/>
              </a:spcAft>
            </a:pPr>
            <a:r>
              <a:rPr sz="1800" b="1">
                <a:solidFill>
                  <a:srgbClr val="E8ECF1"/>
                </a:solidFill>
                <a:latin typeface="Segoe UI"/>
              </a:rPr>
              <a:t>Four question CATEGORIES per chunk multiplies yield without paraphrasing —</a:t>
            </a:r>
          </a:p>
          <a:p>
            <a:pPr>
              <a:spcAft>
                <a:spcPts val="400"/>
              </a:spcAft>
            </a:pPr>
            <a:r>
              <a:rPr sz="1500" b="0">
                <a:solidFill>
                  <a:srgbClr val="9AA6B4"/>
                </a:solidFill>
                <a:latin typeface="Segoe UI"/>
              </a:rPr>
              <a:t>     that axis is what broke the old ~78-item ceiling.</a:t>
            </a:r>
          </a:p>
          <a:p>
            <a:pPr>
              <a:spcAft>
                <a:spcPts val="900"/>
              </a:spcAft>
            </a:pPr>
            <a:r>
              <a:rPr sz="1800" b="1">
                <a:solidFill>
                  <a:srgbClr val="5BC8F5"/>
                </a:solidFill>
                <a:latin typeface="Segoe UI"/>
              </a:rPr>
              <a:t>Every candidate then faces the correlation filter — next slide.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Correlation filtering — no two questions are the same question</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Every candidate is EMBEDDED, then compared against ALL previously</a:t>
            </a:r>
          </a:p>
          <a:p>
            <a:pPr>
              <a:spcAft>
                <a:spcPts val="400"/>
              </a:spcAft>
            </a:pPr>
            <a:r>
              <a:rPr sz="1500" b="0">
                <a:solidFill>
                  <a:srgbClr val="9AA6B4"/>
                </a:solidFill>
                <a:latin typeface="Segoe UI"/>
              </a:rPr>
              <a:t>     kept questions — not just its own chunk's.</a:t>
            </a:r>
          </a:p>
          <a:p>
            <a:pPr>
              <a:spcAft>
                <a:spcPts val="900"/>
              </a:spcAft>
            </a:pPr>
            <a:r>
              <a:rPr sz="1800" b="1">
                <a:solidFill>
                  <a:srgbClr val="5BC8F5"/>
                </a:solidFill>
                <a:latin typeface="Segoe UI"/>
              </a:rPr>
              <a:t>cosine ≥ 0.80 to ANY prior → REJECTED. No paraphrase sneaks in twice.</a:t>
            </a:r>
          </a:p>
          <a:p>
            <a:pPr>
              <a:spcAft>
                <a:spcPts val="400"/>
              </a:spcAft>
            </a:pPr>
            <a:r>
              <a:rPr sz="1500" b="0">
                <a:solidFill>
                  <a:srgbClr val="9AA6B4"/>
                </a:solidFill>
                <a:latin typeface="Segoe UI"/>
              </a:rPr>
              <a:t>     Kept set, measured: max 0.800 · mean 0.755 — the gate BINDS.</a:t>
            </a:r>
          </a:p>
          <a:p>
            <a:pPr>
              <a:spcAft>
                <a:spcPts val="900"/>
              </a:spcAft>
            </a:pPr>
            <a:r>
              <a:rPr sz="1800" b="1">
                <a:solidFill>
                  <a:srgbClr val="E8ECF1"/>
                </a:solidFill>
                <a:latin typeface="Segoe UI"/>
              </a:rPr>
              <a:t>Why it matters twice over:</a:t>
            </a:r>
          </a:p>
          <a:p>
            <a:pPr>
              <a:spcAft>
                <a:spcPts val="400"/>
              </a:spcAft>
            </a:pPr>
            <a:r>
              <a:rPr sz="1500" b="0">
                <a:solidFill>
                  <a:srgbClr val="9AA6B4"/>
                </a:solidFill>
                <a:latin typeface="Segoe UI"/>
              </a:rPr>
              <a:t>     a near-duplicate inside training upweights one fact and calls it two;</a:t>
            </a:r>
          </a:p>
          <a:p>
            <a:pPr>
              <a:spcAft>
                <a:spcPts val="400"/>
              </a:spcAft>
            </a:pPr>
            <a:r>
              <a:rPr sz="1500" b="0">
                <a:solidFill>
                  <a:srgbClr val="9AA6B4"/>
                </a:solidFill>
                <a:latin typeface="Segoe UI"/>
              </a:rPr>
              <a:t>     a near-duplicate of an EVAL question lets memorisation score as knowledge.</a:t>
            </a:r>
          </a:p>
          <a:p>
            <a:pPr>
              <a:spcAft>
                <a:spcPts val="900"/>
              </a:spcAft>
            </a:pPr>
            <a:r>
              <a:rPr sz="1800" b="1">
                <a:solidFill>
                  <a:srgbClr val="F5C56B"/>
                </a:solidFill>
                <a:latin typeface="Segoe UI"/>
              </a:rPr>
              <a:t>Never relaxed — when the pool starved, the fix was MORE SOURCE CHUNKS,</a:t>
            </a:r>
          </a:p>
          <a:p>
            <a:pPr>
              <a:spcAft>
                <a:spcPts val="400"/>
              </a:spcAft>
            </a:pPr>
            <a:r>
              <a:rPr sz="1500" b="0">
                <a:solidFill>
                  <a:srgbClr val="9AA6B4"/>
                </a:solidFill>
                <a:latin typeface="Segoe UI"/>
              </a:rPr>
              <a:t>     never a looser threshold.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Three models, three jobs</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9B — THE AUTHOR</a:t>
            </a:r>
          </a:p>
          <a:p>
            <a:pPr>
              <a:spcAft>
                <a:spcPts val="400"/>
              </a:spcAft>
            </a:pPr>
            <a:r>
              <a:rPr sz="1500" b="0">
                <a:solidFill>
                  <a:srgbClr val="9AA6B4"/>
                </a:solidFill>
                <a:latin typeface="Segoe UI"/>
              </a:rPr>
              <a:t>     Writes the questions, the gold answers, and the rubric itself.</a:t>
            </a:r>
          </a:p>
          <a:p>
            <a:pPr>
              <a:spcAft>
                <a:spcPts val="900"/>
              </a:spcAft>
            </a:pPr>
            <a:r>
              <a:rPr sz="1800" b="1">
                <a:solidFill>
                  <a:srgbClr val="5BC8F5"/>
                </a:solidFill>
                <a:latin typeface="Segoe UI"/>
              </a:rPr>
              <a:t>4B — THE JUDGE</a:t>
            </a:r>
          </a:p>
          <a:p>
            <a:pPr>
              <a:spcAft>
                <a:spcPts val="400"/>
              </a:spcAft>
            </a:pPr>
            <a:r>
              <a:rPr sz="1500" b="0">
                <a:solidFill>
                  <a:srgbClr val="9AA6B4"/>
                </a:solidFill>
                <a:latin typeface="Segoe UI"/>
              </a:rPr>
              <a:t>     Reads the 9B's rubric and APPLIES it, one answer at a time.</a:t>
            </a:r>
          </a:p>
          <a:p>
            <a:pPr>
              <a:spcAft>
                <a:spcPts val="400"/>
              </a:spcAft>
            </a:pPr>
            <a:r>
              <a:rPr sz="1500" b="0">
                <a:solidFill>
                  <a:srgbClr val="9AA6B4"/>
                </a:solidFill>
                <a:latin typeface="Segoe UI"/>
              </a:rPr>
              <a:t>     It does not decide what is correct; it interprets a standard written above it.</a:t>
            </a:r>
          </a:p>
          <a:p>
            <a:pPr>
              <a:spcAft>
                <a:spcPts val="900"/>
              </a:spcAft>
            </a:pPr>
            <a:r>
              <a:rPr sz="1800" b="1">
                <a:solidFill>
                  <a:srgbClr val="5BC8F5"/>
                </a:solidFill>
                <a:latin typeface="Segoe UI"/>
              </a:rPr>
              <a:t>0.8B — THE STUDENT</a:t>
            </a:r>
          </a:p>
          <a:p>
            <a:pPr>
              <a:spcAft>
                <a:spcPts val="400"/>
              </a:spcAft>
            </a:pPr>
            <a:r>
              <a:rPr sz="1500" b="0">
                <a:solidFill>
                  <a:srgbClr val="9AA6B4"/>
                </a:solidFill>
                <a:latin typeface="Segoe UI"/>
              </a:rPr>
              <a:t>     Never sees the rubric. Sees questions, and the reward that comes back.</a:t>
            </a:r>
          </a:p>
          <a:p>
            <a:pPr>
              <a:spcAft>
                <a:spcPts val="900"/>
              </a:spcAft>
            </a:pPr>
            <a:r>
              <a:rPr sz="1800" b="1">
                <a:solidFill>
                  <a:srgbClr val="F5C56B"/>
                </a:solidFill>
                <a:latin typeface="Segoe UI"/>
              </a:rPr>
              <a:t>The 9B never scores: the model that wrote the gold marking its own standard</a:t>
            </a:r>
          </a:p>
          <a:p>
            <a:pPr>
              <a:spcAft>
                <a:spcPts val="400"/>
              </a:spcAft>
            </a:pPr>
            <a:r>
              <a:rPr sz="1500" b="0">
                <a:solidFill>
                  <a:srgbClr val="9AA6B4"/>
                </a:solidFill>
                <a:latin typeface="Segoe UI"/>
              </a:rPr>
              <a:t>     is self-agreement, not measurement.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verdicts, on one instrument</a:t>
            </a:r>
          </a:p>
        </p:txBody>
      </p:sp>
      <p:graphicFrame>
        <p:nvGraphicFramePr>
          <p:cNvPr id="4" name="Table 3"/>
          <p:cNvGraphicFramePr>
            <a:graphicFrameLocks noGrp="1"/>
          </p:cNvGraphicFramePr>
          <p:nvPr/>
        </p:nvGraphicFramePr>
        <p:xfrm>
          <a:off x="868680" y="1463040"/>
          <a:ext cx="10424160" cy="1691640"/>
        </p:xfrm>
        <a:graphic>
          <a:graphicData uri="http://schemas.openxmlformats.org/drawingml/2006/table">
            <a:tbl>
              <a:tblPr>
                <a:tableStyleId>{5C22544A-7EE6-4342-B048-85BDC9FD1C3A}</a:tableStyleId>
              </a:tblPr>
              <a:tblGrid>
                <a:gridCol w="3474720"/>
                <a:gridCol w="3474720"/>
                <a:gridCol w="3474720"/>
              </a:tblGrid>
              <a:tr h="422910">
                <a:tc>
                  <a:txBody>
                    <a:bodyPr/>
                    <a:lstStyle/>
                    <a:p>
                      <a:pPr>
                        <a:spcAft>
                          <a:spcPts val="0"/>
                        </a:spcAft>
                      </a:pPr>
                      <a:r>
                        <a:rPr sz="1300" b="1">
                          <a:solidFill>
                            <a:srgbClr val="12161C"/>
                          </a:solidFill>
                          <a:latin typeface="Segoe UI"/>
                        </a:rPr>
                        <a:t>stage</a:t>
                      </a:r>
                    </a:p>
                  </a:txBody>
                  <a:tcPr>
                    <a:solidFill>
                      <a:srgbClr val="5BC8F5"/>
                    </a:solidFill>
                  </a:tcPr>
                </a:tc>
                <a:tc>
                  <a:txBody>
                    <a:bodyPr/>
                    <a:lstStyle/>
                    <a:p>
                      <a:pPr>
                        <a:spcAft>
                          <a:spcPts val="0"/>
                        </a:spcAft>
                      </a:pPr>
                      <a:r>
                        <a:rPr sz="1300" b="1">
                          <a:solidFill>
                            <a:srgbClr val="12161C"/>
                          </a:solidFill>
                          <a:latin typeface="Segoe UI"/>
                        </a:rPr>
                        <a:t>what it does</a:t>
                      </a:r>
                    </a:p>
                  </a:txBody>
                  <a:tcPr>
                    <a:solidFill>
                      <a:srgbClr val="5BC8F5"/>
                    </a:solidFill>
                  </a:tcPr>
                </a:tc>
                <a:tc>
                  <a:txBody>
                    <a:bodyPr/>
                    <a:lstStyle/>
                    <a:p>
                      <a:pPr>
                        <a:spcAft>
                          <a:spcPts val="0"/>
                        </a:spcAft>
                      </a:pPr>
                      <a:r>
                        <a:rPr sz="1300" b="1">
                          <a:solidFill>
                            <a:srgbClr val="12161C"/>
                          </a:solidFill>
                          <a:latin typeface="Segoe UI"/>
                        </a:rPr>
                        <a:t>verdict</a:t>
                      </a:r>
                    </a:p>
                  </a:txBody>
                  <a:tcPr>
                    <a:solidFill>
                      <a:srgbClr val="5BC8F5"/>
                    </a:solidFill>
                  </a:tcPr>
                </a:tc>
              </a:tr>
              <a:tr h="422910">
                <a:tc>
                  <a:txBody>
                    <a:bodyPr/>
                    <a:lstStyle/>
                    <a:p>
                      <a:pPr>
                        <a:spcAft>
                          <a:spcPts val="0"/>
                        </a:spcAft>
                      </a:pPr>
                      <a:r>
                        <a:rPr sz="1200">
                          <a:solidFill>
                            <a:srgbClr val="F27A7A"/>
                          </a:solidFill>
                          <a:latin typeface="Segoe UI"/>
                        </a:rPr>
                        <a:t>CPT — next-token on domain text</a:t>
                      </a:r>
                    </a:p>
                  </a:txBody>
                  <a:tcPr>
                    <a:solidFill>
                      <a:srgbClr val="1A1F27"/>
                    </a:solidFill>
                  </a:tcPr>
                </a:tc>
                <a:tc>
                  <a:txBody>
                    <a:bodyPr/>
                    <a:lstStyle/>
                    <a:p>
                      <a:pPr>
                        <a:spcAft>
                          <a:spcPts val="0"/>
                        </a:spcAft>
                      </a:pPr>
                      <a:r>
                        <a:rPr sz="1200">
                          <a:solidFill>
                            <a:srgbClr val="F27A7A"/>
                          </a:solidFill>
                          <a:latin typeface="Segoe UI"/>
                        </a:rPr>
                        <a:t>read the material</a:t>
                      </a:r>
                    </a:p>
                  </a:txBody>
                  <a:tcPr>
                    <a:solidFill>
                      <a:srgbClr val="1A1F27"/>
                    </a:solidFill>
                  </a:tcPr>
                </a:tc>
                <a:tc>
                  <a:txBody>
                    <a:bodyPr/>
                    <a:lstStyle/>
                    <a:p>
                      <a:pPr>
                        <a:spcAft>
                          <a:spcPts val="0"/>
                        </a:spcAft>
                      </a:pPr>
                      <a:r>
                        <a:rPr sz="1200">
                          <a:solidFill>
                            <a:srgbClr val="F27A7A"/>
                          </a:solidFill>
                          <a:latin typeface="Segoe UI"/>
                        </a:rPr>
                        <a:t>NO LIFT</a:t>
                      </a:r>
                    </a:p>
                  </a:txBody>
                  <a:tcPr>
                    <a:solidFill>
                      <a:srgbClr val="1A1F27"/>
                    </a:solidFill>
                  </a:tcPr>
                </a:tc>
              </a:tr>
              <a:tr h="422910">
                <a:tc>
                  <a:txBody>
                    <a:bodyPr/>
                    <a:lstStyle/>
                    <a:p>
                      <a:pPr>
                        <a:spcAft>
                          <a:spcPts val="0"/>
                        </a:spcAft>
                      </a:pPr>
                      <a:r>
                        <a:rPr sz="1200">
                          <a:solidFill>
                            <a:srgbClr val="6ED38A"/>
                          </a:solidFill>
                          <a:latin typeface="Segoe UI"/>
                        </a:rPr>
                        <a:t>SFT — full-param, completion-only</a:t>
                      </a:r>
                    </a:p>
                  </a:txBody>
                  <a:tcPr>
                    <a:solidFill>
                      <a:srgbClr val="212731"/>
                    </a:solidFill>
                  </a:tcPr>
                </a:tc>
                <a:tc>
                  <a:txBody>
                    <a:bodyPr/>
                    <a:lstStyle/>
                    <a:p>
                      <a:pPr>
                        <a:spcAft>
                          <a:spcPts val="0"/>
                        </a:spcAft>
                      </a:pPr>
                      <a:r>
                        <a:rPr sz="1200">
                          <a:solidFill>
                            <a:srgbClr val="6ED38A"/>
                          </a:solidFill>
                          <a:latin typeface="Segoe UI"/>
                        </a:rPr>
                        <a:t>inject the knowledge</a:t>
                      </a:r>
                    </a:p>
                  </a:txBody>
                  <a:tcPr>
                    <a:solidFill>
                      <a:srgbClr val="212731"/>
                    </a:solidFill>
                  </a:tcPr>
                </a:tc>
                <a:tc>
                  <a:txBody>
                    <a:bodyPr/>
                    <a:lstStyle/>
                    <a:p>
                      <a:pPr>
                        <a:spcAft>
                          <a:spcPts val="0"/>
                        </a:spcAft>
                      </a:pPr>
                      <a:r>
                        <a:rPr sz="1200">
                          <a:solidFill>
                            <a:srgbClr val="6ED38A"/>
                          </a:solidFill>
                          <a:latin typeface="Segoe UI"/>
                        </a:rPr>
                        <a:t>WORKS</a:t>
                      </a:r>
                    </a:p>
                  </a:txBody>
                  <a:tcPr>
                    <a:solidFill>
                      <a:srgbClr val="212731"/>
                    </a:solidFill>
                  </a:tcPr>
                </a:tc>
              </a:tr>
              <a:tr h="422910">
                <a:tc>
                  <a:txBody>
                    <a:bodyPr/>
                    <a:lstStyle/>
                    <a:p>
                      <a:pPr>
                        <a:spcAft>
                          <a:spcPts val="0"/>
                        </a:spcAft>
                      </a:pPr>
                      <a:r>
                        <a:rPr sz="1200">
                          <a:solidFill>
                            <a:srgbClr val="6ED38A"/>
                          </a:solidFill>
                          <a:latin typeface="Segoe UI"/>
                        </a:rPr>
                        <a:t>RL — fresh LoRA, modified MGPO</a:t>
                      </a:r>
                    </a:p>
                  </a:txBody>
                  <a:tcPr>
                    <a:solidFill>
                      <a:srgbClr val="1A1F27"/>
                    </a:solidFill>
                  </a:tcPr>
                </a:tc>
                <a:tc>
                  <a:txBody>
                    <a:bodyPr/>
                    <a:lstStyle/>
                    <a:p>
                      <a:pPr>
                        <a:spcAft>
                          <a:spcPts val="0"/>
                        </a:spcAft>
                      </a:pPr>
                      <a:r>
                        <a:rPr sz="1200">
                          <a:solidFill>
                            <a:srgbClr val="6ED38A"/>
                          </a:solidFill>
                          <a:latin typeface="Segoe UI"/>
                        </a:rPr>
                        <a:t>get more answers RIGHT</a:t>
                      </a:r>
                    </a:p>
                  </a:txBody>
                  <a:tcPr>
                    <a:solidFill>
                      <a:srgbClr val="1A1F27"/>
                    </a:solidFill>
                  </a:tcPr>
                </a:tc>
                <a:tc>
                  <a:txBody>
                    <a:bodyPr/>
                    <a:lstStyle/>
                    <a:p>
                      <a:pPr>
                        <a:spcAft>
                          <a:spcPts val="0"/>
                        </a:spcAft>
                      </a:pPr>
                      <a:r>
                        <a:rPr sz="1200">
                          <a:solidFill>
                            <a:srgbClr val="6ED38A"/>
                          </a:solidFill>
                          <a:latin typeface="Segoe UI"/>
                        </a:rPr>
                        <a:t>WORKS</a:t>
                      </a:r>
                    </a:p>
                  </a:txBody>
                  <a:tcPr>
                    <a:solidFill>
                      <a:srgbClr val="1A1F27"/>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Every number in this talk is binary correctness at 0.70 on the same frozen 16 questions.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SFT epoch by epoch</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2606040"/>
                <a:gridCol w="2606040"/>
                <a:gridCol w="2606040"/>
                <a:gridCol w="2606040"/>
              </a:tblGrid>
              <a:tr h="411480">
                <a:tc>
                  <a:txBody>
                    <a:bodyPr/>
                    <a:lstStyle/>
                    <a:p>
                      <a:pPr>
                        <a:spcAft>
                          <a:spcPts val="0"/>
                        </a:spcAft>
                      </a:pPr>
                      <a:r>
                        <a:rPr sz="1300" b="1">
                          <a:solidFill>
                            <a:srgbClr val="12161C"/>
                          </a:solidFill>
                          <a:latin typeface="Segoe UI"/>
                        </a:rPr>
                        <a:t>checkpoint</a:t>
                      </a:r>
                    </a:p>
                  </a:txBody>
                  <a:tcPr>
                    <a:solidFill>
                      <a:srgbClr val="5BC8F5"/>
                    </a:solidFill>
                  </a:tcPr>
                </a:tc>
                <a:tc>
                  <a:txBody>
                    <a:bodyPr/>
                    <a:lstStyle/>
                    <a:p>
                      <a:pPr>
                        <a:spcAft>
                          <a:spcPts val="0"/>
                        </a:spcAft>
                      </a:pPr>
                      <a:r>
                        <a:rPr sz="1300" b="1">
                          <a:solidFill>
                            <a:srgbClr val="12161C"/>
                          </a:solidFill>
                          <a:latin typeface="Segoe UI"/>
                        </a:rPr>
                        <a:t>correct</a:t>
                      </a:r>
                    </a:p>
                  </a:txBody>
                  <a:tcPr>
                    <a:solidFill>
                      <a:srgbClr val="5BC8F5"/>
                    </a:solidFill>
                  </a:tcPr>
                </a:tc>
                <a:tc>
                  <a:txBody>
                    <a:bodyPr/>
                    <a:lstStyle/>
                    <a:p>
                      <a:pPr>
                        <a:spcAft>
                          <a:spcPts val="0"/>
                        </a:spcAft>
                      </a:pPr>
                      <a:r>
                        <a:rPr sz="1300" b="1">
                          <a:solidFill>
                            <a:srgbClr val="12161C"/>
                          </a:solidFill>
                          <a:latin typeface="Segoe UI"/>
                        </a:rPr>
                        <a:t>rate</a:t>
                      </a:r>
                    </a:p>
                  </a:txBody>
                  <a:tcPr>
                    <a:solidFill>
                      <a:srgbClr val="5BC8F5"/>
                    </a:solidFill>
                  </a:tcPr>
                </a:tc>
                <a:tc>
                  <a:txBody>
                    <a:bodyPr/>
                    <a:lstStyle/>
                    <a:p>
                      <a:pPr>
                        <a:spcAft>
                          <a:spcPts val="0"/>
                        </a:spcAft>
                      </a:pPr>
                      <a:r>
                        <a:rPr sz="1300" b="1">
                          <a:solidFill>
                            <a:srgbClr val="12161C"/>
                          </a:solidFill>
                          <a:latin typeface="Segoe UI"/>
                        </a:rPr>
                        <a:t>never-solved</a:t>
                      </a:r>
                    </a:p>
                  </a:txBody>
                  <a:tcPr>
                    <a:solidFill>
                      <a:srgbClr val="5BC8F5"/>
                    </a:solidFill>
                  </a:tcPr>
                </a:tc>
              </a:tr>
              <a:tr h="411480">
                <a:tc>
                  <a:txBody>
                    <a:bodyPr/>
                    <a:lstStyle/>
                    <a:p>
                      <a:pPr>
                        <a:spcAft>
                          <a:spcPts val="0"/>
                        </a:spcAft>
                      </a:pPr>
                      <a:r>
                        <a:rPr sz="1200">
                          <a:solidFill>
                            <a:srgbClr val="9AA6B4"/>
                          </a:solidFill>
                          <a:latin typeface="Segoe UI"/>
                        </a:rPr>
                        <a:t>base (no training)</a:t>
                      </a:r>
                    </a:p>
                  </a:txBody>
                  <a:tcPr>
                    <a:solidFill>
                      <a:srgbClr val="1A1F27"/>
                    </a:solidFill>
                  </a:tcPr>
                </a:tc>
                <a:tc>
                  <a:txBody>
                    <a:bodyPr/>
                    <a:lstStyle/>
                    <a:p>
                      <a:pPr>
                        <a:spcAft>
                          <a:spcPts val="0"/>
                        </a:spcAft>
                      </a:pPr>
                      <a:r>
                        <a:rPr sz="1200">
                          <a:solidFill>
                            <a:srgbClr val="9AA6B4"/>
                          </a:solidFill>
                          <a:latin typeface="Segoe UI"/>
                        </a:rPr>
                        <a:t>16 / 59</a:t>
                      </a:r>
                    </a:p>
                  </a:txBody>
                  <a:tcPr>
                    <a:solidFill>
                      <a:srgbClr val="1A1F27"/>
                    </a:solidFill>
                  </a:tcPr>
                </a:tc>
                <a:tc>
                  <a:txBody>
                    <a:bodyPr/>
                    <a:lstStyle/>
                    <a:p>
                      <a:pPr>
                        <a:spcAft>
                          <a:spcPts val="0"/>
                        </a:spcAft>
                      </a:pPr>
                      <a:r>
                        <a:rPr sz="1200">
                          <a:solidFill>
                            <a:srgbClr val="9AA6B4"/>
                          </a:solidFill>
                          <a:latin typeface="Segoe UI"/>
                        </a:rPr>
                        <a:t>0.271</a:t>
                      </a:r>
                    </a:p>
                  </a:txBody>
                  <a:tcPr>
                    <a:solidFill>
                      <a:srgbClr val="1A1F27"/>
                    </a:solidFill>
                  </a:tcPr>
                </a:tc>
                <a:tc>
                  <a:txBody>
                    <a:bodyPr/>
                    <a:lstStyle/>
                    <a:p>
                      <a:pPr>
                        <a:spcAft>
                          <a:spcPts val="0"/>
                        </a:spcAft>
                      </a:pPr>
                      <a:r>
                        <a:rPr sz="1200">
                          <a:solidFill>
                            <a:srgbClr val="9AA6B4"/>
                          </a:solidFill>
                          <a:latin typeface="Segoe UI"/>
                        </a:rPr>
                        <a:t>8 of 16</a:t>
                      </a:r>
                    </a:p>
                  </a:txBody>
                  <a:tcPr>
                    <a:solidFill>
                      <a:srgbClr val="1A1F27"/>
                    </a:solidFill>
                  </a:tcPr>
                </a:tc>
              </a:tr>
              <a:tr h="411480">
                <a:tc>
                  <a:txBody>
                    <a:bodyPr/>
                    <a:lstStyle/>
                    <a:p>
                      <a:pPr>
                        <a:spcAft>
                          <a:spcPts val="0"/>
                        </a:spcAft>
                      </a:pPr>
                      <a:r>
                        <a:rPr sz="1200">
                          <a:solidFill>
                            <a:srgbClr val="F27A7A"/>
                          </a:solidFill>
                          <a:latin typeface="Segoe UI"/>
                        </a:rPr>
                        <a:t>after epoch 1</a:t>
                      </a:r>
                    </a:p>
                  </a:txBody>
                  <a:tcPr>
                    <a:solidFill>
                      <a:srgbClr val="212731"/>
                    </a:solidFill>
                  </a:tcPr>
                </a:tc>
                <a:tc>
                  <a:txBody>
                    <a:bodyPr/>
                    <a:lstStyle/>
                    <a:p>
                      <a:pPr>
                        <a:spcAft>
                          <a:spcPts val="0"/>
                        </a:spcAft>
                      </a:pPr>
                      <a:r>
                        <a:rPr sz="1200">
                          <a:solidFill>
                            <a:srgbClr val="F27A7A"/>
                          </a:solidFill>
                          <a:latin typeface="Segoe UI"/>
                        </a:rPr>
                        <a:t>10 / 58</a:t>
                      </a:r>
                    </a:p>
                  </a:txBody>
                  <a:tcPr>
                    <a:solidFill>
                      <a:srgbClr val="212731"/>
                    </a:solidFill>
                  </a:tcPr>
                </a:tc>
                <a:tc>
                  <a:txBody>
                    <a:bodyPr/>
                    <a:lstStyle/>
                    <a:p>
                      <a:pPr>
                        <a:spcAft>
                          <a:spcPts val="0"/>
                        </a:spcAft>
                      </a:pPr>
                      <a:r>
                        <a:rPr sz="1200">
                          <a:solidFill>
                            <a:srgbClr val="F27A7A"/>
                          </a:solidFill>
                          <a:latin typeface="Segoe UI"/>
                        </a:rPr>
                        <a:t>0.172</a:t>
                      </a:r>
                    </a:p>
                  </a:txBody>
                  <a:tcPr>
                    <a:solidFill>
                      <a:srgbClr val="212731"/>
                    </a:solidFill>
                  </a:tcPr>
                </a:tc>
                <a:tc>
                  <a:txBody>
                    <a:bodyPr/>
                    <a:lstStyle/>
                    <a:p>
                      <a:pPr>
                        <a:spcAft>
                          <a:spcPts val="0"/>
                        </a:spcAft>
                      </a:pPr>
                      <a:r>
                        <a:rPr sz="1200">
                          <a:solidFill>
                            <a:srgbClr val="F27A7A"/>
                          </a:solidFill>
                          <a:latin typeface="Segoe UI"/>
                        </a:rPr>
                        <a:t>10 of 16</a:t>
                      </a:r>
                    </a:p>
                  </a:txBody>
                  <a:tcPr>
                    <a:solidFill>
                      <a:srgbClr val="212731"/>
                    </a:solidFill>
                  </a:tcPr>
                </a:tc>
              </a:tr>
              <a:tr h="411480">
                <a:tc>
                  <a:txBody>
                    <a:bodyPr/>
                    <a:lstStyle/>
                    <a:p>
                      <a:pPr>
                        <a:spcAft>
                          <a:spcPts val="0"/>
                        </a:spcAft>
                      </a:pPr>
                      <a:r>
                        <a:rPr sz="1200">
                          <a:solidFill>
                            <a:srgbClr val="E8ECF1"/>
                          </a:solidFill>
                          <a:latin typeface="Segoe UI"/>
                        </a:rPr>
                        <a:t>after epoch 2</a:t>
                      </a:r>
                    </a:p>
                  </a:txBody>
                  <a:tcPr>
                    <a:solidFill>
                      <a:srgbClr val="1A1F27"/>
                    </a:solidFill>
                  </a:tcPr>
                </a:tc>
                <a:tc>
                  <a:txBody>
                    <a:bodyPr/>
                    <a:lstStyle/>
                    <a:p>
                      <a:pPr>
                        <a:spcAft>
                          <a:spcPts val="0"/>
                        </a:spcAft>
                      </a:pPr>
                      <a:r>
                        <a:rPr sz="1200">
                          <a:solidFill>
                            <a:srgbClr val="E8ECF1"/>
                          </a:solidFill>
                          <a:latin typeface="Segoe UI"/>
                        </a:rPr>
                        <a:t>21 / 59</a:t>
                      </a:r>
                    </a:p>
                  </a:txBody>
                  <a:tcPr>
                    <a:solidFill>
                      <a:srgbClr val="1A1F27"/>
                    </a:solidFill>
                  </a:tcPr>
                </a:tc>
                <a:tc>
                  <a:txBody>
                    <a:bodyPr/>
                    <a:lstStyle/>
                    <a:p>
                      <a:pPr>
                        <a:spcAft>
                          <a:spcPts val="0"/>
                        </a:spcAft>
                      </a:pPr>
                      <a:r>
                        <a:rPr sz="1200">
                          <a:solidFill>
                            <a:srgbClr val="E8ECF1"/>
                          </a:solidFill>
                          <a:latin typeface="Segoe UI"/>
                        </a:rPr>
                        <a:t>0.356</a:t>
                      </a:r>
                    </a:p>
                  </a:txBody>
                  <a:tcPr>
                    <a:solidFill>
                      <a:srgbClr val="1A1F27"/>
                    </a:solidFill>
                  </a:tcPr>
                </a:tc>
                <a:tc>
                  <a:txBody>
                    <a:bodyPr/>
                    <a:lstStyle/>
                    <a:p>
                      <a:pPr>
                        <a:spcAft>
                          <a:spcPts val="0"/>
                        </a:spcAft>
                      </a:pPr>
                      <a:r>
                        <a:rPr sz="1200">
                          <a:solidFill>
                            <a:srgbClr val="E8ECF1"/>
                          </a:solidFill>
                          <a:latin typeface="Segoe UI"/>
                        </a:rPr>
                        <a:t>7 of 16</a:t>
                      </a:r>
                    </a:p>
                  </a:txBody>
                  <a:tcPr>
                    <a:solidFill>
                      <a:srgbClr val="1A1F27"/>
                    </a:solidFill>
                  </a:tcPr>
                </a:tc>
              </a:tr>
              <a:tr h="411480">
                <a:tc>
                  <a:txBody>
                    <a:bodyPr/>
                    <a:lstStyle/>
                    <a:p>
                      <a:pPr>
                        <a:spcAft>
                          <a:spcPts val="0"/>
                        </a:spcAft>
                      </a:pPr>
                      <a:r>
                        <a:rPr sz="1200">
                          <a:solidFill>
                            <a:srgbClr val="6ED38A"/>
                          </a:solidFill>
                          <a:latin typeface="Segoe UI"/>
                        </a:rPr>
                        <a:t>after epoch 3</a:t>
                      </a:r>
                    </a:p>
                  </a:txBody>
                  <a:tcPr>
                    <a:solidFill>
                      <a:srgbClr val="212731"/>
                    </a:solidFill>
                  </a:tcPr>
                </a:tc>
                <a:tc>
                  <a:txBody>
                    <a:bodyPr/>
                    <a:lstStyle/>
                    <a:p>
                      <a:pPr>
                        <a:spcAft>
                          <a:spcPts val="0"/>
                        </a:spcAft>
                      </a:pPr>
                      <a:r>
                        <a:rPr sz="1200">
                          <a:solidFill>
                            <a:srgbClr val="6ED38A"/>
                          </a:solidFill>
                          <a:latin typeface="Segoe UI"/>
                        </a:rPr>
                        <a:t>25 / 59</a:t>
                      </a:r>
                    </a:p>
                  </a:txBody>
                  <a:tcPr>
                    <a:solidFill>
                      <a:srgbClr val="212731"/>
                    </a:solidFill>
                  </a:tcPr>
                </a:tc>
                <a:tc>
                  <a:txBody>
                    <a:bodyPr/>
                    <a:lstStyle/>
                    <a:p>
                      <a:pPr>
                        <a:spcAft>
                          <a:spcPts val="0"/>
                        </a:spcAft>
                      </a:pPr>
                      <a:r>
                        <a:rPr sz="1200">
                          <a:solidFill>
                            <a:srgbClr val="6ED38A"/>
                          </a:solidFill>
                          <a:latin typeface="Segoe UI"/>
                        </a:rPr>
                        <a:t>0.424</a:t>
                      </a:r>
                    </a:p>
                  </a:txBody>
                  <a:tcPr>
                    <a:solidFill>
                      <a:srgbClr val="212731"/>
                    </a:solidFill>
                  </a:tcPr>
                </a:tc>
                <a:tc>
                  <a:txBody>
                    <a:bodyPr/>
                    <a:lstStyle/>
                    <a:p>
                      <a:pPr>
                        <a:spcAft>
                          <a:spcPts val="0"/>
                        </a:spcAft>
                      </a:pPr>
                      <a:r>
                        <a:rPr sz="1200">
                          <a:solidFill>
                            <a:srgbClr val="6ED38A"/>
                          </a:solidFill>
                          <a:latin typeface="Segoe UI"/>
                        </a:rPr>
                        <a:t>5 of 16</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+9 correct answers over base. Never-solved down from 8 to 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epoch-1 dip is NOT forgetting</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It looks like the model got worse. It did not.</a:t>
            </a:r>
          </a:p>
          <a:p>
            <a:pPr>
              <a:spcAft>
                <a:spcPts val="900"/>
              </a:spcAft>
            </a:pPr>
            <a:r>
              <a:rPr sz="1800" b="1">
                <a:solidFill>
                  <a:srgbClr val="F27A7A"/>
                </a:solidFill>
                <a:latin typeface="Segoe UI"/>
              </a:rPr>
              <a:t>That checkpoint returns an EMPTY STRING on 11 of 16 questions.</a:t>
            </a:r>
          </a:p>
          <a:p>
            <a:pPr>
              <a:spcAft>
                <a:spcPts val="400"/>
              </a:spcAft>
            </a:pPr>
            <a:r>
              <a:rPr sz="1500" b="0">
                <a:solidFill>
                  <a:srgbClr val="9AA6B4"/>
                </a:solidFill>
                <a:latin typeface="Segoe UI"/>
              </a:rPr>
              <a:t>     Median response length: zero. Base and epoch 2 have none.</a:t>
            </a:r>
          </a:p>
          <a:p>
            <a:pPr>
              <a:spcAft>
                <a:spcPts val="900"/>
              </a:spcAft>
            </a:pPr>
            <a:r>
              <a:rPr sz="1800" b="1">
                <a:solidFill>
                  <a:srgbClr val="E8ECF1"/>
                </a:solidFill>
                <a:latin typeface="Segoe UI"/>
              </a:rPr>
              <a:t>One epoch of completion-only loss taught it to emit the stop token</a:t>
            </a:r>
          </a:p>
          <a:p>
            <a:pPr>
              <a:spcAft>
                <a:spcPts val="400"/>
              </a:spcAft>
            </a:pPr>
            <a:r>
              <a:rPr sz="1500" b="0">
                <a:solidFill>
                  <a:srgbClr val="9AA6B4"/>
                </a:solidFill>
                <a:latin typeface="Segoe UI"/>
              </a:rPr>
              <a:t>     immediately. The judge scores silence as WRONG.</a:t>
            </a:r>
          </a:p>
          <a:p>
            <a:pPr>
              <a:spcAft>
                <a:spcPts val="900"/>
              </a:spcAft>
            </a:pPr>
            <a:r>
              <a:rPr sz="1800" b="1">
                <a:solidFill>
                  <a:srgbClr val="F5C56B"/>
                </a:solidFill>
                <a:latin typeface="Segoe UI"/>
              </a:rPr>
              <a:t>A binary rate cannot tell silence from a wrong answer.</a:t>
            </a:r>
          </a:p>
          <a:p>
            <a:pPr>
              <a:spcAft>
                <a:spcPts val="400"/>
              </a:spcAft>
            </a:pPr>
            <a:r>
              <a:rPr sz="1500" b="0">
                <a:solidFill>
                  <a:srgbClr val="9AA6B4"/>
                </a:solidFill>
                <a:latin typeface="Segoe UI"/>
              </a:rPr>
              <a:t>     Output length belongs in the eval. Until it does, every rate is a FLOOR.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What counts as winning: net positive lift BETWEEN PHASES</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The old bar was a monotonically climbing curve. Epoch 1 broke it —</a:t>
            </a:r>
          </a:p>
          <a:p>
            <a:pPr>
              <a:spcAft>
                <a:spcPts val="400"/>
              </a:spcAft>
            </a:pPr>
            <a:r>
              <a:rPr sz="1500" b="0">
                <a:solidFill>
                  <a:srgbClr val="9AA6B4"/>
                </a:solidFill>
                <a:latin typeface="Segoe UI"/>
              </a:rPr>
              <a:t>     SFT went DOWN and the phase still ended ahead of base.</a:t>
            </a:r>
          </a:p>
          <a:p>
            <a:pPr>
              <a:spcAft>
                <a:spcPts val="900"/>
              </a:spcAft>
            </a:pPr>
            <a:r>
              <a:rPr sz="1800" b="1">
                <a:solidFill>
                  <a:srgbClr val="5BC8F5"/>
                </a:solidFill>
                <a:latin typeface="Segoe UI"/>
              </a:rPr>
              <a:t>So the bar moves. A phase wins if it hands the next phase MORE</a:t>
            </a:r>
          </a:p>
          <a:p>
            <a:pPr>
              <a:spcAft>
                <a:spcPts val="400"/>
              </a:spcAft>
            </a:pPr>
            <a:r>
              <a:rPr sz="1500" b="0">
                <a:solidFill>
                  <a:srgbClr val="9AA6B4"/>
                </a:solidFill>
                <a:latin typeface="Segoe UI"/>
              </a:rPr>
              <a:t>     correct answers than it received. Judged at epoch 3, not epoch 1.</a:t>
            </a:r>
          </a:p>
          <a:p>
            <a:pPr>
              <a:spcAft>
                <a:spcPts val="900"/>
              </a:spcAft>
            </a:pPr>
            <a:r>
              <a:rPr sz="1800" b="1">
                <a:solidFill>
                  <a:srgbClr val="5BC8F5"/>
                </a:solidFill>
                <a:latin typeface="Segoe UI"/>
              </a:rPr>
              <a:t>Verdict rule, LOCKED: every phase scored by the same mechanism —</a:t>
            </a:r>
          </a:p>
          <a:p>
            <a:pPr>
              <a:spcAft>
                <a:spcPts val="400"/>
              </a:spcAft>
            </a:pPr>
            <a:r>
              <a:rPr sz="1500" b="0">
                <a:solidFill>
                  <a:srgbClr val="9AA6B4"/>
                </a:solidFill>
                <a:latin typeface="Segoe UI"/>
              </a:rPr>
              <a:t>     3 independent single-answer judgings per question, majority vote.</a:t>
            </a:r>
          </a:p>
          <a:p>
            <a:pPr>
              <a:spcAft>
                <a:spcPts val="900"/>
              </a:spcAft>
            </a:pPr>
            <a:r>
              <a:rPr sz="1800" b="1">
                <a:solidFill>
                  <a:srgbClr val="6ED38A"/>
                </a:solidFill>
                <a:latin typeface="Segoe UI"/>
              </a:rPr>
              <a:t>Under that rule: base 4 → best method 8, of 16.</a:t>
            </a:r>
          </a:p>
          <a:p>
            <a:pPr>
              <a:spcAft>
                <a:spcPts val="400"/>
              </a:spcAft>
            </a:pPr>
            <a:r>
              <a:rPr sz="1500" b="0">
                <a:solidFill>
                  <a:srgbClr val="6ED38A"/>
                </a:solidFill>
                <a:latin typeface="Segoe UI"/>
              </a:rPr>
              <a:t>     The END-TO-END lift is the win; adjacent phases sit at the ~1-question</a:t>
            </a:r>
          </a:p>
          <a:p>
            <a:pPr>
              <a:spcAft>
                <a:spcPts val="400"/>
              </a:spcAft>
            </a:pPr>
            <a:r>
              <a:rPr sz="1500" b="0">
                <a:solidFill>
                  <a:srgbClr val="9AA6B4"/>
                </a:solidFill>
                <a:latin typeface="Segoe UI"/>
              </a:rPr>
              <a:t>     floor of what 16 questions can resolve.</a:t>
            </a:r>
          </a:p>
          <a:p>
            <a:pPr>
              <a:spcAft>
                <a:spcPts val="900"/>
              </a:spcAft>
            </a:pPr>
            <a:r>
              <a:rPr sz="1800" b="1">
                <a:solidFill>
                  <a:srgbClr val="E8ECF1"/>
                </a:solidFill>
                <a:latin typeface="Segoe UI"/>
              </a:rPr>
              <a:t>A dip inside a phase is not a failure. A phase that ends flat is.</a:t>
            </a:r>
          </a:p>
          <a:p>
            <a:pPr>
              <a:spcAft>
                <a:spcPts val="900"/>
              </a:spcAft>
            </a:pPr>
            <a:r>
              <a:rPr sz="1800" b="1">
                <a:solidFill>
                  <a:srgbClr val="F5C56B"/>
                </a:solidFill>
                <a:latin typeface="Segoe UI"/>
              </a:rPr>
              <a:t>Not goalpost-moving: a TRAJECTORY, not one point on it. CPT was</a:t>
            </a:r>
          </a:p>
          <a:p>
            <a:pPr>
              <a:spcAft>
                <a:spcPts val="400"/>
              </a:spcAft>
            </a:pPr>
            <a:r>
              <a:rPr sz="1500" b="0">
                <a:solidFill>
                  <a:srgbClr val="9AA6B4"/>
                </a:solidFill>
                <a:latin typeface="Segoe UI"/>
              </a:rPr>
              <a:t>     closed on one end-of-run number per lr. It never got a curve.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finding that generalises: durability, not capacity</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3474720"/>
                <a:gridCol w="3474720"/>
                <a:gridCol w="3474720"/>
              </a:tblGrid>
              <a:tr h="411480">
                <a:tc>
                  <a:txBody>
                    <a:bodyPr/>
                    <a:lstStyle/>
                    <a:p>
                      <a:pPr>
                        <a:spcAft>
                          <a:spcPts val="0"/>
                        </a:spcAft>
                      </a:pPr>
                      <a:r>
                        <a:rPr sz="1300" b="1">
                          <a:solidFill>
                            <a:srgbClr val="12161C"/>
                          </a:solidFill>
                          <a:latin typeface="Segoe UI"/>
                        </a:rPr>
                        <a:t>how the knowledge was written</a:t>
                      </a:r>
                    </a:p>
                  </a:txBody>
                  <a:tcPr>
                    <a:solidFill>
                      <a:srgbClr val="5BC8F5"/>
                    </a:solidFill>
                  </a:tcPr>
                </a:tc>
                <a:tc>
                  <a:txBody>
                    <a:bodyPr/>
                    <a:lstStyle/>
                    <a:p>
                      <a:pPr>
                        <a:spcAft>
                          <a:spcPts val="0"/>
                        </a:spcAft>
                      </a:pPr>
                      <a:r>
                        <a:rPr sz="1300" b="1">
                          <a:solidFill>
                            <a:srgbClr val="12161C"/>
                          </a:solidFill>
                          <a:latin typeface="Segoe UI"/>
                        </a:rPr>
                        <a:t>deposit</a:t>
                      </a:r>
                    </a:p>
                  </a:txBody>
                  <a:tcPr>
                    <a:solidFill>
                      <a:srgbClr val="5BC8F5"/>
                    </a:solidFill>
                  </a:tcPr>
                </a:tc>
                <a:tc>
                  <a:txBody>
                    <a:bodyPr/>
                    <a:lstStyle/>
                    <a:p>
                      <a:pPr>
                        <a:spcAft>
                          <a:spcPts val="0"/>
                        </a:spcAft>
                      </a:pPr>
                      <a:r>
                        <a:rPr sz="1300" b="1">
                          <a:solidFill>
                            <a:srgbClr val="12161C"/>
                          </a:solidFill>
                          <a:latin typeface="Segoe UI"/>
                        </a:rPr>
                        <a:t>after RL on top</a:t>
                      </a:r>
                    </a:p>
                  </a:txBody>
                  <a:tcPr>
                    <a:solidFill>
                      <a:srgbClr val="5BC8F5"/>
                    </a:solidFill>
                  </a:tcPr>
                </a:tc>
              </a:tr>
              <a:tr h="411480">
                <a:tc>
                  <a:txBody>
                    <a:bodyPr/>
                    <a:lstStyle/>
                    <a:p>
                      <a:pPr>
                        <a:spcAft>
                          <a:spcPts val="0"/>
                        </a:spcAft>
                      </a:pPr>
                      <a:r>
                        <a:rPr sz="1200">
                          <a:solidFill>
                            <a:srgbClr val="F27A7A"/>
                          </a:solidFill>
                          <a:latin typeface="Segoe UI"/>
                        </a:rPr>
                        <a:t>LoRA SFT</a:t>
                      </a:r>
                    </a:p>
                  </a:txBody>
                  <a:tcPr>
                    <a:solidFill>
                      <a:srgbClr val="1A1F27"/>
                    </a:solidFill>
                  </a:tcPr>
                </a:tc>
                <a:tc>
                  <a:txBody>
                    <a:bodyPr/>
                    <a:lstStyle/>
                    <a:p>
                      <a:pPr>
                        <a:spcAft>
                          <a:spcPts val="0"/>
                        </a:spcAft>
                      </a:pPr>
                      <a:r>
                        <a:rPr sz="1200">
                          <a:solidFill>
                            <a:srgbClr val="F27A7A"/>
                          </a:solidFill>
                          <a:latin typeface="Segoe UI"/>
                        </a:rPr>
                        <a:t>0.327</a:t>
                      </a:r>
                    </a:p>
                  </a:txBody>
                  <a:tcPr>
                    <a:solidFill>
                      <a:srgbClr val="1A1F27"/>
                    </a:solidFill>
                  </a:tcPr>
                </a:tc>
                <a:tc>
                  <a:txBody>
                    <a:bodyPr/>
                    <a:lstStyle/>
                    <a:p>
                      <a:pPr>
                        <a:spcAft>
                          <a:spcPts val="0"/>
                        </a:spcAft>
                      </a:pPr>
                      <a:r>
                        <a:rPr sz="1200">
                          <a:solidFill>
                            <a:srgbClr val="F27A7A"/>
                          </a:solidFill>
                          <a:latin typeface="Segoe UI"/>
                        </a:rPr>
                        <a:t>0.170   destroyed</a:t>
                      </a:r>
                    </a:p>
                  </a:txBody>
                  <a:tcPr>
                    <a:solidFill>
                      <a:srgbClr val="1A1F27"/>
                    </a:solidFill>
                  </a:tcPr>
                </a:tc>
              </a:tr>
              <a:tr h="411480">
                <a:tc>
                  <a:txBody>
                    <a:bodyPr/>
                    <a:lstStyle/>
                    <a:p>
                      <a:pPr>
                        <a:spcAft>
                          <a:spcPts val="0"/>
                        </a:spcAft>
                      </a:pPr>
                      <a:r>
                        <a:rPr sz="1200">
                          <a:solidFill>
                            <a:srgbClr val="F27A7A"/>
                          </a:solidFill>
                          <a:latin typeface="Segoe UI"/>
                        </a:rPr>
                        <a:t>LoRA SFT, merged, alpha matched</a:t>
                      </a:r>
                    </a:p>
                  </a:txBody>
                  <a:tcPr>
                    <a:solidFill>
                      <a:srgbClr val="212731"/>
                    </a:solidFill>
                  </a:tcPr>
                </a:tc>
                <a:tc>
                  <a:txBody>
                    <a:bodyPr/>
                    <a:lstStyle/>
                    <a:p>
                      <a:pPr>
                        <a:spcAft>
                          <a:spcPts val="0"/>
                        </a:spcAft>
                      </a:pPr>
                      <a:r>
                        <a:rPr sz="1200">
                          <a:solidFill>
                            <a:srgbClr val="F27A7A"/>
                          </a:solidFill>
                          <a:latin typeface="Segoe UI"/>
                        </a:rPr>
                        <a:t>0.442</a:t>
                      </a:r>
                    </a:p>
                  </a:txBody>
                  <a:tcPr>
                    <a:solidFill>
                      <a:srgbClr val="212731"/>
                    </a:solidFill>
                  </a:tcPr>
                </a:tc>
                <a:tc>
                  <a:txBody>
                    <a:bodyPr/>
                    <a:lstStyle/>
                    <a:p>
                      <a:pPr>
                        <a:spcAft>
                          <a:spcPts val="0"/>
                        </a:spcAft>
                      </a:pPr>
                      <a:r>
                        <a:rPr sz="1200">
                          <a:solidFill>
                            <a:srgbClr val="F27A7A"/>
                          </a:solidFill>
                          <a:latin typeface="Segoe UI"/>
                        </a:rPr>
                        <a:t>0.288   destroyed</a:t>
                      </a:r>
                    </a:p>
                  </a:txBody>
                  <a:tcPr>
                    <a:solidFill>
                      <a:srgbClr val="212731"/>
                    </a:solidFill>
                  </a:tcPr>
                </a:tc>
              </a:tr>
              <a:tr h="411480">
                <a:tc>
                  <a:txBody>
                    <a:bodyPr/>
                    <a:lstStyle/>
                    <a:p>
                      <a:pPr>
                        <a:spcAft>
                          <a:spcPts val="0"/>
                        </a:spcAft>
                      </a:pPr>
                      <a:r>
                        <a:rPr sz="1200">
                          <a:solidFill>
                            <a:srgbClr val="F27A7A"/>
                          </a:solidFill>
                          <a:latin typeface="Segoe UI"/>
                        </a:rPr>
                        <a:t>LoRA SFT, adapter continued into RL</a:t>
                      </a:r>
                    </a:p>
                  </a:txBody>
                  <a:tcPr>
                    <a:solidFill>
                      <a:srgbClr val="1A1F27"/>
                    </a:solidFill>
                  </a:tcPr>
                </a:tc>
                <a:tc>
                  <a:txBody>
                    <a:bodyPr/>
                    <a:lstStyle/>
                    <a:p>
                      <a:pPr>
                        <a:spcAft>
                          <a:spcPts val="0"/>
                        </a:spcAft>
                      </a:pPr>
                      <a:r>
                        <a:rPr sz="1200">
                          <a:solidFill>
                            <a:srgbClr val="F27A7A"/>
                          </a:solidFill>
                          <a:latin typeface="Segoe UI"/>
                        </a:rPr>
                        <a:t>0.442</a:t>
                      </a:r>
                    </a:p>
                  </a:txBody>
                  <a:tcPr>
                    <a:solidFill>
                      <a:srgbClr val="1A1F27"/>
                    </a:solidFill>
                  </a:tcPr>
                </a:tc>
                <a:tc>
                  <a:txBody>
                    <a:bodyPr/>
                    <a:lstStyle/>
                    <a:p>
                      <a:pPr>
                        <a:spcAft>
                          <a:spcPts val="0"/>
                        </a:spcAft>
                      </a:pPr>
                      <a:r>
                        <a:rPr sz="1200">
                          <a:solidFill>
                            <a:srgbClr val="F27A7A"/>
                          </a:solidFill>
                          <a:latin typeface="Segoe UI"/>
                        </a:rPr>
                        <a:t>~0.26   destroyed</a:t>
                      </a:r>
                    </a:p>
                  </a:txBody>
                  <a:tcPr>
                    <a:solidFill>
                      <a:srgbClr val="1A1F27"/>
                    </a:solidFill>
                  </a:tcPr>
                </a:tc>
              </a:tr>
              <a:tr h="411480">
                <a:tc>
                  <a:txBody>
                    <a:bodyPr/>
                    <a:lstStyle/>
                    <a:p>
                      <a:pPr>
                        <a:spcAft>
                          <a:spcPts val="0"/>
                        </a:spcAft>
                      </a:pPr>
                      <a:r>
                        <a:rPr sz="1200">
                          <a:solidFill>
                            <a:srgbClr val="6ED38A"/>
                          </a:solidFill>
                          <a:latin typeface="Segoe UI"/>
                        </a:rPr>
                        <a:t>FULL-PARAMETER SFT</a:t>
                      </a:r>
                    </a:p>
                  </a:txBody>
                  <a:tcPr>
                    <a:solidFill>
                      <a:srgbClr val="212731"/>
                    </a:solidFill>
                  </a:tcPr>
                </a:tc>
                <a:tc>
                  <a:txBody>
                    <a:bodyPr/>
                    <a:lstStyle/>
                    <a:p>
                      <a:pPr>
                        <a:spcAft>
                          <a:spcPts val="0"/>
                        </a:spcAft>
                      </a:pPr>
                      <a:r>
                        <a:rPr sz="1200">
                          <a:solidFill>
                            <a:srgbClr val="6ED38A"/>
                          </a:solidFill>
                          <a:latin typeface="Segoe UI"/>
                        </a:rPr>
                        <a:t>0.420</a:t>
                      </a:r>
                    </a:p>
                  </a:txBody>
                  <a:tcPr>
                    <a:solidFill>
                      <a:srgbClr val="212731"/>
                    </a:solidFill>
                  </a:tcPr>
                </a:tc>
                <a:tc>
                  <a:txBody>
                    <a:bodyPr/>
                    <a:lstStyle/>
                    <a:p>
                      <a:pPr>
                        <a:spcAft>
                          <a:spcPts val="0"/>
                        </a:spcAft>
                      </a:pPr>
                      <a:r>
                        <a:rPr sz="1200">
                          <a:solidFill>
                            <a:srgbClr val="6ED38A"/>
                          </a:solidFill>
                          <a:latin typeface="Segoe UI"/>
                        </a:rPr>
                        <a:t>0.548   survives and improves</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An adapter CAN sharpen what it did not install. What it installs itself does not survive being sharpened.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Good and bad on BOTH sides of correct</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2606040"/>
                <a:gridCol w="2606040"/>
                <a:gridCol w="2606040"/>
                <a:gridCol w="2606040"/>
              </a:tblGrid>
              <a:tr h="411480">
                <a:tc>
                  <a:txBody>
                    <a:bodyPr/>
                    <a:lstStyle/>
                    <a:p>
                      <a:pPr>
                        <a:spcAft>
                          <a:spcPts val="0"/>
                        </a:spcAft>
                      </a:pPr>
                      <a:r>
                        <a:rPr sz="1300" b="1">
                          <a:solidFill>
                            <a:srgbClr val="12161C"/>
                          </a:solidFill>
                          <a:latin typeface="Segoe UI"/>
                        </a:rPr>
                        <a:t>band</a:t>
                      </a:r>
                    </a:p>
                  </a:txBody>
                  <a:tcPr>
                    <a:solidFill>
                      <a:srgbClr val="5BC8F5"/>
                    </a:solidFill>
                  </a:tcPr>
                </a:tc>
                <a:tc>
                  <a:txBody>
                    <a:bodyPr/>
                    <a:lstStyle/>
                    <a:p>
                      <a:pPr>
                        <a:spcAft>
                          <a:spcPts val="0"/>
                        </a:spcAft>
                      </a:pPr>
                      <a:r>
                        <a:rPr sz="1300" b="1">
                          <a:solidFill>
                            <a:srgbClr val="12161C"/>
                          </a:solidFill>
                          <a:latin typeface="Segoe UI"/>
                        </a:rPr>
                        <a:t>example answer</a:t>
                      </a:r>
                    </a:p>
                  </a:txBody>
                  <a:tcPr>
                    <a:solidFill>
                      <a:srgbClr val="5BC8F5"/>
                    </a:solidFill>
                  </a:tcPr>
                </a:tc>
                <a:tc>
                  <a:txBody>
                    <a:bodyPr/>
                    <a:lstStyle/>
                    <a:p>
                      <a:pPr>
                        <a:spcAft>
                          <a:spcPts val="0"/>
                        </a:spcAft>
                      </a:pPr>
                      <a:r>
                        <a:rPr sz="1300" b="1">
                          <a:solidFill>
                            <a:srgbClr val="12161C"/>
                          </a:solidFill>
                          <a:latin typeface="Segoe UI"/>
                        </a:rPr>
                        <a:t>score</a:t>
                      </a:r>
                    </a:p>
                  </a:txBody>
                  <a:tcPr>
                    <a:solidFill>
                      <a:srgbClr val="5BC8F5"/>
                    </a:solidFill>
                  </a:tcPr>
                </a:tc>
                <a:tc>
                  <a:txBody>
                    <a:bodyPr/>
                    <a:lstStyle/>
                    <a:p>
                      <a:pPr>
                        <a:spcAft>
                          <a:spcPts val="0"/>
                        </a:spcAft>
                      </a:pPr>
                      <a:r>
                        <a:rPr sz="1300" b="1">
                          <a:solidFill>
                            <a:srgbClr val="12161C"/>
                          </a:solidFill>
                          <a:latin typeface="Segoe UI"/>
                        </a:rPr>
                        <a:t>why</a:t>
                      </a:r>
                    </a:p>
                  </a:txBody>
                  <a:tcPr>
                    <a:solidFill>
                      <a:srgbClr val="5BC8F5"/>
                    </a:solidFill>
                  </a:tcPr>
                </a:tc>
              </a:tr>
              <a:tr h="411480">
                <a:tc>
                  <a:txBody>
                    <a:bodyPr/>
                    <a:lstStyle/>
                    <a:p>
                      <a:pPr>
                        <a:spcAft>
                          <a:spcPts val="0"/>
                        </a:spcAft>
                      </a:pPr>
                      <a:r>
                        <a:rPr sz="1200">
                          <a:solidFill>
                            <a:srgbClr val="6ED38A"/>
                          </a:solidFill>
                          <a:latin typeface="Segoe UI"/>
                        </a:rPr>
                        <a:t>CORRECT, good</a:t>
                      </a:r>
                    </a:p>
                  </a:txBody>
                  <a:tcPr>
                    <a:solidFill>
                      <a:srgbClr val="1A1F27"/>
                    </a:solidFill>
                  </a:tcPr>
                </a:tc>
                <a:tc>
                  <a:txBody>
                    <a:bodyPr/>
                    <a:lstStyle/>
                    <a:p>
                      <a:pPr>
                        <a:spcAft>
                          <a:spcPts val="0"/>
                        </a:spcAft>
                      </a:pPr>
                      <a:r>
                        <a:rPr sz="1200">
                          <a:solidFill>
                            <a:srgbClr val="6ED38A"/>
                          </a:solidFill>
                          <a:latin typeface="Segoe UI"/>
                        </a:rPr>
                        <a:t>“correct: w'/w &lt; 1; incorrect: w'/w &gt; 1”</a:t>
                      </a:r>
                    </a:p>
                  </a:txBody>
                  <a:tcPr>
                    <a:solidFill>
                      <a:srgbClr val="1A1F27"/>
                    </a:solidFill>
                  </a:tcPr>
                </a:tc>
                <a:tc>
                  <a:txBody>
                    <a:bodyPr/>
                    <a:lstStyle/>
                    <a:p>
                      <a:pPr>
                        <a:spcAft>
                          <a:spcPts val="0"/>
                        </a:spcAft>
                      </a:pPr>
                      <a:r>
                        <a:rPr sz="1200">
                          <a:solidFill>
                            <a:srgbClr val="6ED38A"/>
                          </a:solidFill>
                          <a:latin typeface="Segoe UI"/>
                        </a:rPr>
                        <a:t>0.98</a:t>
                      </a:r>
                    </a:p>
                  </a:txBody>
                  <a:tcPr>
                    <a:solidFill>
                      <a:srgbClr val="1A1F27"/>
                    </a:solidFill>
                  </a:tcPr>
                </a:tc>
                <a:tc>
                  <a:txBody>
                    <a:bodyPr/>
                    <a:lstStyle/>
                    <a:p>
                      <a:pPr>
                        <a:spcAft>
                          <a:spcPts val="0"/>
                        </a:spcAft>
                      </a:pPr>
                      <a:r>
                        <a:rPr sz="1200">
                          <a:solidFill>
                            <a:srgbClr val="6ED38A"/>
                          </a:solidFill>
                          <a:latin typeface="Segoe UI"/>
                        </a:rPr>
                        <a:t>exact, complete, could not be shorter</a:t>
                      </a:r>
                    </a:p>
                  </a:txBody>
                  <a:tcPr>
                    <a:solidFill>
                      <a:srgbClr val="1A1F27"/>
                    </a:solidFill>
                  </a:tcPr>
                </a:tc>
              </a:tr>
              <a:tr h="411480">
                <a:tc>
                  <a:txBody>
                    <a:bodyPr/>
                    <a:lstStyle/>
                    <a:p>
                      <a:pPr>
                        <a:spcAft>
                          <a:spcPts val="0"/>
                        </a:spcAft>
                      </a:pPr>
                      <a:r>
                        <a:rPr sz="1200">
                          <a:solidFill>
                            <a:srgbClr val="6ED38A"/>
                          </a:solidFill>
                          <a:latin typeface="Segoe UI"/>
                        </a:rPr>
                        <a:t>CORRECT, bad</a:t>
                      </a:r>
                    </a:p>
                  </a:txBody>
                  <a:tcPr>
                    <a:solidFill>
                      <a:srgbClr val="212731"/>
                    </a:solidFill>
                  </a:tcPr>
                </a:tc>
                <a:tc>
                  <a:txBody>
                    <a:bodyPr/>
                    <a:lstStyle/>
                    <a:p>
                      <a:pPr>
                        <a:spcAft>
                          <a:spcPts val="0"/>
                        </a:spcAft>
                      </a:pPr>
                      <a:r>
                        <a:rPr sz="1200">
                          <a:solidFill>
                            <a:srgbClr val="6ED38A"/>
                          </a:solidFill>
                          <a:latin typeface="Segoe UI"/>
                        </a:rPr>
                        <a:t>“what averaging acts on here, statistically, is the variance of the base learners”</a:t>
                      </a:r>
                    </a:p>
                  </a:txBody>
                  <a:tcPr>
                    <a:solidFill>
                      <a:srgbClr val="212731"/>
                    </a:solidFill>
                  </a:tcPr>
                </a:tc>
                <a:tc>
                  <a:txBody>
                    <a:bodyPr/>
                    <a:lstStyle/>
                    <a:p>
                      <a:pPr>
                        <a:spcAft>
                          <a:spcPts val="0"/>
                        </a:spcAft>
                      </a:pPr>
                      <a:r>
                        <a:rPr sz="1200">
                          <a:solidFill>
                            <a:srgbClr val="6ED38A"/>
                          </a:solidFill>
                          <a:latin typeface="Segoe UI"/>
                        </a:rPr>
                        <a:t>0.72</a:t>
                      </a:r>
                    </a:p>
                  </a:txBody>
                  <a:tcPr>
                    <a:solidFill>
                      <a:srgbClr val="212731"/>
                    </a:solidFill>
                  </a:tcPr>
                </a:tc>
                <a:tc>
                  <a:txBody>
                    <a:bodyPr/>
                    <a:lstStyle/>
                    <a:p>
                      <a:pPr>
                        <a:spcAft>
                          <a:spcPts val="0"/>
                        </a:spcAft>
                      </a:pPr>
                      <a:r>
                        <a:rPr sz="1200">
                          <a:solidFill>
                            <a:srgbClr val="6ED38A"/>
                          </a:solidFill>
                          <a:latin typeface="Segoe UI"/>
                        </a:rPr>
                        <a:t>states the claim, takes too long — right answer, low band</a:t>
                      </a:r>
                    </a:p>
                  </a:txBody>
                  <a:tcPr>
                    <a:solidFill>
                      <a:srgbClr val="212731"/>
                    </a:solidFill>
                  </a:tcPr>
                </a:tc>
              </a:tr>
              <a:tr h="411480">
                <a:tc>
                  <a:txBody>
                    <a:bodyPr/>
                    <a:lstStyle/>
                    <a:p>
                      <a:pPr>
                        <a:spcAft>
                          <a:spcPts val="0"/>
                        </a:spcAft>
                      </a:pPr>
                      <a:r>
                        <a:rPr sz="1200">
                          <a:solidFill>
                            <a:srgbClr val="F27A7A"/>
                          </a:solidFill>
                          <a:latin typeface="Segoe UI"/>
                        </a:rPr>
                        <a:t>WRONG, good</a:t>
                      </a:r>
                    </a:p>
                  </a:txBody>
                  <a:tcPr>
                    <a:solidFill>
                      <a:srgbClr val="1A1F27"/>
                    </a:solidFill>
                  </a:tcPr>
                </a:tc>
                <a:tc>
                  <a:txBody>
                    <a:bodyPr/>
                    <a:lstStyle/>
                    <a:p>
                      <a:pPr>
                        <a:spcAft>
                          <a:spcPts val="0"/>
                        </a:spcAft>
                      </a:pPr>
                      <a:r>
                        <a:rPr sz="1200">
                          <a:solidFill>
                            <a:srgbClr val="F27A7A"/>
                          </a:solidFill>
                          <a:latin typeface="Segoe UI"/>
                        </a:rPr>
                        <a:t>“bias, since averaging corrects underfitting”</a:t>
                      </a:r>
                    </a:p>
                  </a:txBody>
                  <a:tcPr>
                    <a:solidFill>
                      <a:srgbClr val="1A1F27"/>
                    </a:solidFill>
                  </a:tcPr>
                </a:tc>
                <a:tc>
                  <a:txBody>
                    <a:bodyPr/>
                    <a:lstStyle/>
                    <a:p>
                      <a:pPr>
                        <a:spcAft>
                          <a:spcPts val="0"/>
                        </a:spcAft>
                      </a:pPr>
                      <a:r>
                        <a:rPr sz="1200">
                          <a:solidFill>
                            <a:srgbClr val="F27A7A"/>
                          </a:solidFill>
                          <a:latin typeface="Segoe UI"/>
                        </a:rPr>
                        <a:t>0.45</a:t>
                      </a:r>
                    </a:p>
                  </a:txBody>
                  <a:tcPr>
                    <a:solidFill>
                      <a:srgbClr val="1A1F27"/>
                    </a:solidFill>
                  </a:tcPr>
                </a:tc>
                <a:tc>
                  <a:txBody>
                    <a:bodyPr/>
                    <a:lstStyle/>
                    <a:p>
                      <a:pPr>
                        <a:spcAft>
                          <a:spcPts val="0"/>
                        </a:spcAft>
                      </a:pPr>
                      <a:r>
                        <a:rPr sz="1200">
                          <a:solidFill>
                            <a:srgbClr val="F27A7A"/>
                          </a:solidFill>
                          <a:latin typeface="Segoe UI"/>
                        </a:rPr>
                        <a:t>COMMITS to a named mechanism; the mechanism is false</a:t>
                      </a:r>
                    </a:p>
                  </a:txBody>
                  <a:tcPr>
                    <a:solidFill>
                      <a:srgbClr val="1A1F27"/>
                    </a:solidFill>
                  </a:tcPr>
                </a:tc>
              </a:tr>
              <a:tr h="411480">
                <a:tc>
                  <a:txBody>
                    <a:bodyPr/>
                    <a:lstStyle/>
                    <a:p>
                      <a:pPr>
                        <a:spcAft>
                          <a:spcPts val="0"/>
                        </a:spcAft>
                      </a:pPr>
                      <a:r>
                        <a:rPr sz="1200">
                          <a:solidFill>
                            <a:srgbClr val="F27A7A"/>
                          </a:solidFill>
                          <a:latin typeface="Segoe UI"/>
                        </a:rPr>
                        <a:t>WRONG, bad</a:t>
                      </a:r>
                    </a:p>
                  </a:txBody>
                  <a:tcPr>
                    <a:solidFill>
                      <a:srgbClr val="212731"/>
                    </a:solidFill>
                  </a:tcPr>
                </a:tc>
                <a:tc>
                  <a:txBody>
                    <a:bodyPr/>
                    <a:lstStyle/>
                    <a:p>
                      <a:pPr>
                        <a:spcAft>
                          <a:spcPts val="0"/>
                        </a:spcAft>
                      </a:pPr>
                      <a:r>
                        <a:rPr sz="1200">
                          <a:solidFill>
                            <a:srgbClr val="F27A7A"/>
                          </a:solidFill>
                          <a:latin typeface="Segoe UI"/>
                        </a:rPr>
                        <a:t>“Yes, that is the standard approach.”</a:t>
                      </a:r>
                    </a:p>
                  </a:txBody>
                  <a:tcPr>
                    <a:solidFill>
                      <a:srgbClr val="212731"/>
                    </a:solidFill>
                  </a:tcPr>
                </a:tc>
                <a:tc>
                  <a:txBody>
                    <a:bodyPr/>
                    <a:lstStyle/>
                    <a:p>
                      <a:pPr>
                        <a:spcAft>
                          <a:spcPts val="0"/>
                        </a:spcAft>
                      </a:pPr>
                      <a:r>
                        <a:rPr sz="1200">
                          <a:solidFill>
                            <a:srgbClr val="F27A7A"/>
                          </a:solidFill>
                          <a:latin typeface="Segoe UI"/>
                        </a:rPr>
                        <a:t>0.05</a:t>
                      </a:r>
                    </a:p>
                  </a:txBody>
                  <a:tcPr>
                    <a:solidFill>
                      <a:srgbClr val="212731"/>
                    </a:solidFill>
                  </a:tcPr>
                </a:tc>
                <a:tc>
                  <a:txBody>
                    <a:bodyPr/>
                    <a:lstStyle/>
                    <a:p>
                      <a:pPr>
                        <a:spcAft>
                          <a:spcPts val="0"/>
                        </a:spcAft>
                      </a:pPr>
                      <a:r>
                        <a:rPr sz="1200">
                          <a:solidFill>
                            <a:srgbClr val="F27A7A"/>
                          </a:solidFill>
                          <a:latin typeface="Segoe UI"/>
                        </a:rPr>
                        <a:t>content-free deferral — it asserted nothing, so nothing is wrong</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Verbose is not the same as vague. Length moves an answer WITHIN a band; commitment decides WHICH band.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Exploration under uncertainty — where MGPO sits in RL</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The course's toolbox: epsilon-greedy (blunt) · Boltzmann/softmax ·</a:t>
            </a:r>
          </a:p>
          <a:p>
            <a:pPr>
              <a:spcAft>
                <a:spcPts val="400"/>
              </a:spcAft>
            </a:pPr>
            <a:r>
              <a:rPr sz="1500" b="0">
                <a:solidFill>
                  <a:srgbClr val="9AA6B4"/>
                </a:solidFill>
                <a:latin typeface="Segoe UI"/>
              </a:rPr>
              <a:t>     optimistic initialization · UCB/UCT count bonus  (parts 3 and 5).</a:t>
            </a:r>
          </a:p>
          <a:p>
            <a:pPr>
              <a:spcAft>
                <a:spcPts val="900"/>
              </a:spcAft>
            </a:pPr>
            <a:r>
              <a:rPr sz="1800" b="1">
                <a:solidFill>
                  <a:srgbClr val="E8ECF1"/>
                </a:solidFill>
                <a:latin typeface="Segoe UI"/>
              </a:rPr>
              <a:t>Part 6's upgrade: measure uncertainty directly — ensemble DISAGREEMENT.</a:t>
            </a:r>
          </a:p>
          <a:p>
            <a:pPr>
              <a:spcAft>
                <a:spcPts val="900"/>
              </a:spcAft>
            </a:pPr>
            <a:r>
              <a:rPr sz="1800" b="1">
                <a:solidFill>
                  <a:srgbClr val="E8ECF1"/>
                </a:solidFill>
                <a:latin typeface="Segoe UI"/>
              </a:rPr>
              <a:t>Most direct of all: 'surprise' — how much a sample MOVES the model.</a:t>
            </a:r>
          </a:p>
          <a:p>
            <a:pPr>
              <a:spcAft>
                <a:spcPts val="400"/>
              </a:spcAft>
            </a:pPr>
            <a:r>
              <a:rPr sz="1500" b="0">
                <a:solidFill>
                  <a:srgbClr val="9AA6B4"/>
                </a:solidFill>
                <a:latin typeface="Segoe UI"/>
              </a:rPr>
              <a:t>     Costs a gradient step per candidate.</a:t>
            </a:r>
          </a:p>
          <a:p>
            <a:pPr>
              <a:spcAft>
                <a:spcPts val="900"/>
              </a:spcAft>
            </a:pPr>
            <a:r>
              <a:rPr sz="1800" b="1">
                <a:solidFill>
                  <a:srgbClr val="5BC8F5"/>
                </a:solidFill>
                <a:latin typeface="Segoe UI"/>
              </a:rPr>
              <a:t>MGPO's spanning selection is the FREE proxy: G answers splitting right/wrong</a:t>
            </a:r>
          </a:p>
          <a:p>
            <a:pPr>
              <a:spcAft>
                <a:spcPts val="400"/>
              </a:spcAft>
            </a:pPr>
            <a:r>
              <a:rPr sz="1500" b="0">
                <a:solidFill>
                  <a:srgbClr val="9AA6B4"/>
                </a:solidFill>
                <a:latin typeface="Segoe UI"/>
              </a:rPr>
              <a:t>     = max advantage variance = max expected gradient, from sampling alone.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RL change 1 — the reward is a BINARY GATE</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Base MGPO samples the prompts where the model is most UNCERTAIN —</a:t>
            </a:r>
          </a:p>
          <a:p>
            <a:pPr>
              <a:spcAft>
                <a:spcPts val="400"/>
              </a:spcAft>
            </a:pPr>
            <a:r>
              <a:rPr sz="1500" b="0">
                <a:solidFill>
                  <a:srgbClr val="9AA6B4"/>
                </a:solidFill>
                <a:latin typeface="Segoe UI"/>
              </a:rPr>
              <a:t>     within-group reward spread, the quantity GRPO's advantage divides by.</a:t>
            </a:r>
          </a:p>
          <a:p>
            <a:pPr>
              <a:spcAft>
                <a:spcPts val="900"/>
              </a:spcAft>
            </a:pPr>
            <a:r>
              <a:rPr sz="1800" b="1">
                <a:solidFill>
                  <a:srgbClr val="5BC8F5"/>
                </a:solidFill>
                <a:latin typeface="Segoe UI"/>
              </a:rPr>
              <a:t>Correct = 1.0.  Wrong = exactly 0.0.  No partial credit.</a:t>
            </a:r>
          </a:p>
          <a:p>
            <a:pPr>
              <a:spcAft>
                <a:spcPts val="900"/>
              </a:spcAft>
            </a:pPr>
            <a:r>
              <a:rPr sz="1800" b="1">
                <a:solidFill>
                  <a:srgbClr val="F27A7A"/>
                </a:solidFill>
                <a:latin typeface="Segoe UI"/>
              </a:rPr>
              <a:t>The old raw-score reward paid ~0.5 for confident wrongness —</a:t>
            </a:r>
          </a:p>
          <a:p>
            <a:pPr>
              <a:spcAft>
                <a:spcPts val="400"/>
              </a:spcAft>
            </a:pPr>
            <a:r>
              <a:rPr sz="1500" b="0">
                <a:solidFill>
                  <a:srgbClr val="9AA6B4"/>
                </a:solidFill>
                <a:latin typeface="Segoe UI"/>
              </a:rPr>
              <a:t>     and could not even see the SFT lift.</a:t>
            </a:r>
          </a:p>
          <a:p>
            <a:pPr>
              <a:spcAft>
                <a:spcPts val="900"/>
              </a:spcAft>
            </a:pPr>
            <a:r>
              <a:rPr sz="1800" b="1">
                <a:solidFill>
                  <a:srgbClr val="E8ECF1"/>
                </a:solidFill>
                <a:latin typeface="Segoe UI"/>
              </a:rPr>
              <a:t>Plus a zero-sum brevity term inside each group: shorter correct answers</a:t>
            </a:r>
          </a:p>
          <a:p>
            <a:pPr>
              <a:spcAft>
                <a:spcPts val="400"/>
              </a:spcAft>
            </a:pPr>
            <a:r>
              <a:rPr sz="1500" b="0">
                <a:solidFill>
                  <a:srgbClr val="9AA6B4"/>
                </a:solidFill>
                <a:latin typeface="Segoe UI"/>
              </a:rPr>
              <a:t>     gain what longer ones give up, so the GRPO baseline does not move.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RL change 2 — the replay buffer trains the BOUNDARY</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Round 1 records every judge outcome per prompt.</a:t>
            </a:r>
          </a:p>
          <a:p>
            <a:pPr>
              <a:spcAft>
                <a:spcPts val="900"/>
              </a:spcAft>
            </a:pPr>
            <a:r>
              <a:rPr sz="1800" b="1">
                <a:solidFill>
                  <a:srgbClr val="5BC8F5"/>
                </a:solidFill>
                <a:latin typeface="Segoe UI"/>
              </a:rPr>
              <a:t>Round 2 keeps a prompt only if its outcomes SPAN 0.70 —</a:t>
            </a:r>
          </a:p>
          <a:p>
            <a:pPr>
              <a:spcAft>
                <a:spcPts val="400"/>
              </a:spcAft>
            </a:pPr>
            <a:r>
              <a:rPr sz="1500" b="0">
                <a:solidFill>
                  <a:srgbClr val="9AA6B4"/>
                </a:solidFill>
                <a:latin typeface="Segoe UI"/>
              </a:rPr>
              <a:t>     at least one right, at least one wrong.</a:t>
            </a:r>
          </a:p>
          <a:p>
            <a:pPr>
              <a:spcAft>
                <a:spcPts val="400"/>
              </a:spcAft>
            </a:pPr>
            <a:r>
              <a:rPr sz="1500" b="0">
                <a:solidFill>
                  <a:srgbClr val="9AA6B4"/>
                </a:solidFill>
                <a:latin typeface="Segoe UI"/>
              </a:rPr>
              <a:t>     Always-right teaches nothing. Always-wrong is a zero-variance group</a:t>
            </a:r>
          </a:p>
          <a:p>
            <a:pPr>
              <a:spcAft>
                <a:spcPts val="400"/>
              </a:spcAft>
            </a:pPr>
            <a:r>
              <a:rPr sz="1500" b="0">
                <a:solidFill>
                  <a:srgbClr val="9AA6B4"/>
                </a:solidFill>
                <a:latin typeface="Segoe UI"/>
              </a:rPr>
              <a:t>     and gives EXACTLY zero gradient.</a:t>
            </a:r>
          </a:p>
          <a:p>
            <a:pPr>
              <a:spcAft>
                <a:spcPts val="900"/>
              </a:spcAft>
            </a:pPr>
            <a:r>
              <a:rPr sz="1800" b="1">
                <a:solidFill>
                  <a:srgbClr val="E8ECF1"/>
                </a:solidFill>
                <a:latin typeface="Segoe UI"/>
              </a:rPr>
              <a:t>A fixed band near the threshold was rejected: 0.65 and 0.68 are two</a:t>
            </a:r>
          </a:p>
          <a:p>
            <a:pPr>
              <a:spcAft>
                <a:spcPts val="400"/>
              </a:spcAft>
            </a:pPr>
            <a:r>
              <a:rPr sz="1500" b="0">
                <a:solidFill>
                  <a:srgbClr val="9AA6B4"/>
                </a:solidFill>
                <a:latin typeface="Segoe UI"/>
              </a:rPr>
              <a:t>     buckets that both mean WRONG. Spanning is about outcomes, not scores.</a:t>
            </a:r>
          </a:p>
          <a:p>
            <a:pPr>
              <a:spcAft>
                <a:spcPts val="900"/>
              </a:spcAft>
            </a:pPr>
            <a:r>
              <a:rPr sz="1800" b="1">
                <a:solidFill>
                  <a:srgbClr val="F5C56B"/>
                </a:solidFill>
                <a:latin typeface="Segoe UI"/>
              </a:rPr>
              <a:t>HONEST CAVEAT: it fired hard — dropped 3/6, 4/6, 2/6 of round-2 prompts —</a:t>
            </a:r>
          </a:p>
          <a:p>
            <a:pPr>
              <a:spcAft>
                <a:spcPts val="400"/>
              </a:spcAft>
            </a:pPr>
            <a:r>
              <a:rPr sz="1500" b="0">
                <a:solidFill>
                  <a:srgbClr val="9AA6B4"/>
                </a:solidFill>
                <a:latin typeface="Segoe UI"/>
              </a:rPr>
              <a:t>     but was NEVER ABLATED. No filter-off arm exists. No lift is attributable to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replay buffer, live — one actual round boundary</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5212080"/>
                <a:gridCol w="5212080"/>
              </a:tblGrid>
              <a:tr h="411480">
                <a:tc>
                  <a:txBody>
                    <a:bodyPr/>
                    <a:lstStyle/>
                    <a:p>
                      <a:pPr>
                        <a:spcAft>
                          <a:spcPts val="0"/>
                        </a:spcAft>
                      </a:pPr>
                      <a:r>
                        <a:rPr sz="1300" b="1">
                          <a:solidFill>
                            <a:srgbClr val="12161C"/>
                          </a:solidFill>
                          <a:latin typeface="Segoe UI"/>
                        </a:rPr>
                        <a:t>stage</a:t>
                      </a:r>
                    </a:p>
                  </a:txBody>
                  <a:tcPr>
                    <a:solidFill>
                      <a:srgbClr val="5BC8F5"/>
                    </a:solidFill>
                  </a:tcPr>
                </a:tc>
                <a:tc>
                  <a:txBody>
                    <a:bodyPr/>
                    <a:lstStyle/>
                    <a:p>
                      <a:pPr>
                        <a:spcAft>
                          <a:spcPts val="0"/>
                        </a:spcAft>
                      </a:pPr>
                      <a:r>
                        <a:rPr sz="1300" b="1">
                          <a:solidFill>
                            <a:srgbClr val="12161C"/>
                          </a:solidFill>
                          <a:latin typeface="Segoe UI"/>
                        </a:rPr>
                        <a:t>what the log shows</a:t>
                      </a:r>
                    </a:p>
                  </a:txBody>
                  <a:tcPr>
                    <a:solidFill>
                      <a:srgbClr val="5BC8F5"/>
                    </a:solidFill>
                  </a:tcPr>
                </a:tc>
              </a:tr>
              <a:tr h="411480">
                <a:tc>
                  <a:txBody>
                    <a:bodyPr/>
                    <a:lstStyle/>
                    <a:p>
                      <a:pPr>
                        <a:spcAft>
                          <a:spcPts val="0"/>
                        </a:spcAft>
                      </a:pPr>
                      <a:r>
                        <a:rPr sz="1200">
                          <a:solidFill>
                            <a:srgbClr val="E8ECF1"/>
                          </a:solidFill>
                          <a:latin typeface="Segoe UI"/>
                        </a:rPr>
                        <a:t>FILL (round 1)</a:t>
                      </a:r>
                    </a:p>
                  </a:txBody>
                  <a:tcPr>
                    <a:solidFill>
                      <a:srgbClr val="1A1F27"/>
                    </a:solidFill>
                  </a:tcPr>
                </a:tc>
                <a:tc>
                  <a:txBody>
                    <a:bodyPr/>
                    <a:lstStyle/>
                    <a:p>
                      <a:pPr>
                        <a:spcAft>
                          <a:spcPts val="0"/>
                        </a:spcAft>
                      </a:pPr>
                      <a:r>
                        <a:rPr sz="1200">
                          <a:solidFill>
                            <a:srgbClr val="E8ECF1"/>
                          </a:solidFill>
                          <a:latin typeface="Segoe UI"/>
                        </a:rPr>
                        <a:t>6 prompts, uniform · each step: 4 answers judged · every verdict recorded per question</a:t>
                      </a:r>
                    </a:p>
                  </a:txBody>
                  <a:tcPr>
                    <a:solidFill>
                      <a:srgbClr val="1A1F27"/>
                    </a:solidFill>
                  </a:tcPr>
                </a:tc>
              </a:tr>
              <a:tr h="411480">
                <a:tc>
                  <a:txBody>
                    <a:bodyPr/>
                    <a:lstStyle/>
                    <a:p>
                      <a:pPr>
                        <a:spcAft>
                          <a:spcPts val="0"/>
                        </a:spcAft>
                      </a:pPr>
                      <a:r>
                        <a:rPr sz="1200">
                          <a:solidFill>
                            <a:srgbClr val="E8ECF1"/>
                          </a:solidFill>
                          <a:latin typeface="Segoe UI"/>
                        </a:rPr>
                        <a:t>GATE</a:t>
                      </a:r>
                    </a:p>
                  </a:txBody>
                  <a:tcPr>
                    <a:solidFill>
                      <a:srgbClr val="212731"/>
                    </a:solidFill>
                  </a:tcPr>
                </a:tc>
                <a:tc>
                  <a:txBody>
                    <a:bodyPr/>
                    <a:lstStyle/>
                    <a:p>
                      <a:pPr>
                        <a:spcAft>
                          <a:spcPts val="0"/>
                        </a:spcAft>
                      </a:pPr>
                      <a:r>
                        <a:rPr sz="1200">
                          <a:solidFill>
                            <a:srgbClr val="E8ECF1"/>
                          </a:solidFill>
                          <a:latin typeface="Segoe UI"/>
                        </a:rPr>
                        <a:t>dropped 2/6 — no correct+wrong pair in history → zero variance → ZERO gradient. Cut.</a:t>
                      </a:r>
                    </a:p>
                  </a:txBody>
                  <a:tcPr>
                    <a:solidFill>
                      <a:srgbClr val="212731"/>
                    </a:solidFill>
                  </a:tcPr>
                </a:tc>
              </a:tr>
              <a:tr h="411480">
                <a:tc>
                  <a:txBody>
                    <a:bodyPr/>
                    <a:lstStyle/>
                    <a:p>
                      <a:pPr>
                        <a:spcAft>
                          <a:spcPts val="0"/>
                        </a:spcAft>
                      </a:pPr>
                      <a:r>
                        <a:rPr sz="1200">
                          <a:solidFill>
                            <a:srgbClr val="E8ECF1"/>
                          </a:solidFill>
                          <a:latin typeface="Segoe UI"/>
                        </a:rPr>
                        <a:t>WEIGH</a:t>
                      </a:r>
                    </a:p>
                  </a:txBody>
                  <a:tcPr>
                    <a:solidFill>
                      <a:srgbClr val="1A1F27"/>
                    </a:solidFill>
                  </a:tcPr>
                </a:tc>
                <a:tc>
                  <a:txBody>
                    <a:bodyPr/>
                    <a:lstStyle/>
                    <a:p>
                      <a:pPr>
                        <a:spcAft>
                          <a:spcPts val="0"/>
                        </a:spcAft>
                      </a:pPr>
                      <a:r>
                        <a:rPr sz="1200">
                          <a:solidFill>
                            <a:srgbClr val="E8ECF1"/>
                          </a:solidFill>
                          <a:latin typeface="Segoe UI"/>
                        </a:rPr>
                        <a:t>survivors drawn by uncertainty: 0.386 · 0.235 · 0.212 · 0.167 · 0 · 0</a:t>
                      </a:r>
                    </a:p>
                  </a:txBody>
                  <a:tcPr>
                    <a:solidFill>
                      <a:srgbClr val="1A1F27"/>
                    </a:solidFill>
                  </a:tcPr>
                </a:tc>
              </a:tr>
              <a:tr h="411480">
                <a:tc>
                  <a:txBody>
                    <a:bodyPr/>
                    <a:lstStyle/>
                    <a:p>
                      <a:pPr>
                        <a:spcAft>
                          <a:spcPts val="0"/>
                        </a:spcAft>
                      </a:pPr>
                      <a:r>
                        <a:rPr sz="1200">
                          <a:solidFill>
                            <a:srgbClr val="E8ECF1"/>
                          </a:solidFill>
                          <a:latin typeface="Segoe UI"/>
                        </a:rPr>
                        <a:t>ROUND 2</a:t>
                      </a:r>
                    </a:p>
                  </a:txBody>
                  <a:tcPr>
                    <a:solidFill>
                      <a:srgbClr val="212731"/>
                    </a:solidFill>
                  </a:tcPr>
                </a:tc>
                <a:tc>
                  <a:txBody>
                    <a:bodyPr/>
                    <a:lstStyle/>
                    <a:p>
                      <a:pPr>
                        <a:spcAft>
                          <a:spcPts val="0"/>
                        </a:spcAft>
                      </a:pPr>
                      <a:r>
                        <a:rPr sz="1200">
                          <a:solidFill>
                            <a:srgbClr val="E8ECF1"/>
                          </a:solidFill>
                          <a:latin typeface="Segoe UI"/>
                        </a:rPr>
                        <a:t>fresh answers only — nothing stored is ever retrained</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An outcome ledger steering the curriculum. Nothing is 'replayed'.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MGPO with the borrowed parts labeled</a:t>
            </a:r>
          </a:p>
        </p:txBody>
      </p:sp>
      <p:graphicFrame>
        <p:nvGraphicFramePr>
          <p:cNvPr id="4" name="Table 3"/>
          <p:cNvGraphicFramePr>
            <a:graphicFrameLocks noGrp="1"/>
          </p:cNvGraphicFramePr>
          <p:nvPr/>
        </p:nvGraphicFramePr>
        <p:xfrm>
          <a:off x="868680" y="1463040"/>
          <a:ext cx="10424160" cy="3154680"/>
        </p:xfrm>
        <a:graphic>
          <a:graphicData uri="http://schemas.openxmlformats.org/drawingml/2006/table">
            <a:tbl>
              <a:tblPr>
                <a:tableStyleId>{5C22544A-7EE6-4342-B048-85BDC9FD1C3A}</a:tableStyleId>
              </a:tblPr>
              <a:tblGrid>
                <a:gridCol w="3474720"/>
                <a:gridCol w="3474720"/>
                <a:gridCol w="3474720"/>
              </a:tblGrid>
              <a:tr h="394335">
                <a:tc>
                  <a:txBody>
                    <a:bodyPr/>
                    <a:lstStyle/>
                    <a:p>
                      <a:pPr>
                        <a:spcAft>
                          <a:spcPts val="0"/>
                        </a:spcAft>
                      </a:pPr>
                      <a:r>
                        <a:rPr sz="1300" b="1">
                          <a:solidFill>
                            <a:srgbClr val="12161C"/>
                          </a:solidFill>
                          <a:latin typeface="Segoe UI"/>
                        </a:rPr>
                        <a:t>mechanism in our code</a:t>
                      </a:r>
                    </a:p>
                  </a:txBody>
                  <a:tcPr>
                    <a:solidFill>
                      <a:srgbClr val="5BC8F5"/>
                    </a:solidFill>
                  </a:tcPr>
                </a:tc>
                <a:tc>
                  <a:txBody>
                    <a:bodyPr/>
                    <a:lstStyle/>
                    <a:p>
                      <a:pPr>
                        <a:spcAft>
                          <a:spcPts val="0"/>
                        </a:spcAft>
                      </a:pPr>
                      <a:r>
                        <a:rPr sz="1300" b="1">
                          <a:solidFill>
                            <a:srgbClr val="12161C"/>
                          </a:solidFill>
                          <a:latin typeface="Segoe UI"/>
                        </a:rPr>
                        <a:t>borrowed from</a:t>
                      </a:r>
                    </a:p>
                  </a:txBody>
                  <a:tcPr>
                    <a:solidFill>
                      <a:srgbClr val="5BC8F5"/>
                    </a:solidFill>
                  </a:tcPr>
                </a:tc>
                <a:tc>
                  <a:txBody>
                    <a:bodyPr/>
                    <a:lstStyle/>
                    <a:p>
                      <a:pPr>
                        <a:spcAft>
                          <a:spcPts val="0"/>
                        </a:spcAft>
                      </a:pPr>
                      <a:r>
                        <a:rPr sz="1300" b="1">
                          <a:solidFill>
                            <a:srgbClr val="12161C"/>
                          </a:solidFill>
                          <a:latin typeface="Segoe UI"/>
                        </a:rPr>
                        <a:t>tried → kept?</a:t>
                      </a:r>
                    </a:p>
                  </a:txBody>
                  <a:tcPr>
                    <a:solidFill>
                      <a:srgbClr val="5BC8F5"/>
                    </a:solidFill>
                  </a:tcPr>
                </a:tc>
              </a:tr>
              <a:tr h="394335">
                <a:tc>
                  <a:txBody>
                    <a:bodyPr/>
                    <a:lstStyle/>
                    <a:p>
                      <a:pPr>
                        <a:spcAft>
                          <a:spcPts val="0"/>
                        </a:spcAft>
                      </a:pPr>
                      <a:r>
                        <a:rPr sz="1200">
                          <a:solidFill>
                            <a:srgbClr val="E8ECF1"/>
                          </a:solidFill>
                          <a:latin typeface="Segoe UI"/>
                        </a:rPr>
                        <a:t>group-relative advantage, no critic</a:t>
                      </a:r>
                    </a:p>
                  </a:txBody>
                  <a:tcPr>
                    <a:solidFill>
                      <a:srgbClr val="1A1F27"/>
                    </a:solidFill>
                  </a:tcPr>
                </a:tc>
                <a:tc>
                  <a:txBody>
                    <a:bodyPr/>
                    <a:lstStyle/>
                    <a:p>
                      <a:pPr>
                        <a:spcAft>
                          <a:spcPts val="0"/>
                        </a:spcAft>
                      </a:pPr>
                      <a:r>
                        <a:rPr sz="1200">
                          <a:solidFill>
                            <a:srgbClr val="E8ECF1"/>
                          </a:solidFill>
                          <a:latin typeface="Segoe UI"/>
                        </a:rPr>
                        <a:t>GRPO (DeepSeek)</a:t>
                      </a:r>
                    </a:p>
                  </a:txBody>
                  <a:tcPr>
                    <a:solidFill>
                      <a:srgbClr val="1A1F27"/>
                    </a:solidFill>
                  </a:tcPr>
                </a:tc>
                <a:tc>
                  <a:txBody>
                    <a:bodyPr/>
                    <a:lstStyle/>
                    <a:p>
                      <a:pPr>
                        <a:spcAft>
                          <a:spcPts val="0"/>
                        </a:spcAft>
                      </a:pPr>
                      <a:r>
                        <a:rPr sz="1200">
                          <a:solidFill>
                            <a:srgbClr val="E8ECF1"/>
                          </a:solidFill>
                          <a:latin typeface="Segoe UI"/>
                        </a:rPr>
                        <a:t>KEPT — core of every run</a:t>
                      </a:r>
                    </a:p>
                  </a:txBody>
                  <a:tcPr>
                    <a:solidFill>
                      <a:srgbClr val="1A1F27"/>
                    </a:solidFill>
                  </a:tcPr>
                </a:tc>
              </a:tr>
              <a:tr h="394335">
                <a:tc>
                  <a:txBody>
                    <a:bodyPr/>
                    <a:lstStyle/>
                    <a:p>
                      <a:pPr>
                        <a:spcAft>
                          <a:spcPts val="0"/>
                        </a:spcAft>
                      </a:pPr>
                      <a:r>
                        <a:rPr sz="1200">
                          <a:solidFill>
                            <a:srgbClr val="E8ECF1"/>
                          </a:solidFill>
                          <a:latin typeface="Segoe UI"/>
                        </a:rPr>
                        <a:t>reward scaling (÷ group std)</a:t>
                      </a:r>
                    </a:p>
                  </a:txBody>
                  <a:tcPr>
                    <a:solidFill>
                      <a:srgbClr val="212731"/>
                    </a:solidFill>
                  </a:tcPr>
                </a:tc>
                <a:tc>
                  <a:txBody>
                    <a:bodyPr/>
                    <a:lstStyle/>
                    <a:p>
                      <a:pPr>
                        <a:spcAft>
                          <a:spcPts val="0"/>
                        </a:spcAft>
                      </a:pPr>
                      <a:r>
                        <a:rPr sz="1200">
                          <a:solidFill>
                            <a:srgbClr val="E8ECF1"/>
                          </a:solidFill>
                          <a:latin typeface="Segoe UI"/>
                        </a:rPr>
                        <a:t>GRPO default; removed = 'Dr. GRPO'</a:t>
                      </a:r>
                    </a:p>
                  </a:txBody>
                  <a:tcPr>
                    <a:solidFill>
                      <a:srgbClr val="212731"/>
                    </a:solidFill>
                  </a:tcPr>
                </a:tc>
                <a:tc>
                  <a:txBody>
                    <a:bodyPr/>
                    <a:lstStyle/>
                    <a:p>
                      <a:pPr>
                        <a:spcAft>
                          <a:spcPts val="0"/>
                        </a:spcAft>
                      </a:pPr>
                      <a:r>
                        <a:rPr sz="1200">
                          <a:solidFill>
                            <a:srgbClr val="E8ECF1"/>
                          </a:solidFill>
                          <a:latin typeface="Segoe UI"/>
                        </a:rPr>
                        <a:t>REMOVED: 8/14 — the winning RL pass</a:t>
                      </a:r>
                    </a:p>
                  </a:txBody>
                  <a:tcPr>
                    <a:solidFill>
                      <a:srgbClr val="212731"/>
                    </a:solidFill>
                  </a:tcPr>
                </a:tc>
              </a:tr>
              <a:tr h="394335">
                <a:tc>
                  <a:txBody>
                    <a:bodyPr/>
                    <a:lstStyle/>
                    <a:p>
                      <a:pPr>
                        <a:spcAft>
                          <a:spcPts val="0"/>
                        </a:spcAft>
                      </a:pPr>
                      <a:r>
                        <a:rPr sz="1200">
                          <a:solidFill>
                            <a:srgbClr val="E8ECF1"/>
                          </a:solidFill>
                          <a:latin typeface="Segoe UI"/>
                        </a:rPr>
                        <a:t>KL anchor (beta 0.3)</a:t>
                      </a:r>
                    </a:p>
                  </a:txBody>
                  <a:tcPr>
                    <a:solidFill>
                      <a:srgbClr val="1A1F27"/>
                    </a:solidFill>
                  </a:tcPr>
                </a:tc>
                <a:tc>
                  <a:txBody>
                    <a:bodyPr/>
                    <a:lstStyle/>
                    <a:p>
                      <a:pPr>
                        <a:spcAft>
                          <a:spcPts val="0"/>
                        </a:spcAft>
                      </a:pPr>
                      <a:r>
                        <a:rPr sz="1200">
                          <a:solidFill>
                            <a:srgbClr val="E8ECF1"/>
                          </a:solidFill>
                          <a:latin typeface="Segoe UI"/>
                        </a:rPr>
                        <a:t>Ch7 §7.5 — DeepSeek-R1 kl_coeff 0.02</a:t>
                      </a:r>
                    </a:p>
                  </a:txBody>
                  <a:tcPr>
                    <a:solidFill>
                      <a:srgbClr val="1A1F27"/>
                    </a:solidFill>
                  </a:tcPr>
                </a:tc>
                <a:tc>
                  <a:txBody>
                    <a:bodyPr/>
                    <a:lstStyle/>
                    <a:p>
                      <a:pPr>
                        <a:spcAft>
                          <a:spcPts val="0"/>
                        </a:spcAft>
                      </a:pPr>
                      <a:r>
                        <a:rPr sz="1200">
                          <a:solidFill>
                            <a:srgbClr val="E8ECF1"/>
                          </a:solidFill>
                          <a:latin typeface="Segoe UI"/>
                        </a:rPr>
                        <a:t>0.02 tried: climbed 4→8, scored 8/15 — kept 0.3</a:t>
                      </a:r>
                    </a:p>
                  </a:txBody>
                  <a:tcPr>
                    <a:solidFill>
                      <a:srgbClr val="1A1F27"/>
                    </a:solidFill>
                  </a:tcPr>
                </a:tc>
              </a:tr>
              <a:tr h="394335">
                <a:tc>
                  <a:txBody>
                    <a:bodyPr/>
                    <a:lstStyle/>
                    <a:p>
                      <a:pPr>
                        <a:spcAft>
                          <a:spcPts val="0"/>
                        </a:spcAft>
                      </a:pPr>
                      <a:r>
                        <a:rPr sz="1200">
                          <a:solidFill>
                            <a:srgbClr val="E8ECF1"/>
                          </a:solidFill>
                          <a:latin typeface="Segoe UI"/>
                        </a:rPr>
                        <a:t>clipped policy ratio (epsilon 0.2)</a:t>
                      </a:r>
                    </a:p>
                  </a:txBody>
                  <a:tcPr>
                    <a:solidFill>
                      <a:srgbClr val="212731"/>
                    </a:solidFill>
                  </a:tcPr>
                </a:tc>
                <a:tc>
                  <a:txBody>
                    <a:bodyPr/>
                    <a:lstStyle/>
                    <a:p>
                      <a:pPr>
                        <a:spcAft>
                          <a:spcPts val="0"/>
                        </a:spcAft>
                      </a:pPr>
                      <a:r>
                        <a:rPr sz="1200">
                          <a:solidFill>
                            <a:srgbClr val="E8ECF1"/>
                          </a:solidFill>
                          <a:latin typeface="Segoe UI"/>
                        </a:rPr>
                        <a:t>Ch7 §7.4 — DAPO raises the top to 0.28</a:t>
                      </a:r>
                    </a:p>
                  </a:txBody>
                  <a:tcPr>
                    <a:solidFill>
                      <a:srgbClr val="212731"/>
                    </a:solidFill>
                  </a:tcPr>
                </a:tc>
                <a:tc>
                  <a:txBody>
                    <a:bodyPr/>
                    <a:lstStyle/>
                    <a:p>
                      <a:pPr>
                        <a:spcAft>
                          <a:spcPts val="0"/>
                        </a:spcAft>
                      </a:pPr>
                      <a:r>
                        <a:rPr sz="1200">
                          <a:solidFill>
                            <a:srgbClr val="E8ECF1"/>
                          </a:solidFill>
                          <a:latin typeface="Segoe UI"/>
                        </a:rPr>
                        <a:t>0.28 tried: 4/15, worst — kept 0.2</a:t>
                      </a:r>
                    </a:p>
                  </a:txBody>
                  <a:tcPr>
                    <a:solidFill>
                      <a:srgbClr val="212731"/>
                    </a:solidFill>
                  </a:tcPr>
                </a:tc>
              </a:tr>
              <a:tr h="394335">
                <a:tc>
                  <a:txBody>
                    <a:bodyPr/>
                    <a:lstStyle/>
                    <a:p>
                      <a:pPr>
                        <a:spcAft>
                          <a:spcPts val="0"/>
                        </a:spcAft>
                      </a:pPr>
                      <a:r>
                        <a:rPr sz="1200">
                          <a:solidFill>
                            <a:srgbClr val="E8ECF1"/>
                          </a:solidFill>
                          <a:latin typeface="Segoe UI"/>
                        </a:rPr>
                        <a:t>zero-gradient filter + mixed-outcome sampling</a:t>
                      </a:r>
                    </a:p>
                  </a:txBody>
                  <a:tcPr>
                    <a:solidFill>
                      <a:srgbClr val="1A1F27"/>
                    </a:solidFill>
                  </a:tcPr>
                </a:tc>
                <a:tc>
                  <a:txBody>
                    <a:bodyPr/>
                    <a:lstStyle/>
                    <a:p>
                      <a:pPr>
                        <a:spcAft>
                          <a:spcPts val="0"/>
                        </a:spcAft>
                      </a:pPr>
                      <a:r>
                        <a:rPr sz="1200">
                          <a:solidFill>
                            <a:srgbClr val="E8ECF1"/>
                          </a:solidFill>
                          <a:latin typeface="Segoe UI"/>
                        </a:rPr>
                        <a:t>Ch7 §7.6.3 (DAPO 1-2)</a:t>
                      </a:r>
                    </a:p>
                  </a:txBody>
                  <a:tcPr>
                    <a:solidFill>
                      <a:srgbClr val="1A1F27"/>
                    </a:solidFill>
                  </a:tcPr>
                </a:tc>
                <a:tc>
                  <a:txBody>
                    <a:bodyPr/>
                    <a:lstStyle/>
                    <a:p>
                      <a:pPr>
                        <a:spcAft>
                          <a:spcPts val="0"/>
                        </a:spcAft>
                      </a:pPr>
                      <a:r>
                        <a:rPr sz="1200">
                          <a:solidFill>
                            <a:srgbClr val="E8ECF1"/>
                          </a:solidFill>
                          <a:latin typeface="Segoe UI"/>
                        </a:rPr>
                        <a:t>KEPT — never ablated</a:t>
                      </a:r>
                    </a:p>
                  </a:txBody>
                  <a:tcPr>
                    <a:solidFill>
                      <a:srgbClr val="1A1F27"/>
                    </a:solidFill>
                  </a:tcPr>
                </a:tc>
              </a:tr>
              <a:tr h="394335">
                <a:tc>
                  <a:txBody>
                    <a:bodyPr/>
                    <a:lstStyle/>
                    <a:p>
                      <a:pPr>
                        <a:spcAft>
                          <a:spcPts val="0"/>
                        </a:spcAft>
                      </a:pPr>
                      <a:r>
                        <a:rPr sz="1200">
                          <a:solidFill>
                            <a:srgbClr val="E8ECF1"/>
                          </a:solidFill>
                          <a:latin typeface="Segoe UI"/>
                        </a:rPr>
                        <a:t>token-level DAPO loss</a:t>
                      </a:r>
                    </a:p>
                  </a:txBody>
                  <a:tcPr>
                    <a:solidFill>
                      <a:srgbClr val="212731"/>
                    </a:solidFill>
                  </a:tcPr>
                </a:tc>
                <a:tc>
                  <a:txBody>
                    <a:bodyPr/>
                    <a:lstStyle/>
                    <a:p>
                      <a:pPr>
                        <a:spcAft>
                          <a:spcPts val="0"/>
                        </a:spcAft>
                      </a:pPr>
                      <a:r>
                        <a:rPr sz="1200">
                          <a:solidFill>
                            <a:srgbClr val="E8ECF1"/>
                          </a:solidFill>
                          <a:latin typeface="Segoe UI"/>
                        </a:rPr>
                        <a:t>Ch7 §7.6.3 item 3</a:t>
                      </a:r>
                    </a:p>
                  </a:txBody>
                  <a:tcPr>
                    <a:solidFill>
                      <a:srgbClr val="212731"/>
                    </a:solidFill>
                  </a:tcPr>
                </a:tc>
                <a:tc>
                  <a:txBody>
                    <a:bodyPr/>
                    <a:lstStyle/>
                    <a:p>
                      <a:pPr>
                        <a:spcAft>
                          <a:spcPts val="0"/>
                        </a:spcAft>
                      </a:pPr>
                      <a:r>
                        <a:rPr sz="1200">
                          <a:solidFill>
                            <a:srgbClr val="E8ECF1"/>
                          </a:solidFill>
                          <a:latin typeface="Segoe UI"/>
                        </a:rPr>
                        <a:t>KEPT (default)</a:t>
                      </a:r>
                    </a:p>
                  </a:txBody>
                  <a:tcPr>
                    <a:solidFill>
                      <a:srgbClr val="212731"/>
                    </a:solidFill>
                  </a:tcPr>
                </a:tc>
              </a:tr>
              <a:tr h="394335">
                <a:tc>
                  <a:txBody>
                    <a:bodyPr/>
                    <a:lstStyle/>
                    <a:p>
                      <a:pPr>
                        <a:spcAft>
                          <a:spcPts val="0"/>
                        </a:spcAft>
                      </a:pPr>
                      <a:r>
                        <a:rPr sz="1200">
                          <a:solidFill>
                            <a:srgbClr val="E8ECF1"/>
                          </a:solidFill>
                          <a:latin typeface="Segoe UI"/>
                        </a:rPr>
                        <a:t>zero-sum brevity, CORRECT only</a:t>
                      </a:r>
                    </a:p>
                  </a:txBody>
                  <a:tcPr>
                    <a:solidFill>
                      <a:srgbClr val="1A1F27"/>
                    </a:solidFill>
                  </a:tcPr>
                </a:tc>
                <a:tc>
                  <a:txBody>
                    <a:bodyPr/>
                    <a:lstStyle/>
                    <a:p>
                      <a:pPr>
                        <a:spcAft>
                          <a:spcPts val="0"/>
                        </a:spcAft>
                      </a:pPr>
                      <a:r>
                        <a:rPr sz="1200">
                          <a:solidFill>
                            <a:srgbClr val="E8ECF1"/>
                          </a:solidFill>
                          <a:latin typeface="Segoe UI"/>
                        </a:rPr>
                        <a:t>ours — Ch7 §7.6.2's naive version collapses</a:t>
                      </a:r>
                    </a:p>
                  </a:txBody>
                  <a:tcPr>
                    <a:solidFill>
                      <a:srgbClr val="1A1F27"/>
                    </a:solidFill>
                  </a:tcPr>
                </a:tc>
                <a:tc>
                  <a:txBody>
                    <a:bodyPr/>
                    <a:lstStyle/>
                    <a:p>
                      <a:pPr>
                        <a:spcAft>
                          <a:spcPts val="0"/>
                        </a:spcAft>
                      </a:pPr>
                      <a:r>
                        <a:rPr sz="1200">
                          <a:solidFill>
                            <a:srgbClr val="E8ECF1"/>
                          </a:solidFill>
                          <a:latin typeface="Segoe UI"/>
                        </a:rPr>
                        <a:t>KEPT at 0.2; OFF never tried</a:t>
                      </a:r>
                    </a:p>
                  </a:txBody>
                  <a:tcPr>
                    <a:solidFill>
                      <a:srgbClr val="1A1F27"/>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Ch refs: Raschka, Build a Reasoning Model (From Scratch). Knobs tried one at a time, same start, same seed; numbers = correct of the frozen eval.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FAQ — do uncertain prompts go back to SFT?</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3474720"/>
                <a:gridCol w="3474720"/>
                <a:gridCol w="3474720"/>
              </a:tblGrid>
              <a:tr h="411480">
                <a:tc>
                  <a:txBody>
                    <a:bodyPr/>
                    <a:lstStyle/>
                    <a:p>
                      <a:pPr>
                        <a:spcAft>
                          <a:spcPts val="0"/>
                        </a:spcAft>
                      </a:pPr>
                      <a:r>
                        <a:rPr sz="1300" b="1">
                          <a:solidFill>
                            <a:srgbClr val="12161C"/>
                          </a:solidFill>
                          <a:latin typeface="Segoe UI"/>
                        </a:rPr>
                        <a:t>bin</a:t>
                      </a:r>
                    </a:p>
                  </a:txBody>
                  <a:tcPr>
                    <a:solidFill>
                      <a:srgbClr val="5BC8F5"/>
                    </a:solidFill>
                  </a:tcPr>
                </a:tc>
                <a:tc>
                  <a:txBody>
                    <a:bodyPr/>
                    <a:lstStyle/>
                    <a:p>
                      <a:pPr>
                        <a:spcAft>
                          <a:spcPts val="0"/>
                        </a:spcAft>
                      </a:pPr>
                      <a:r>
                        <a:rPr sz="1300" b="1">
                          <a:solidFill>
                            <a:srgbClr val="12161C"/>
                          </a:solidFill>
                          <a:latin typeface="Segoe UI"/>
                        </a:rPr>
                        <a:t>signal</a:t>
                      </a:r>
                    </a:p>
                  </a:txBody>
                  <a:tcPr>
                    <a:solidFill>
                      <a:srgbClr val="5BC8F5"/>
                    </a:solidFill>
                  </a:tcPr>
                </a:tc>
                <a:tc>
                  <a:txBody>
                    <a:bodyPr/>
                    <a:lstStyle/>
                    <a:p>
                      <a:pPr>
                        <a:spcAft>
                          <a:spcPts val="0"/>
                        </a:spcAft>
                      </a:pPr>
                      <a:r>
                        <a:rPr sz="1300" b="1">
                          <a:solidFill>
                            <a:srgbClr val="12161C"/>
                          </a:solidFill>
                          <a:latin typeface="Segoe UI"/>
                        </a:rPr>
                        <a:t>route</a:t>
                      </a:r>
                    </a:p>
                  </a:txBody>
                  <a:tcPr>
                    <a:solidFill>
                      <a:srgbClr val="5BC8F5"/>
                    </a:solidFill>
                  </a:tcPr>
                </a:tc>
              </a:tr>
              <a:tr h="411480">
                <a:tc>
                  <a:txBody>
                    <a:bodyPr/>
                    <a:lstStyle/>
                    <a:p>
                      <a:pPr>
                        <a:spcAft>
                          <a:spcPts val="0"/>
                        </a:spcAft>
                      </a:pPr>
                      <a:r>
                        <a:rPr sz="1200">
                          <a:solidFill>
                            <a:srgbClr val="E8ECF1"/>
                          </a:solidFill>
                          <a:latin typeface="Segoe UI"/>
                        </a:rPr>
                        <a:t>always-right</a:t>
                      </a:r>
                    </a:p>
                  </a:txBody>
                  <a:tcPr>
                    <a:solidFill>
                      <a:srgbClr val="1A1F27"/>
                    </a:solidFill>
                  </a:tcPr>
                </a:tc>
                <a:tc>
                  <a:txBody>
                    <a:bodyPr/>
                    <a:lstStyle/>
                    <a:p>
                      <a:pPr>
                        <a:spcAft>
                          <a:spcPts val="0"/>
                        </a:spcAft>
                      </a:pPr>
                      <a:r>
                        <a:rPr sz="1200">
                          <a:solidFill>
                            <a:srgbClr val="E8ECF1"/>
                          </a:solidFill>
                          <a:latin typeface="Segoe UI"/>
                        </a:rPr>
                        <a:t>settled</a:t>
                      </a:r>
                    </a:p>
                  </a:txBody>
                  <a:tcPr>
                    <a:solidFill>
                      <a:srgbClr val="1A1F27"/>
                    </a:solidFill>
                  </a:tcPr>
                </a:tc>
                <a:tc>
                  <a:txBody>
                    <a:bodyPr/>
                    <a:lstStyle/>
                    <a:p>
                      <a:pPr>
                        <a:spcAft>
                          <a:spcPts val="0"/>
                        </a:spcAft>
                      </a:pPr>
                      <a:r>
                        <a:rPr sz="1200">
                          <a:solidFill>
                            <a:srgbClr val="E8ECF1"/>
                          </a:solidFill>
                          <a:latin typeface="Segoe UI"/>
                        </a:rPr>
                        <a:t>drop</a:t>
                      </a:r>
                    </a:p>
                  </a:txBody>
                  <a:tcPr>
                    <a:solidFill>
                      <a:srgbClr val="1A1F27"/>
                    </a:solidFill>
                  </a:tcPr>
                </a:tc>
              </a:tr>
              <a:tr h="411480">
                <a:tc>
                  <a:txBody>
                    <a:bodyPr/>
                    <a:lstStyle/>
                    <a:p>
                      <a:pPr>
                        <a:spcAft>
                          <a:spcPts val="0"/>
                        </a:spcAft>
                      </a:pPr>
                      <a:r>
                        <a:rPr sz="1200">
                          <a:solidFill>
                            <a:srgbClr val="E8ECF1"/>
                          </a:solidFill>
                          <a:latin typeface="Segoe UI"/>
                        </a:rPr>
                        <a:t>spread</a:t>
                      </a:r>
                    </a:p>
                  </a:txBody>
                  <a:tcPr>
                    <a:solidFill>
                      <a:srgbClr val="212731"/>
                    </a:solidFill>
                  </a:tcPr>
                </a:tc>
                <a:tc>
                  <a:txBody>
                    <a:bodyPr/>
                    <a:lstStyle/>
                    <a:p>
                      <a:pPr>
                        <a:spcAft>
                          <a:spcPts val="0"/>
                        </a:spcAft>
                      </a:pPr>
                      <a:r>
                        <a:rPr sz="1200">
                          <a:solidFill>
                            <a:srgbClr val="E8ECF1"/>
                          </a:solidFill>
                          <a:latin typeface="Segoe UI"/>
                        </a:rPr>
                        <a:t>measured uncertainty</a:t>
                      </a:r>
                    </a:p>
                  </a:txBody>
                  <a:tcPr>
                    <a:solidFill>
                      <a:srgbClr val="212731"/>
                    </a:solidFill>
                  </a:tcPr>
                </a:tc>
                <a:tc>
                  <a:txBody>
                    <a:bodyPr/>
                    <a:lstStyle/>
                    <a:p>
                      <a:pPr>
                        <a:spcAft>
                          <a:spcPts val="0"/>
                        </a:spcAft>
                      </a:pPr>
                      <a:r>
                        <a:rPr sz="1200">
                          <a:solidFill>
                            <a:srgbClr val="E8ECF1"/>
                          </a:solidFill>
                          <a:latin typeface="Segoe UI"/>
                        </a:rPr>
                        <a:t>RL cache — iterate</a:t>
                      </a:r>
                    </a:p>
                  </a:txBody>
                  <a:tcPr>
                    <a:solidFill>
                      <a:srgbClr val="212731"/>
                    </a:solidFill>
                  </a:tcPr>
                </a:tc>
              </a:tr>
              <a:tr h="411480">
                <a:tc>
                  <a:txBody>
                    <a:bodyPr/>
                    <a:lstStyle/>
                    <a:p>
                      <a:pPr>
                        <a:spcAft>
                          <a:spcPts val="0"/>
                        </a:spcAft>
                      </a:pPr>
                      <a:r>
                        <a:rPr sz="1200">
                          <a:solidFill>
                            <a:srgbClr val="E8ECF1"/>
                          </a:solidFill>
                          <a:latin typeface="Segoe UI"/>
                        </a:rPr>
                        <a:t>always-wrong</a:t>
                      </a:r>
                    </a:p>
                  </a:txBody>
                  <a:tcPr>
                    <a:solidFill>
                      <a:srgbClr val="1A1F27"/>
                    </a:solidFill>
                  </a:tcPr>
                </a:tc>
                <a:tc>
                  <a:txBody>
                    <a:bodyPr/>
                    <a:lstStyle/>
                    <a:p>
                      <a:pPr>
                        <a:spcAft>
                          <a:spcPts val="0"/>
                        </a:spcAft>
                      </a:pPr>
                      <a:r>
                        <a:rPr sz="1200">
                          <a:solidFill>
                            <a:srgbClr val="E8ECF1"/>
                          </a:solidFill>
                          <a:latin typeface="Segoe UI"/>
                        </a:rPr>
                        <a:t>ZERO gradient</a:t>
                      </a:r>
                    </a:p>
                  </a:txBody>
                  <a:tcPr>
                    <a:solidFill>
                      <a:srgbClr val="1A1F27"/>
                    </a:solidFill>
                  </a:tcPr>
                </a:tc>
                <a:tc>
                  <a:txBody>
                    <a:bodyPr/>
                    <a:lstStyle/>
                    <a:p>
                      <a:pPr>
                        <a:spcAft>
                          <a:spcPts val="0"/>
                        </a:spcAft>
                      </a:pPr>
                      <a:r>
                        <a:rPr sz="1200">
                          <a:solidFill>
                            <a:srgbClr val="E8ECF1"/>
                          </a:solidFill>
                          <a:latin typeface="Segoe UI"/>
                        </a:rPr>
                        <a:t>→ SFT deposit, then out of RL</a:t>
                      </a:r>
                    </a:p>
                  </a:txBody>
                  <a:tcPr>
                    <a:solidFill>
                      <a:srgbClr val="1A1F27"/>
                    </a:solidFill>
                  </a:tcPr>
                </a:tc>
              </a:tr>
              <a:tr h="411480">
                <a:tc>
                  <a:txBody>
                    <a:bodyPr/>
                    <a:lstStyle/>
                    <a:p>
                      <a:pPr>
                        <a:spcAft>
                          <a:spcPts val="0"/>
                        </a:spcAft>
                      </a:pPr>
                      <a:r>
                        <a:rPr sz="1200">
                          <a:solidFill>
                            <a:srgbClr val="E8ECF1"/>
                          </a:solidFill>
                          <a:latin typeface="Segoe UI"/>
                        </a:rPr>
                        <a:t>unseen</a:t>
                      </a:r>
                    </a:p>
                  </a:txBody>
                  <a:tcPr>
                    <a:solidFill>
                      <a:srgbClr val="212731"/>
                    </a:solidFill>
                  </a:tcPr>
                </a:tc>
                <a:tc>
                  <a:txBody>
                    <a:bodyPr/>
                    <a:lstStyle/>
                    <a:p>
                      <a:pPr>
                        <a:spcAft>
                          <a:spcPts val="0"/>
                        </a:spcAft>
                      </a:pPr>
                      <a:r>
                        <a:rPr sz="1200">
                          <a:solidFill>
                            <a:srgbClr val="E8ECF1"/>
                          </a:solidFill>
                          <a:latin typeface="Segoe UI"/>
                        </a:rPr>
                        <a:t>novelty</a:t>
                      </a:r>
                    </a:p>
                  </a:txBody>
                  <a:tcPr>
                    <a:solidFill>
                      <a:srgbClr val="212731"/>
                    </a:solidFill>
                  </a:tcPr>
                </a:tc>
                <a:tc>
                  <a:txBody>
                    <a:bodyPr/>
                    <a:lstStyle/>
                    <a:p>
                      <a:pPr>
                        <a:spcAft>
                          <a:spcPts val="0"/>
                        </a:spcAft>
                      </a:pPr>
                      <a:r>
                        <a:rPr sz="1200">
                          <a:solidFill>
                            <a:srgbClr val="E8ECF1"/>
                          </a:solidFill>
                          <a:latin typeface="Segoe UI"/>
                        </a:rPr>
                        <a:t>inject, no replacement</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Uncertainty is measurable only for SAMPLED prompts; unseen = novelty optimism (UCT). Precedent: TailSFT, STaR, ReST.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Prioritized replay (Schaul 2015) — the buffer's next form</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It's a flashcard box: Leitner (1972) = PER (2015).</a:t>
            </a:r>
          </a:p>
          <a:p>
            <a:pPr>
              <a:spcAft>
                <a:spcPts val="900"/>
              </a:spcAft>
            </a:pPr>
            <a:r>
              <a:rPr sz="1800" b="1">
                <a:solidFill>
                  <a:srgbClr val="E8ECF1"/>
                </a:solidFill>
                <a:latin typeface="Segoe UI"/>
              </a:rPr>
              <a:t>One GLOBAL score per prompt: Beta(1+wins, 1+losses) variance.</a:t>
            </a:r>
          </a:p>
          <a:p>
            <a:pPr>
              <a:spcAft>
                <a:spcPts val="900"/>
              </a:spcAft>
            </a:pPr>
            <a:r>
              <a:rPr sz="1800" b="1">
                <a:solidFill>
                  <a:srgbClr val="E8ECF1"/>
                </a:solidFill>
                <a:latin typeface="Segoe UI"/>
              </a:rPr>
              <a:t>Unseen = Beta(1,1) = max priority — 'we don't know' scores highest, free.</a:t>
            </a:r>
          </a:p>
          <a:p>
            <a:pPr>
              <a:spcAft>
                <a:spcPts val="900"/>
              </a:spcAft>
            </a:pPr>
            <a:r>
              <a:rPr sz="1800" b="1">
                <a:solidFill>
                  <a:srgbClr val="E8ECF1"/>
                </a:solidFill>
                <a:latin typeface="Segoe UI"/>
              </a:rPr>
              <a:t>Missed cards come back sooner; mastered cards stretch out</a:t>
            </a:r>
          </a:p>
          <a:p>
            <a:pPr>
              <a:spcAft>
                <a:spcPts val="400"/>
              </a:spcAft>
            </a:pPr>
            <a:r>
              <a:rPr sz="1500" b="0">
                <a:solidFill>
                  <a:srgbClr val="9AA6B4"/>
                </a:solidFill>
                <a:latin typeface="Segoe UI"/>
              </a:rPr>
              <a:t>     but NEVER leave the box (the epsilon-floor).</a:t>
            </a:r>
          </a:p>
          <a:p>
            <a:pPr>
              <a:spcAft>
                <a:spcPts val="900"/>
              </a:spcAft>
            </a:pPr>
            <a:r>
              <a:rPr sz="1800" b="1">
                <a:solidFill>
                  <a:srgbClr val="E8ECF1"/>
                </a:solidFill>
                <a:latin typeface="Segoe UI"/>
              </a:rPr>
              <a:t>Staleness term: old cards slowly resurface (drift guard).</a:t>
            </a:r>
          </a:p>
          <a:p>
            <a:pPr>
              <a:spcAft>
                <a:spcPts val="900"/>
              </a:spcAft>
            </a:pPr>
            <a:r>
              <a:rPr sz="1800" b="1">
                <a:solidFill>
                  <a:srgbClr val="E8ECF1"/>
                </a:solidFill>
                <a:latin typeface="Segoe UI"/>
              </a:rPr>
              <a:t>Priorities re-measured only when sampled — PER's own convention.</a:t>
            </a:r>
          </a:p>
        </p:txBody>
      </p:sp>
      <p:sp>
        <p:nvSpPr>
          <p:cNvPr id="5" name="Rounded Rectangle 4"/>
          <p:cNvSpPr/>
          <p:nvPr/>
        </p:nvSpPr>
        <p:spPr>
          <a:xfrm rot="21240000">
            <a:off x="9921240" y="4617720"/>
            <a:ext cx="1600200" cy="1051560"/>
          </a:xfrm>
          <a:prstGeom prst="roundRect">
            <a:avLst/>
          </a:prstGeom>
          <a:solidFill>
            <a:srgbClr val="2A333F"/>
          </a:solidFill>
          <a:ln w="19050">
            <a:solidFill>
              <a:srgbClr val="9AA6B4"/>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9AA6B4"/>
                </a:solidFill>
              </a:defRPr>
            </a:pPr>
            <a:r>
              <a:t>mastered</a:t>
            </a:r>
          </a:p>
        </p:txBody>
      </p:sp>
      <p:sp>
        <p:nvSpPr>
          <p:cNvPr id="6" name="Rounded Rectangle 5"/>
          <p:cNvSpPr/>
          <p:nvPr/>
        </p:nvSpPr>
        <p:spPr>
          <a:xfrm rot="180000">
            <a:off x="9464040" y="4800600"/>
            <a:ext cx="1600200" cy="1051560"/>
          </a:xfrm>
          <a:prstGeom prst="roundRect">
            <a:avLst/>
          </a:prstGeom>
          <a:solidFill>
            <a:srgbClr val="3A2F28"/>
          </a:solidFill>
          <a:ln w="19050">
            <a:solidFill>
              <a:srgbClr val="F5C56B"/>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5C56B"/>
                </a:solidFill>
              </a:defRPr>
            </a:pPr>
            <a:r>
              <a:t>new 50/50</a:t>
            </a:r>
          </a:p>
        </p:txBody>
      </p:sp>
      <p:sp>
        <p:nvSpPr>
          <p:cNvPr id="7" name="Rounded Rectangle 6"/>
          <p:cNvSpPr/>
          <p:nvPr/>
        </p:nvSpPr>
        <p:spPr>
          <a:xfrm rot="21480000">
            <a:off x="9006840" y="4983480"/>
            <a:ext cx="1600200" cy="1051560"/>
          </a:xfrm>
          <a:prstGeom prst="roundRect">
            <a:avLst/>
          </a:prstGeom>
          <a:solidFill>
            <a:srgbClr val="3D282C"/>
          </a:solidFill>
          <a:ln w="19050">
            <a:solidFill>
              <a:srgbClr val="F27A7A"/>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27A7A"/>
                </a:solidFill>
              </a:defRPr>
            </a:pPr>
            <a:r>
              <a:t>missed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world model was the judge all along</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Dyna-Q: learn a model of the ENVIRONMENT from experience.</a:t>
            </a:r>
          </a:p>
          <a:p>
            <a:pPr>
              <a:spcAft>
                <a:spcPts val="900"/>
              </a:spcAft>
            </a:pPr>
            <a:r>
              <a:rPr sz="1800" b="1">
                <a:solidFill>
                  <a:srgbClr val="E8ECF1"/>
                </a:solidFill>
                <a:latin typeface="Segoe UI"/>
              </a:rPr>
              <a:t>Our environment has one payout: the LLM judge. So a model of the judge</a:t>
            </a:r>
          </a:p>
          <a:p>
            <a:pPr>
              <a:spcAft>
                <a:spcPts val="400"/>
              </a:spcAft>
            </a:pPr>
            <a:r>
              <a:rPr sz="1500" b="0">
                <a:solidFill>
                  <a:srgbClr val="9AA6B4"/>
                </a:solidFill>
                <a:latin typeface="Segoe UI"/>
              </a:rPr>
              <a:t>     IS the complete world model — reward model = world model here.</a:t>
            </a:r>
          </a:p>
          <a:p>
            <a:pPr>
              <a:spcAft>
                <a:spcPts val="900"/>
              </a:spcAft>
            </a:pPr>
            <a:r>
              <a:rPr sz="1800" b="1">
                <a:solidFill>
                  <a:srgbClr val="E8ECF1"/>
                </a:solidFill>
                <a:latin typeface="Segoe UI"/>
              </a:rPr>
              <a:t>Token view: each next-token is a state→state decision; the judge pays</a:t>
            </a:r>
          </a:p>
          <a:p>
            <a:pPr>
              <a:spcAft>
                <a:spcPts val="400"/>
              </a:spcAft>
            </a:pPr>
            <a:r>
              <a:rPr sz="1500" b="0">
                <a:solidFill>
                  <a:srgbClr val="9AA6B4"/>
                </a:solidFill>
                <a:latin typeface="Segoe UI"/>
              </a:rPr>
              <a:t>     at the trajectory's end. Episode view: a bandit over whole answers.</a:t>
            </a:r>
          </a:p>
          <a:p>
            <a:pPr>
              <a:spcAft>
                <a:spcPts val="900"/>
              </a:spcAft>
            </a:pPr>
            <a:r>
              <a:rPr sz="1800" b="1">
                <a:solidFill>
                  <a:srgbClr val="E8ECF1"/>
                </a:solidFill>
                <a:latin typeface="Segoe UI"/>
              </a:rPr>
              <a:t>We built it TWICE with the same buffer + labels:</a:t>
            </a:r>
          </a:p>
          <a:p>
            <a:pPr>
              <a:spcAft>
                <a:spcPts val="400"/>
              </a:spcAft>
            </a:pPr>
            <a:r>
              <a:rPr sz="1500" b="0">
                <a:solidFill>
                  <a:srgbClr val="9AA6B4"/>
                </a:solidFill>
                <a:latin typeface="Segoe UI"/>
              </a:rPr>
              <a:t>     explicit — prompt_world_model.py, a 768→64→1 ensemble predicting verdicts;</a:t>
            </a:r>
          </a:p>
          <a:p>
            <a:pPr>
              <a:spcAft>
                <a:spcPts val="400"/>
              </a:spcAft>
            </a:pPr>
            <a:r>
              <a:rPr sz="1500" b="0">
                <a:solidFill>
                  <a:srgbClr val="9AA6B4"/>
                </a:solidFill>
                <a:latin typeface="Segoe UI"/>
              </a:rPr>
              <a:t>     implicit — IPO, the DPO-family result: the policy's own likelihood-ratios</a:t>
            </a:r>
          </a:p>
          <a:p>
            <a:pPr>
              <a:spcAft>
                <a:spcPts val="400"/>
              </a:spcAft>
            </a:pPr>
            <a:r>
              <a:rPr sz="1500" b="0">
                <a:solidFill>
                  <a:srgbClr val="F5C56B"/>
                </a:solidFill>
                <a:latin typeface="Segoe UI"/>
              </a:rPr>
              <a:t>     become the reward model. Policy and world model: one set of weights.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Dyna-MGPO — the loop the notes were pointing at</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Dyna-Q (model-based RL): act · model from experience ·</a:t>
            </a:r>
          </a:p>
          <a:p>
            <a:pPr>
              <a:spcAft>
                <a:spcPts val="400"/>
              </a:spcAft>
            </a:pPr>
            <a:r>
              <a:rPr sz="1500" b="0">
                <a:solidFill>
                  <a:srgbClr val="9AA6B4"/>
                </a:solidFill>
                <a:latin typeface="Segoe UI"/>
              </a:rPr>
              <a:t>     extra updates OFFLINE from the model, not the environment.</a:t>
            </a:r>
          </a:p>
          <a:p>
            <a:pPr>
              <a:spcAft>
                <a:spcPts val="900"/>
              </a:spcAft>
            </a:pPr>
            <a:r>
              <a:rPr sz="1800" b="1">
                <a:solidFill>
                  <a:srgbClr val="E8ECF1"/>
                </a:solidFill>
                <a:latin typeface="Segoe UI"/>
              </a:rPr>
              <a:t>Ours, one round:</a:t>
            </a:r>
          </a:p>
          <a:p>
            <a:pPr>
              <a:spcAft>
                <a:spcPts val="400"/>
              </a:spcAft>
            </a:pPr>
            <a:r>
              <a:rPr sz="1500" b="0">
                <a:solidFill>
                  <a:srgbClr val="9AA6B4"/>
                </a:solidFill>
                <a:latin typeface="Segoe UI"/>
              </a:rPr>
              <a:t>       ACT      GRPO rollouts, flashcard-PER picks the cards</a:t>
            </a:r>
          </a:p>
          <a:p>
            <a:pPr>
              <a:spcAft>
                <a:spcPts val="400"/>
              </a:spcAft>
            </a:pPr>
            <a:r>
              <a:rPr sz="1500" b="0">
                <a:solidFill>
                  <a:srgbClr val="9AA6B4"/>
                </a:solidFill>
                <a:latin typeface="Segoe UI"/>
              </a:rPr>
              <a:t>       REWARD   frozen judge scores every sample (the world pays)</a:t>
            </a:r>
          </a:p>
          <a:p>
            <a:pPr>
              <a:spcAft>
                <a:spcPts val="400"/>
              </a:spcAft>
            </a:pPr>
            <a:r>
              <a:rPr sz="1500" b="0">
                <a:solidFill>
                  <a:srgbClr val="9AA6B4"/>
                </a:solidFill>
                <a:latin typeface="Segoe UI"/>
              </a:rPr>
              <a:t>       STORE    replay ledger keeps (prompt, answer, score) — no longer discarded</a:t>
            </a:r>
          </a:p>
          <a:p>
            <a:pPr>
              <a:spcAft>
                <a:spcPts val="400"/>
              </a:spcAft>
            </a:pPr>
            <a:r>
              <a:rPr sz="1500" b="0">
                <a:solidFill>
                  <a:srgbClr val="9AA6B4"/>
                </a:solidFill>
                <a:latin typeface="Segoe UI"/>
              </a:rPr>
              <a:t>       LEARN    round boundary: mini IPO on the round's own pairs, merge, continue</a:t>
            </a:r>
          </a:p>
          <a:p>
            <a:pPr>
              <a:spcAft>
                <a:spcPts val="900"/>
              </a:spcAft>
            </a:pPr>
            <a:r>
              <a:rPr sz="1800" b="1">
                <a:solidFill>
                  <a:srgbClr val="E8ECF1"/>
                </a:solidFill>
                <a:latin typeface="Segoe UI"/>
              </a:rPr>
              <a:t>One deviation from textbook Dyna, on purpose: we replay REAL judged</a:t>
            </a:r>
          </a:p>
          <a:p>
            <a:pPr>
              <a:spcAft>
                <a:spcPts val="400"/>
              </a:spcAft>
            </a:pPr>
            <a:r>
              <a:rPr sz="1500" b="0">
                <a:solidFill>
                  <a:srgbClr val="F5C56B"/>
                </a:solidFill>
                <a:latin typeface="Segoe UI"/>
              </a:rPr>
              <a:t>     outcomes, never model-hallucinated ones — the safe half under a foolable judge.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course toolbox, scored against this project</a:t>
            </a:r>
          </a:p>
        </p:txBody>
      </p:sp>
      <p:graphicFrame>
        <p:nvGraphicFramePr>
          <p:cNvPr id="4" name="Table 3"/>
          <p:cNvGraphicFramePr>
            <a:graphicFrameLocks noGrp="1"/>
          </p:cNvGraphicFramePr>
          <p:nvPr/>
        </p:nvGraphicFramePr>
        <p:xfrm>
          <a:off x="868680" y="1463040"/>
          <a:ext cx="10424160" cy="3886200"/>
        </p:xfrm>
        <a:graphic>
          <a:graphicData uri="http://schemas.openxmlformats.org/drawingml/2006/table">
            <a:tbl>
              <a:tblPr>
                <a:tableStyleId>{5C22544A-7EE6-4342-B048-85BDC9FD1C3A}</a:tableStyleId>
              </a:tblPr>
              <a:tblGrid>
                <a:gridCol w="3474720"/>
                <a:gridCol w="3474720"/>
                <a:gridCol w="3474720"/>
              </a:tblGrid>
              <a:tr h="388620">
                <a:tc>
                  <a:txBody>
                    <a:bodyPr/>
                    <a:lstStyle/>
                    <a:p>
                      <a:pPr>
                        <a:spcAft>
                          <a:spcPts val="0"/>
                        </a:spcAft>
                      </a:pPr>
                      <a:r>
                        <a:rPr sz="1300" b="1">
                          <a:solidFill>
                            <a:srgbClr val="12161C"/>
                          </a:solidFill>
                          <a:latin typeface="Segoe UI"/>
                        </a:rPr>
                        <a:t>course concept</a:t>
                      </a:r>
                    </a:p>
                  </a:txBody>
                  <a:tcPr>
                    <a:solidFill>
                      <a:srgbClr val="5BC8F5"/>
                    </a:solidFill>
                  </a:tcPr>
                </a:tc>
                <a:tc>
                  <a:txBody>
                    <a:bodyPr/>
                    <a:lstStyle/>
                    <a:p>
                      <a:pPr>
                        <a:spcAft>
                          <a:spcPts val="0"/>
                        </a:spcAft>
                      </a:pPr>
                      <a:r>
                        <a:rPr sz="1300" b="1">
                          <a:solidFill>
                            <a:srgbClr val="12161C"/>
                          </a:solidFill>
                          <a:latin typeface="Segoe UI"/>
                        </a:rPr>
                        <a:t>where it landed here</a:t>
                      </a:r>
                    </a:p>
                  </a:txBody>
                  <a:tcPr>
                    <a:solidFill>
                      <a:srgbClr val="5BC8F5"/>
                    </a:solidFill>
                  </a:tcPr>
                </a:tc>
                <a:tc>
                  <a:txBody>
                    <a:bodyPr/>
                    <a:lstStyle/>
                    <a:p>
                      <a:pPr>
                        <a:spcAft>
                          <a:spcPts val="0"/>
                        </a:spcAft>
                      </a:pPr>
                      <a:r>
                        <a:rPr sz="1300" b="1">
                          <a:solidFill>
                            <a:srgbClr val="12161C"/>
                          </a:solidFill>
                          <a:latin typeface="Segoe UI"/>
                        </a:rPr>
                        <a:t>verdict</a:t>
                      </a:r>
                    </a:p>
                  </a:txBody>
                  <a:tcPr>
                    <a:solidFill>
                      <a:srgbClr val="5BC8F5"/>
                    </a:solidFill>
                  </a:tcPr>
                </a:tc>
              </a:tr>
              <a:tr h="388620">
                <a:tc>
                  <a:txBody>
                    <a:bodyPr/>
                    <a:lstStyle/>
                    <a:p>
                      <a:pPr>
                        <a:spcAft>
                          <a:spcPts val="0"/>
                        </a:spcAft>
                      </a:pPr>
                      <a:r>
                        <a:rPr sz="1200">
                          <a:solidFill>
                            <a:srgbClr val="E8ECF1"/>
                          </a:solidFill>
                          <a:latin typeface="Segoe UI"/>
                        </a:rPr>
                        <a:t>MDP formulation (part 1)</a:t>
                      </a:r>
                    </a:p>
                  </a:txBody>
                  <a:tcPr>
                    <a:solidFill>
                      <a:srgbClr val="1A1F27"/>
                    </a:solidFill>
                  </a:tcPr>
                </a:tc>
                <a:tc>
                  <a:txBody>
                    <a:bodyPr/>
                    <a:lstStyle/>
                    <a:p>
                      <a:pPr>
                        <a:spcAft>
                          <a:spcPts val="0"/>
                        </a:spcAft>
                      </a:pPr>
                      <a:r>
                        <a:rPr sz="1200">
                          <a:solidFill>
                            <a:srgbClr val="E8ECF1"/>
                          </a:solidFill>
                          <a:latin typeface="Segoe UI"/>
                        </a:rPr>
                        <a:t>episode = contextual bandit; token level = MDP, judge pays at the end</a:t>
                      </a:r>
                    </a:p>
                  </a:txBody>
                  <a:tcPr>
                    <a:solidFill>
                      <a:srgbClr val="1A1F27"/>
                    </a:solidFill>
                  </a:tcPr>
                </a:tc>
                <a:tc>
                  <a:txBody>
                    <a:bodyPr/>
                    <a:lstStyle/>
                    <a:p>
                      <a:pPr>
                        <a:spcAft>
                          <a:spcPts val="0"/>
                        </a:spcAft>
                      </a:pPr>
                      <a:r>
                        <a:rPr sz="1200">
                          <a:solidFill>
                            <a:srgbClr val="E8ECF1"/>
                          </a:solidFill>
                          <a:latin typeface="Segoe UI"/>
                        </a:rPr>
                        <a:t>the frame of every slide</a:t>
                      </a:r>
                    </a:p>
                  </a:txBody>
                  <a:tcPr>
                    <a:solidFill>
                      <a:srgbClr val="1A1F27"/>
                    </a:solidFill>
                  </a:tcPr>
                </a:tc>
              </a:tr>
              <a:tr h="388620">
                <a:tc>
                  <a:txBody>
                    <a:bodyPr/>
                    <a:lstStyle/>
                    <a:p>
                      <a:pPr>
                        <a:spcAft>
                          <a:spcPts val="0"/>
                        </a:spcAft>
                      </a:pPr>
                      <a:r>
                        <a:rPr sz="1200">
                          <a:solidFill>
                            <a:srgbClr val="E8ECF1"/>
                          </a:solidFill>
                          <a:latin typeface="Segoe UI"/>
                        </a:rPr>
                        <a:t>exploration under uncertainty (part 3)</a:t>
                      </a:r>
                    </a:p>
                  </a:txBody>
                  <a:tcPr>
                    <a:solidFill>
                      <a:srgbClr val="212731"/>
                    </a:solidFill>
                  </a:tcPr>
                </a:tc>
                <a:tc>
                  <a:txBody>
                    <a:bodyPr/>
                    <a:lstStyle/>
                    <a:p>
                      <a:pPr>
                        <a:spcAft>
                          <a:spcPts val="0"/>
                        </a:spcAft>
                      </a:pPr>
                      <a:r>
                        <a:rPr sz="1200">
                          <a:solidFill>
                            <a:srgbClr val="E8ECF1"/>
                          </a:solidFill>
                          <a:latin typeface="Segoe UI"/>
                        </a:rPr>
                        <a:t>train only prompts whose sampled outcomes disagree</a:t>
                      </a:r>
                    </a:p>
                  </a:txBody>
                  <a:tcPr>
                    <a:solidFill>
                      <a:srgbClr val="212731"/>
                    </a:solidFill>
                  </a:tcPr>
                </a:tc>
                <a:tc>
                  <a:txBody>
                    <a:bodyPr/>
                    <a:lstStyle/>
                    <a:p>
                      <a:pPr>
                        <a:spcAft>
                          <a:spcPts val="0"/>
                        </a:spcAft>
                      </a:pPr>
                      <a:r>
                        <a:rPr sz="1200">
                          <a:solidFill>
                            <a:srgbClr val="E8ECF1"/>
                          </a:solidFill>
                          <a:latin typeface="Segoe UI"/>
                        </a:rPr>
                        <a:t>KEPT — on in every run</a:t>
                      </a:r>
                    </a:p>
                  </a:txBody>
                  <a:tcPr>
                    <a:solidFill>
                      <a:srgbClr val="212731"/>
                    </a:solidFill>
                  </a:tcPr>
                </a:tc>
              </a:tr>
              <a:tr h="388620">
                <a:tc>
                  <a:txBody>
                    <a:bodyPr/>
                    <a:lstStyle/>
                    <a:p>
                      <a:pPr>
                        <a:spcAft>
                          <a:spcPts val="0"/>
                        </a:spcAft>
                      </a:pPr>
                      <a:r>
                        <a:rPr sz="1200">
                          <a:solidFill>
                            <a:srgbClr val="E8ECF1"/>
                          </a:solidFill>
                          <a:latin typeface="Segoe UI"/>
                        </a:rPr>
                        <a:t>optimistic initialization (part 3)</a:t>
                      </a:r>
                    </a:p>
                  </a:txBody>
                  <a:tcPr>
                    <a:solidFill>
                      <a:srgbClr val="1A1F27"/>
                    </a:solidFill>
                  </a:tcPr>
                </a:tc>
                <a:tc>
                  <a:txBody>
                    <a:bodyPr/>
                    <a:lstStyle/>
                    <a:p>
                      <a:pPr>
                        <a:spcAft>
                          <a:spcPts val="0"/>
                        </a:spcAft>
                      </a:pPr>
                      <a:r>
                        <a:rPr sz="1200">
                          <a:solidFill>
                            <a:srgbClr val="E8ECF1"/>
                          </a:solidFill>
                          <a:latin typeface="Segoe UI"/>
                        </a:rPr>
                        <a:t>unseen prompts enter at max priority — Beta(1,1)</a:t>
                      </a:r>
                    </a:p>
                  </a:txBody>
                  <a:tcPr>
                    <a:solidFill>
                      <a:srgbClr val="1A1F27"/>
                    </a:solidFill>
                  </a:tcPr>
                </a:tc>
                <a:tc>
                  <a:txBody>
                    <a:bodyPr/>
                    <a:lstStyle/>
                    <a:p>
                      <a:pPr>
                        <a:spcAft>
                          <a:spcPts val="0"/>
                        </a:spcAft>
                      </a:pPr>
                      <a:r>
                        <a:rPr sz="1200">
                          <a:solidFill>
                            <a:srgbClr val="E8ECF1"/>
                          </a:solidFill>
                          <a:latin typeface="Segoe UI"/>
                        </a:rPr>
                        <a:t>in the flashcard box</a:t>
                      </a:r>
                    </a:p>
                  </a:txBody>
                  <a:tcPr>
                    <a:solidFill>
                      <a:srgbClr val="1A1F27"/>
                    </a:solidFill>
                  </a:tcPr>
                </a:tc>
              </a:tr>
              <a:tr h="388620">
                <a:tc>
                  <a:txBody>
                    <a:bodyPr/>
                    <a:lstStyle/>
                    <a:p>
                      <a:pPr>
                        <a:spcAft>
                          <a:spcPts val="0"/>
                        </a:spcAft>
                      </a:pPr>
                      <a:r>
                        <a:rPr sz="1200">
                          <a:solidFill>
                            <a:srgbClr val="E8ECF1"/>
                          </a:solidFill>
                          <a:latin typeface="Segoe UI"/>
                        </a:rPr>
                        <a:t>prioritized replay (part 6)</a:t>
                      </a:r>
                    </a:p>
                  </a:txBody>
                  <a:tcPr>
                    <a:solidFill>
                      <a:srgbClr val="212731"/>
                    </a:solidFill>
                  </a:tcPr>
                </a:tc>
                <a:tc>
                  <a:txBody>
                    <a:bodyPr/>
                    <a:lstStyle/>
                    <a:p>
                      <a:pPr>
                        <a:spcAft>
                          <a:spcPts val="0"/>
                        </a:spcAft>
                      </a:pPr>
                      <a:r>
                        <a:rPr sz="1200">
                          <a:solidFill>
                            <a:srgbClr val="E8ECF1"/>
                          </a:solidFill>
                          <a:latin typeface="Segoe UI"/>
                        </a:rPr>
                        <a:t>flashcard prompt picking in the winning RL pass</a:t>
                      </a:r>
                    </a:p>
                  </a:txBody>
                  <a:tcPr>
                    <a:solidFill>
                      <a:srgbClr val="212731"/>
                    </a:solidFill>
                  </a:tcPr>
                </a:tc>
                <a:tc>
                  <a:txBody>
                    <a:bodyPr/>
                    <a:lstStyle/>
                    <a:p>
                      <a:pPr>
                        <a:spcAft>
                          <a:spcPts val="0"/>
                        </a:spcAft>
                      </a:pPr>
                      <a:r>
                        <a:rPr sz="1200">
                          <a:solidFill>
                            <a:srgbClr val="E8ECF1"/>
                          </a:solidFill>
                          <a:latin typeface="Segoe UI"/>
                        </a:rPr>
                        <a:t>KEPT — in the 8/14 pass</a:t>
                      </a:r>
                    </a:p>
                  </a:txBody>
                  <a:tcPr>
                    <a:solidFill>
                      <a:srgbClr val="212731"/>
                    </a:solidFill>
                  </a:tcPr>
                </a:tc>
              </a:tr>
              <a:tr h="388620">
                <a:tc>
                  <a:txBody>
                    <a:bodyPr/>
                    <a:lstStyle/>
                    <a:p>
                      <a:pPr>
                        <a:spcAft>
                          <a:spcPts val="0"/>
                        </a:spcAft>
                      </a:pPr>
                      <a:r>
                        <a:rPr sz="1200">
                          <a:solidFill>
                            <a:srgbClr val="E8ECF1"/>
                          </a:solidFill>
                          <a:latin typeface="Segoe UI"/>
                        </a:rPr>
                        <a:t>on-policy vs off-policy (part 3)</a:t>
                      </a:r>
                    </a:p>
                  </a:txBody>
                  <a:tcPr>
                    <a:solidFill>
                      <a:srgbClr val="1A1F27"/>
                    </a:solidFill>
                  </a:tcPr>
                </a:tc>
                <a:tc>
                  <a:txBody>
                    <a:bodyPr/>
                    <a:lstStyle/>
                    <a:p>
                      <a:pPr>
                        <a:spcAft>
                          <a:spcPts val="0"/>
                        </a:spcAft>
                      </a:pPr>
                      <a:r>
                        <a:rPr sz="1200">
                          <a:solidFill>
                            <a:srgbClr val="E8ECF1"/>
                          </a:solidFill>
                          <a:latin typeface="Segoe UI"/>
                        </a:rPr>
                        <a:t>2nd on-policy pass regressed x6 — confirmed on the locked board (fp p3: 2, flip2: 2); IPO polish reads 8 → 7</a:t>
                      </a:r>
                    </a:p>
                  </a:txBody>
                  <a:tcPr>
                    <a:solidFill>
                      <a:srgbClr val="1A1F27"/>
                    </a:solidFill>
                  </a:tcPr>
                </a:tc>
                <a:tc>
                  <a:txBody>
                    <a:bodyPr/>
                    <a:lstStyle/>
                    <a:p>
                      <a:pPr>
                        <a:spcAft>
                          <a:spcPts val="0"/>
                        </a:spcAft>
                      </a:pPr>
                      <a:r>
                        <a:rPr sz="1200">
                          <a:solidFill>
                            <a:srgbClr val="E8ECF1"/>
                          </a:solidFill>
                          <a:latin typeface="Segoe UI"/>
                        </a:rPr>
                        <a:t>THE finding</a:t>
                      </a:r>
                    </a:p>
                  </a:txBody>
                  <a:tcPr>
                    <a:solidFill>
                      <a:srgbClr val="1A1F27"/>
                    </a:solidFill>
                  </a:tcPr>
                </a:tc>
              </a:tr>
              <a:tr h="388620">
                <a:tc>
                  <a:txBody>
                    <a:bodyPr/>
                    <a:lstStyle/>
                    <a:p>
                      <a:pPr>
                        <a:spcAft>
                          <a:spcPts val="0"/>
                        </a:spcAft>
                      </a:pPr>
                      <a:r>
                        <a:rPr sz="1200">
                          <a:solidFill>
                            <a:srgbClr val="E8ECF1"/>
                          </a:solidFill>
                          <a:latin typeface="Segoe UI"/>
                        </a:rPr>
                        <a:t>world model (part 6)</a:t>
                      </a:r>
                    </a:p>
                  </a:txBody>
                  <a:tcPr>
                    <a:solidFill>
                      <a:srgbClr val="212731"/>
                    </a:solidFill>
                  </a:tcPr>
                </a:tc>
                <a:tc>
                  <a:txBody>
                    <a:bodyPr/>
                    <a:lstStyle/>
                    <a:p>
                      <a:pPr>
                        <a:spcAft>
                          <a:spcPts val="0"/>
                        </a:spcAft>
                      </a:pPr>
                      <a:r>
                        <a:rPr sz="1200">
                          <a:solidFill>
                            <a:srgbClr val="E8ECF1"/>
                          </a:solidFill>
                          <a:latin typeface="Segoe UI"/>
                        </a:rPr>
                        <a:t>model of the judge IS the world model; IPO carries it implicitly</a:t>
                      </a:r>
                    </a:p>
                  </a:txBody>
                  <a:tcPr>
                    <a:solidFill>
                      <a:srgbClr val="212731"/>
                    </a:solidFill>
                  </a:tcPr>
                </a:tc>
                <a:tc>
                  <a:txBody>
                    <a:bodyPr/>
                    <a:lstStyle/>
                    <a:p>
                      <a:pPr>
                        <a:spcAft>
                          <a:spcPts val="0"/>
                        </a:spcAft>
                      </a:pPr>
                      <a:r>
                        <a:rPr sz="1200">
                          <a:solidFill>
                            <a:srgbClr val="E8ECF1"/>
                          </a:solidFill>
                          <a:latin typeface="Segoe UI"/>
                        </a:rPr>
                        <a:t>+3 in 2 of 3 head-to-heads</a:t>
                      </a:r>
                    </a:p>
                  </a:txBody>
                  <a:tcPr>
                    <a:solidFill>
                      <a:srgbClr val="212731"/>
                    </a:solidFill>
                  </a:tcPr>
                </a:tc>
              </a:tr>
              <a:tr h="388620">
                <a:tc>
                  <a:txBody>
                    <a:bodyPr/>
                    <a:lstStyle/>
                    <a:p>
                      <a:pPr>
                        <a:spcAft>
                          <a:spcPts val="0"/>
                        </a:spcAft>
                      </a:pPr>
                      <a:r>
                        <a:rPr sz="1200">
                          <a:solidFill>
                            <a:srgbClr val="E8ECF1"/>
                          </a:solidFill>
                          <a:latin typeface="Segoe UI"/>
                        </a:rPr>
                        <a:t>Dyna (part 6)</a:t>
                      </a:r>
                    </a:p>
                  </a:txBody>
                  <a:tcPr>
                    <a:solidFill>
                      <a:srgbClr val="1A1F27"/>
                    </a:solidFill>
                  </a:tcPr>
                </a:tc>
                <a:tc>
                  <a:txBody>
                    <a:bodyPr/>
                    <a:lstStyle/>
                    <a:p>
                      <a:pPr>
                        <a:spcAft>
                          <a:spcPts val="0"/>
                        </a:spcAft>
                      </a:pPr>
                      <a:r>
                        <a:rPr sz="1200">
                          <a:solidFill>
                            <a:srgbClr val="E8ECF1"/>
                          </a:solidFill>
                          <a:latin typeface="Segoe UI"/>
                        </a:rPr>
                        <a:t>act → judge → store → offline update each round; real experience only</a:t>
                      </a:r>
                    </a:p>
                  </a:txBody>
                  <a:tcPr>
                    <a:solidFill>
                      <a:srgbClr val="1A1F27"/>
                    </a:solidFill>
                  </a:tcPr>
                </a:tc>
                <a:tc>
                  <a:txBody>
                    <a:bodyPr/>
                    <a:lstStyle/>
                    <a:p>
                      <a:pPr>
                        <a:spcAft>
                          <a:spcPts val="0"/>
                        </a:spcAft>
                      </a:pPr>
                      <a:r>
                        <a:rPr sz="1200">
                          <a:solidFill>
                            <a:srgbClr val="E8ECF1"/>
                          </a:solidFill>
                          <a:latin typeface="Segoe UI"/>
                        </a:rPr>
                        <a:t>tested: no credible win — and it exposed a judge-fooling mode</a:t>
                      </a:r>
                    </a:p>
                  </a:txBody>
                  <a:tcPr>
                    <a:solidFill>
                      <a:srgbClr val="1A1F27"/>
                    </a:solidFill>
                  </a:tcPr>
                </a:tc>
              </a:tr>
              <a:tr h="388620">
                <a:tc>
                  <a:txBody>
                    <a:bodyPr/>
                    <a:lstStyle/>
                    <a:p>
                      <a:pPr>
                        <a:spcAft>
                          <a:spcPts val="0"/>
                        </a:spcAft>
                      </a:pPr>
                      <a:r>
                        <a:rPr sz="1200">
                          <a:solidFill>
                            <a:srgbClr val="E8ECF1"/>
                          </a:solidFill>
                          <a:latin typeface="Segoe UI"/>
                        </a:rPr>
                        <a:t>learned verifier ensemble (part 6)</a:t>
                      </a:r>
                    </a:p>
                  </a:txBody>
                  <a:tcPr>
                    <a:solidFill>
                      <a:srgbClr val="212731"/>
                    </a:solidFill>
                  </a:tcPr>
                </a:tc>
                <a:tc>
                  <a:txBody>
                    <a:bodyPr/>
                    <a:lstStyle/>
                    <a:p>
                      <a:pPr>
                        <a:spcAft>
                          <a:spcPts val="0"/>
                        </a:spcAft>
                      </a:pPr>
                      <a:r>
                        <a:rPr sz="1200">
                          <a:solidFill>
                            <a:srgbClr val="E8ECF1"/>
                          </a:solidFill>
                          <a:latin typeface="Segoe UI"/>
                        </a:rPr>
                        <a:t>(q,a)→score heads picking among the model's own samples</a:t>
                      </a:r>
                    </a:p>
                  </a:txBody>
                  <a:tcPr>
                    <a:solidFill>
                      <a:srgbClr val="212731"/>
                    </a:solidFill>
                  </a:tcPr>
                </a:tc>
                <a:tc>
                  <a:txBody>
                    <a:bodyPr/>
                    <a:lstStyle/>
                    <a:p>
                      <a:pPr>
                        <a:spcAft>
                          <a:spcPts val="0"/>
                        </a:spcAft>
                      </a:pPr>
                      <a:r>
                        <a:rPr sz="1200">
                          <a:solidFill>
                            <a:srgbClr val="E8ECF1"/>
                          </a:solidFill>
                          <a:latin typeface="Segoe UI"/>
                        </a:rPr>
                        <a:t>tested: NO SIGNAL (AUC ≈ .5)</a:t>
                      </a:r>
                    </a:p>
                  </a:txBody>
                  <a:tcPr>
                    <a:solidFill>
                      <a:srgbClr val="212731"/>
                    </a:solidFill>
                  </a:tcPr>
                </a:tc>
              </a:tr>
              <a:tr h="388620">
                <a:tc>
                  <a:txBody>
                    <a:bodyPr/>
                    <a:lstStyle/>
                    <a:p>
                      <a:pPr>
                        <a:spcAft>
                          <a:spcPts val="0"/>
                        </a:spcAft>
                      </a:pPr>
                      <a:r>
                        <a:rPr sz="1200">
                          <a:solidFill>
                            <a:srgbClr val="E8ECF1"/>
                          </a:solidFill>
                          <a:latin typeface="Segoe UI"/>
                        </a:rPr>
                        <a:t>value iteration · tree search · DQN (parts 1-5)</a:t>
                      </a:r>
                    </a:p>
                  </a:txBody>
                  <a:tcPr>
                    <a:solidFill>
                      <a:srgbClr val="1A1F27"/>
                    </a:solidFill>
                  </a:tcPr>
                </a:tc>
                <a:tc>
                  <a:txBody>
                    <a:bodyPr/>
                    <a:lstStyle/>
                    <a:p>
                      <a:pPr>
                        <a:spcAft>
                          <a:spcPts val="0"/>
                        </a:spcAft>
                      </a:pPr>
                      <a:r>
                        <a:rPr sz="1200">
                          <a:solidFill>
                            <a:srgbClr val="E8ECF1"/>
                          </a:solidFill>
                          <a:latin typeface="Segoe UI"/>
                        </a:rPr>
                        <a:t>need a multi-step model or a value bootstrap; this problem is one step</a:t>
                      </a:r>
                    </a:p>
                  </a:txBody>
                  <a:tcPr>
                    <a:solidFill>
                      <a:srgbClr val="1A1F27"/>
                    </a:solidFill>
                  </a:tcPr>
                </a:tc>
                <a:tc>
                  <a:txBody>
                    <a:bodyPr/>
                    <a:lstStyle/>
                    <a:p>
                      <a:pPr>
                        <a:spcAft>
                          <a:spcPts val="0"/>
                        </a:spcAft>
                      </a:pPr>
                      <a:r>
                        <a:rPr sz="1200">
                          <a:solidFill>
                            <a:srgbClr val="E8ECF1"/>
                          </a:solidFill>
                          <a:latin typeface="Segoe UI"/>
                        </a:rPr>
                        <a:t>not applicable</a:t>
                      </a:r>
                    </a:p>
                  </a:txBody>
                  <a:tcPr>
                    <a:solidFill>
                      <a:srgbClr val="1A1F27"/>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The course's methods, each with where it landed and what it earned; numbers are correct counts on the frozen 16.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method ladder — what each rung bought (of 16)</a:t>
            </a:r>
          </a:p>
        </p:txBody>
      </p:sp>
      <p:graphicFrame>
        <p:nvGraphicFramePr>
          <p:cNvPr id="4" name="Table 3"/>
          <p:cNvGraphicFramePr>
            <a:graphicFrameLocks noGrp="1"/>
          </p:cNvGraphicFramePr>
          <p:nvPr/>
        </p:nvGraphicFramePr>
        <p:xfrm>
          <a:off x="868680" y="1463040"/>
          <a:ext cx="10424160" cy="2423160"/>
        </p:xfrm>
        <a:graphic>
          <a:graphicData uri="http://schemas.openxmlformats.org/drawingml/2006/table">
            <a:tbl>
              <a:tblPr>
                <a:tableStyleId>{5C22544A-7EE6-4342-B048-85BDC9FD1C3A}</a:tableStyleId>
              </a:tblPr>
              <a:tblGrid>
                <a:gridCol w="3474720"/>
                <a:gridCol w="3474720"/>
                <a:gridCol w="3474720"/>
              </a:tblGrid>
              <a:tr h="403860">
                <a:tc>
                  <a:txBody>
                    <a:bodyPr/>
                    <a:lstStyle/>
                    <a:p>
                      <a:pPr>
                        <a:spcAft>
                          <a:spcPts val="0"/>
                        </a:spcAft>
                      </a:pPr>
                      <a:r>
                        <a:rPr sz="1300" b="1">
                          <a:solidFill>
                            <a:srgbClr val="12161C"/>
                          </a:solidFill>
                          <a:latin typeface="Segoe UI"/>
                        </a:rPr>
                        <a:t>method</a:t>
                      </a:r>
                    </a:p>
                  </a:txBody>
                  <a:tcPr>
                    <a:solidFill>
                      <a:srgbClr val="5BC8F5"/>
                    </a:solidFill>
                  </a:tcPr>
                </a:tc>
                <a:tc>
                  <a:txBody>
                    <a:bodyPr/>
                    <a:lstStyle/>
                    <a:p>
                      <a:pPr>
                        <a:spcAft>
                          <a:spcPts val="0"/>
                        </a:spcAft>
                      </a:pPr>
                      <a:r>
                        <a:rPr sz="1300" b="1">
                          <a:solidFill>
                            <a:srgbClr val="12161C"/>
                          </a:solidFill>
                          <a:latin typeface="Segoe UI"/>
                        </a:rPr>
                        <a:t>locked board</a:t>
                      </a:r>
                    </a:p>
                  </a:txBody>
                  <a:tcPr>
                    <a:solidFill>
                      <a:srgbClr val="5BC8F5"/>
                    </a:solidFill>
                  </a:tcPr>
                </a:tc>
                <a:tc>
                  <a:txBody>
                    <a:bodyPr/>
                    <a:lstStyle/>
                    <a:p>
                      <a:pPr>
                        <a:spcAft>
                          <a:spcPts val="0"/>
                        </a:spcAft>
                      </a:pPr>
                      <a:r>
                        <a:rPr sz="1300" b="1">
                          <a:solidFill>
                            <a:srgbClr val="12161C"/>
                          </a:solidFill>
                          <a:latin typeface="Segoe UI"/>
                        </a:rPr>
                        <a:t>what the mechanism is</a:t>
                      </a:r>
                    </a:p>
                  </a:txBody>
                  <a:tcPr>
                    <a:solidFill>
                      <a:srgbClr val="5BC8F5"/>
                    </a:solidFill>
                  </a:tcPr>
                </a:tc>
              </a:tr>
              <a:tr h="403860">
                <a:tc>
                  <a:txBody>
                    <a:bodyPr/>
                    <a:lstStyle/>
                    <a:p>
                      <a:pPr>
                        <a:spcAft>
                          <a:spcPts val="0"/>
                        </a:spcAft>
                      </a:pPr>
                      <a:r>
                        <a:rPr sz="1200">
                          <a:solidFill>
                            <a:srgbClr val="E8ECF1"/>
                          </a:solidFill>
                          <a:latin typeface="Segoe UI"/>
                        </a:rPr>
                        <a:t>base (no training)</a:t>
                      </a:r>
                    </a:p>
                  </a:txBody>
                  <a:tcPr>
                    <a:solidFill>
                      <a:srgbClr val="1A1F27"/>
                    </a:solidFill>
                  </a:tcPr>
                </a:tc>
                <a:tc>
                  <a:txBody>
                    <a:bodyPr/>
                    <a:lstStyle/>
                    <a:p>
                      <a:pPr>
                        <a:spcAft>
                          <a:spcPts val="0"/>
                        </a:spcAft>
                      </a:pPr>
                      <a:r>
                        <a:rPr sz="1200">
                          <a:solidFill>
                            <a:srgbClr val="E8ECF1"/>
                          </a:solidFill>
                          <a:latin typeface="Segoe UI"/>
                        </a:rPr>
                        <a:t>4</a:t>
                      </a:r>
                    </a:p>
                  </a:txBody>
                  <a:tcPr>
                    <a:solidFill>
                      <a:srgbClr val="1A1F27"/>
                    </a:solidFill>
                  </a:tcPr>
                </a:tc>
                <a:tc>
                  <a:txBody>
                    <a:bodyPr/>
                    <a:lstStyle/>
                    <a:p>
                      <a:pPr>
                        <a:spcAft>
                          <a:spcPts val="0"/>
                        </a:spcAft>
                      </a:pPr>
                      <a:r>
                        <a:rPr sz="1200">
                          <a:solidFill>
                            <a:srgbClr val="E8ECF1"/>
                          </a:solidFill>
                          <a:latin typeface="Segoe UI"/>
                        </a:rPr>
                        <a:t>the 0.8B model as shipped</a:t>
                      </a:r>
                    </a:p>
                  </a:txBody>
                  <a:tcPr>
                    <a:solidFill>
                      <a:srgbClr val="1A1F27"/>
                    </a:solidFill>
                  </a:tcPr>
                </a:tc>
              </a:tr>
              <a:tr h="403860">
                <a:tc>
                  <a:txBody>
                    <a:bodyPr/>
                    <a:lstStyle/>
                    <a:p>
                      <a:pPr>
                        <a:spcAft>
                          <a:spcPts val="0"/>
                        </a:spcAft>
                      </a:pPr>
                      <a:r>
                        <a:rPr sz="1200">
                          <a:solidFill>
                            <a:srgbClr val="E8ECF1"/>
                          </a:solidFill>
                          <a:latin typeface="Segoe UI"/>
                        </a:rPr>
                        <a:t>+ full-param SFT</a:t>
                      </a:r>
                    </a:p>
                  </a:txBody>
                  <a:tcPr>
                    <a:solidFill>
                      <a:srgbClr val="212731"/>
                    </a:solidFill>
                  </a:tcPr>
                </a:tc>
                <a:tc>
                  <a:txBody>
                    <a:bodyPr/>
                    <a:lstStyle/>
                    <a:p>
                      <a:pPr>
                        <a:spcAft>
                          <a:spcPts val="0"/>
                        </a:spcAft>
                      </a:pPr>
                      <a:r>
                        <a:rPr sz="1200">
                          <a:solidFill>
                            <a:srgbClr val="E8ECF1"/>
                          </a:solidFill>
                          <a:latin typeface="Segoe UI"/>
                        </a:rPr>
                        <a:t>4</a:t>
                      </a:r>
                    </a:p>
                  </a:txBody>
                  <a:tcPr>
                    <a:solidFill>
                      <a:srgbClr val="212731"/>
                    </a:solidFill>
                  </a:tcPr>
                </a:tc>
                <a:tc>
                  <a:txBody>
                    <a:bodyPr/>
                    <a:lstStyle/>
                    <a:p>
                      <a:pPr>
                        <a:spcAft>
                          <a:spcPts val="0"/>
                        </a:spcAft>
                      </a:pPr>
                      <a:r>
                        <a:rPr sz="1200">
                          <a:solidFill>
                            <a:srgbClr val="E8ECF1"/>
                          </a:solidFill>
                          <a:latin typeface="Segoe UI"/>
                        </a:rPr>
                        <a:t>deposit: completion-only loss on domain QA</a:t>
                      </a:r>
                    </a:p>
                  </a:txBody>
                  <a:tcPr>
                    <a:solidFill>
                      <a:srgbClr val="212731"/>
                    </a:solidFill>
                  </a:tcPr>
                </a:tc>
              </a:tr>
              <a:tr h="403860">
                <a:tc>
                  <a:txBody>
                    <a:bodyPr/>
                    <a:lstStyle/>
                    <a:p>
                      <a:pPr>
                        <a:spcAft>
                          <a:spcPts val="0"/>
                        </a:spcAft>
                      </a:pPr>
                      <a:r>
                        <a:rPr sz="1200">
                          <a:solidFill>
                            <a:srgbClr val="E8ECF1"/>
                          </a:solidFill>
                          <a:latin typeface="Segoe UI"/>
                        </a:rPr>
                        <a:t>+ ReLoRA RL chain</a:t>
                      </a:r>
                    </a:p>
                  </a:txBody>
                  <a:tcPr>
                    <a:solidFill>
                      <a:srgbClr val="1A1F27"/>
                    </a:solidFill>
                  </a:tcPr>
                </a:tc>
                <a:tc>
                  <a:txBody>
                    <a:bodyPr/>
                    <a:lstStyle/>
                    <a:p>
                      <a:pPr>
                        <a:spcAft>
                          <a:spcPts val="0"/>
                        </a:spcAft>
                      </a:pPr>
                      <a:r>
                        <a:rPr sz="1200">
                          <a:solidFill>
                            <a:srgbClr val="E8ECF1"/>
                          </a:solidFill>
                          <a:latin typeface="Segoe UI"/>
                        </a:rPr>
                        <a:t>5</a:t>
                      </a:r>
                    </a:p>
                  </a:txBody>
                  <a:tcPr>
                    <a:solidFill>
                      <a:srgbClr val="1A1F27"/>
                    </a:solidFill>
                  </a:tcPr>
                </a:tc>
                <a:tc>
                  <a:txBody>
                    <a:bodyPr/>
                    <a:lstStyle/>
                    <a:p>
                      <a:pPr>
                        <a:spcAft>
                          <a:spcPts val="0"/>
                        </a:spcAft>
                      </a:pPr>
                      <a:r>
                        <a:rPr sz="1200">
                          <a:solidFill>
                            <a:srgbClr val="E8ECF1"/>
                          </a:solidFill>
                          <a:latin typeface="Segoe UI"/>
                        </a:rPr>
                        <a:t>LoRA pass, MERGE into weights, fresh LoRA, repeat</a:t>
                      </a:r>
                    </a:p>
                  </a:txBody>
                  <a:tcPr>
                    <a:solidFill>
                      <a:srgbClr val="1A1F27"/>
                    </a:solidFill>
                  </a:tcPr>
                </a:tc>
              </a:tr>
              <a:tr h="403860">
                <a:tc>
                  <a:txBody>
                    <a:bodyPr/>
                    <a:lstStyle/>
                    <a:p>
                      <a:pPr>
                        <a:spcAft>
                          <a:spcPts val="0"/>
                        </a:spcAft>
                      </a:pPr>
                      <a:r>
                        <a:rPr sz="1200">
                          <a:solidFill>
                            <a:srgbClr val="E8ECF1"/>
                          </a:solidFill>
                          <a:latin typeface="Segoe UI"/>
                        </a:rPr>
                        <a:t>+ 5-min offline IPO on a pass</a:t>
                      </a:r>
                    </a:p>
                  </a:txBody>
                  <a:tcPr>
                    <a:solidFill>
                      <a:srgbClr val="212731"/>
                    </a:solidFill>
                  </a:tcPr>
                </a:tc>
                <a:tc>
                  <a:txBody>
                    <a:bodyPr/>
                    <a:lstStyle/>
                    <a:p>
                      <a:pPr>
                        <a:spcAft>
                          <a:spcPts val="0"/>
                        </a:spcAft>
                      </a:pPr>
                      <a:r>
                        <a:rPr sz="1200">
                          <a:solidFill>
                            <a:srgbClr val="E8ECF1"/>
                          </a:solidFill>
                          <a:latin typeface="Segoe UI"/>
                        </a:rPr>
                        <a:t>7</a:t>
                      </a:r>
                    </a:p>
                  </a:txBody>
                  <a:tcPr>
                    <a:solidFill>
                      <a:srgbClr val="212731"/>
                    </a:solidFill>
                  </a:tcPr>
                </a:tc>
                <a:tc>
                  <a:txBody>
                    <a:bodyPr/>
                    <a:lstStyle/>
                    <a:p>
                      <a:pPr>
                        <a:spcAft>
                          <a:spcPts val="0"/>
                        </a:spcAft>
                      </a:pPr>
                      <a:r>
                        <a:rPr sz="1200">
                          <a:solidFill>
                            <a:srgbClr val="E8ECF1"/>
                          </a:solidFill>
                          <a:latin typeface="Segoe UI"/>
                        </a:rPr>
                        <a:t>the polish step; reads -1 under the locked grader</a:t>
                      </a:r>
                    </a:p>
                  </a:txBody>
                  <a:tcPr>
                    <a:solidFill>
                      <a:srgbClr val="212731"/>
                    </a:solidFill>
                  </a:tcPr>
                </a:tc>
              </a:tr>
              <a:tr h="403860">
                <a:tc>
                  <a:txBody>
                    <a:bodyPr/>
                    <a:lstStyle/>
                    <a:p>
                      <a:pPr>
                        <a:spcAft>
                          <a:spcPts val="0"/>
                        </a:spcAft>
                      </a:pPr>
                      <a:r>
                        <a:rPr sz="1200">
                          <a:solidFill>
                            <a:srgbClr val="E8ECF1"/>
                          </a:solidFill>
                          <a:latin typeface="Segoe UI"/>
                        </a:rPr>
                        <a:t>+ ONE full-param MGPO pass</a:t>
                      </a:r>
                    </a:p>
                  </a:txBody>
                  <a:tcPr>
                    <a:solidFill>
                      <a:srgbClr val="1A1F27"/>
                    </a:solidFill>
                  </a:tcPr>
                </a:tc>
                <a:tc>
                  <a:txBody>
                    <a:bodyPr/>
                    <a:lstStyle/>
                    <a:p>
                      <a:pPr>
                        <a:spcAft>
                          <a:spcPts val="0"/>
                        </a:spcAft>
                      </a:pPr>
                      <a:r>
                        <a:rPr sz="1200">
                          <a:solidFill>
                            <a:srgbClr val="E8ECF1"/>
                          </a:solidFill>
                          <a:latin typeface="Segoe UI"/>
                        </a:rPr>
                        <a:t>8</a:t>
                      </a:r>
                    </a:p>
                  </a:txBody>
                  <a:tcPr>
                    <a:solidFill>
                      <a:srgbClr val="1A1F27"/>
                    </a:solidFill>
                  </a:tcPr>
                </a:tc>
                <a:tc>
                  <a:txBody>
                    <a:bodyPr/>
                    <a:lstStyle/>
                    <a:p>
                      <a:pPr>
                        <a:spcAft>
                          <a:spcPts val="0"/>
                        </a:spcAft>
                      </a:pPr>
                      <a:r>
                        <a:rPr sz="1200">
                          <a:solidFill>
                            <a:srgbClr val="E8ECF1"/>
                          </a:solidFill>
                          <a:latin typeface="Segoe UI"/>
                        </a:rPr>
                        <a:t>THE WINNER — reproduced in two independent lanes</a:t>
                      </a:r>
                    </a:p>
                  </a:txBody>
                  <a:tcPr>
                    <a:solidFill>
                      <a:srgbClr val="1A1F27"/>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winner: ONE full-parameter MGPO pass — lift DOUBLED</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Base answered 4 of 16 — 25%. The winner answers 8 of 16 — 50%.</a:t>
            </a:r>
          </a:p>
          <a:p>
            <a:pPr>
              <a:spcAft>
                <a:spcPts val="900"/>
              </a:spcAft>
            </a:pPr>
            <a:r>
              <a:rPr sz="1800" b="1">
                <a:solidFill>
                  <a:srgbClr val="6ED38A"/>
                </a:solidFill>
                <a:latin typeface="Segoe UI"/>
              </a:rPr>
              <a:t>The winner is ONE full-parameter MGPO pass on the full-param SFT deposit.</a:t>
            </a:r>
          </a:p>
          <a:p>
            <a:pPr>
              <a:spcAft>
                <a:spcPts val="900"/>
              </a:spcAft>
            </a:pPr>
            <a:r>
              <a:rPr sz="1800" b="1">
                <a:solidFill>
                  <a:srgbClr val="E8ECF1"/>
                </a:solidFill>
                <a:latin typeface="Segoe UI"/>
              </a:rPr>
              <a:t>Reproduced: two independent lanes reached 8 on the same core recipe —</a:t>
            </a:r>
          </a:p>
          <a:p>
            <a:pPr>
              <a:spcAft>
                <a:spcPts val="400"/>
              </a:spcAft>
            </a:pPr>
            <a:r>
              <a:rPr sz="1500" b="0">
                <a:solidFill>
                  <a:srgbClr val="9AA6B4"/>
                </a:solidFill>
                <a:latin typeface="Segoe UI"/>
              </a:rPr>
              <a:t>     full-param GRPO, lr 1e-5, G=4, binary-gate judge reward, deposit first.</a:t>
            </a:r>
          </a:p>
          <a:p>
            <a:pPr>
              <a:spcAft>
                <a:spcPts val="900"/>
              </a:spcAft>
            </a:pPr>
            <a:r>
              <a:rPr sz="1800" b="1">
                <a:solidFill>
                  <a:srgbClr val="F5C56B"/>
                </a:solidFill>
                <a:latin typeface="Segoe UI"/>
              </a:rPr>
              <a:t>Tried on top; changed NOTHING on the locked grader:</a:t>
            </a:r>
          </a:p>
          <a:p>
            <a:pPr>
              <a:spcAft>
                <a:spcPts val="400"/>
              </a:spcAft>
            </a:pPr>
            <a:r>
              <a:rPr sz="1500" b="0">
                <a:solidFill>
                  <a:srgbClr val="F5C56B"/>
                </a:solidFill>
                <a:latin typeface="Segoe UI"/>
              </a:rPr>
              <a:t>     5-min IPO polish 8 → 7 · Dyna in-loop updates 7 → 7 · every second</a:t>
            </a:r>
          </a:p>
          <a:p>
            <a:pPr>
              <a:spcAft>
                <a:spcPts val="400"/>
              </a:spcAft>
            </a:pPr>
            <a:r>
              <a:rPr sz="1500" b="0">
                <a:solidFill>
                  <a:srgbClr val="F5C56B"/>
                </a:solidFill>
                <a:latin typeface="Segoe UI"/>
              </a:rPr>
              <a:t>     pass on a lifted checkpoint COLLAPSED (2-5 of 16). One good pass. Stop.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RL chain is ReLoRA — merge, then start fresh</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This has a name: ReLoRA (arXiv:2307.05695). rank(A+B) ≤ rank(A)+rank(B),</a:t>
            </a:r>
          </a:p>
          <a:p>
            <a:pPr>
              <a:spcAft>
                <a:spcPts val="400"/>
              </a:spcAft>
            </a:pPr>
            <a:r>
              <a:rPr sz="1500" b="0">
                <a:solidFill>
                  <a:srgbClr val="9AA6B4"/>
                </a:solidFill>
                <a:latin typeface="Segoe UI"/>
              </a:rPr>
              <a:t>     so k cycles at rank r accumulate an update of effective rank up to k·r —</a:t>
            </a:r>
          </a:p>
          <a:p>
            <a:pPr>
              <a:spcAft>
                <a:spcPts val="400"/>
              </a:spcAft>
            </a:pPr>
            <a:r>
              <a:rPr sz="1500" b="0">
                <a:solidFill>
                  <a:srgbClr val="9AA6B4"/>
                </a:solidFill>
                <a:latin typeface="Segoe UI"/>
              </a:rPr>
              <a:t>     high-rank capacity at low-rank memory cost.</a:t>
            </a:r>
          </a:p>
          <a:p>
            <a:pPr>
              <a:spcAft>
                <a:spcPts val="900"/>
              </a:spcAft>
            </a:pPr>
            <a:r>
              <a:rPr sz="1800" b="1">
                <a:solidFill>
                  <a:srgbClr val="E8ECF1"/>
                </a:solidFill>
                <a:latin typeface="Segoe UI"/>
              </a:rPr>
              <a:t>MERGE = fold the adapter's learned delta permanently into the weights.</a:t>
            </a:r>
          </a:p>
          <a:p>
            <a:pPr>
              <a:spcAft>
                <a:spcPts val="400"/>
              </a:spcAft>
            </a:pPr>
            <a:r>
              <a:rPr sz="1500" b="0">
                <a:solidFill>
                  <a:srgbClr val="9AA6B4"/>
                </a:solidFill>
                <a:latin typeface="Segoe UI"/>
              </a:rPr>
              <a:t>     The adapter disappears; one plain model remains.</a:t>
            </a:r>
          </a:p>
          <a:p>
            <a:pPr>
              <a:spcAft>
                <a:spcPts val="900"/>
              </a:spcAft>
            </a:pPr>
            <a:r>
              <a:rPr sz="1800" b="1">
                <a:solidFill>
                  <a:srgbClr val="9AA6B4"/>
                </a:solidFill>
                <a:latin typeface="Segoe UI"/>
              </a:rPr>
              <a:t>SFT checkpoint  (full model — no adapter to merge at the handoff)</a:t>
            </a:r>
          </a:p>
          <a:p>
            <a:pPr>
              <a:spcAft>
                <a:spcPts val="400"/>
              </a:spcAft>
            </a:pPr>
            <a:r>
              <a:rPr sz="1500" b="0">
                <a:solidFill>
                  <a:srgbClr val="9AA6B4"/>
                </a:solidFill>
                <a:latin typeface="Segoe UI"/>
              </a:rPr>
              <a:t>     ↓  fresh zero-init LoRA #1 → run → eval 0.3125 · MERGE</a:t>
            </a:r>
          </a:p>
          <a:p>
            <a:pPr>
              <a:spcAft>
                <a:spcPts val="400"/>
              </a:spcAft>
            </a:pPr>
            <a:r>
              <a:rPr sz="1500" b="0">
                <a:solidFill>
                  <a:srgbClr val="9AA6B4"/>
                </a:solidFill>
                <a:latin typeface="Segoe UI"/>
              </a:rPr>
              <a:t>     ↓  fresh zero-init LoRA #2 → run → eval 0.3750 · MERGE</a:t>
            </a:r>
          </a:p>
          <a:p>
            <a:pPr>
              <a:spcAft>
                <a:spcPts val="400"/>
              </a:spcAft>
            </a:pPr>
            <a:r>
              <a:rPr sz="1500" b="0">
                <a:solidFill>
                  <a:srgbClr val="9AA6B4"/>
                </a:solidFill>
                <a:latin typeface="Segoe UI"/>
              </a:rPr>
              <a:t>     ↓  fresh zero-init LoRA #3 → run → eval 0.5000 · MERGE → chain-final</a:t>
            </a:r>
          </a:p>
          <a:p>
            <a:pPr>
              <a:spcAft>
                <a:spcPts val="900"/>
              </a:spcAft>
            </a:pPr>
            <a:r>
              <a:rPr sz="1800" b="1">
                <a:solidFill>
                  <a:srgbClr val="F5C56B"/>
                </a:solidFill>
                <a:latin typeface="Segoe UI"/>
              </a:rPr>
              <a:t>RL has no epochs. Merges happen at RUN boundaries, ~every 12 steps.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PATH THAT WORKED</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6ED38A"/>
                </a:solidFill>
                <a:latin typeface="Segoe UI"/>
              </a:rPr>
              <a:t>1.  FULL-PARAMETER SFT — 3 epochs, lr 1e-5, completion-only loss.</a:t>
            </a:r>
          </a:p>
          <a:p>
            <a:pPr>
              <a:spcAft>
                <a:spcPts val="400"/>
              </a:spcAft>
            </a:pPr>
            <a:r>
              <a:rPr sz="1500" b="0">
                <a:solidFill>
                  <a:srgbClr val="9AA6B4"/>
                </a:solidFill>
                <a:latin typeface="Segoe UI"/>
              </a:rPr>
              <a:t>     Adapters deposit knowledge but it does not survive RL. Full-param does.</a:t>
            </a:r>
          </a:p>
          <a:p>
            <a:pPr>
              <a:spcAft>
                <a:spcPts val="900"/>
              </a:spcAft>
            </a:pPr>
            <a:r>
              <a:rPr sz="1800" b="1">
                <a:solidFill>
                  <a:srgbClr val="6ED38A"/>
                </a:solidFill>
                <a:latin typeface="Segoe UI"/>
              </a:rPr>
              <a:t>2.  ONE full-param RL pass — GRPO, reward scaling off, flashcard prompt picks.</a:t>
            </a:r>
          </a:p>
          <a:p>
            <a:pPr>
              <a:spcAft>
                <a:spcPts val="400"/>
              </a:spcAft>
            </a:pPr>
            <a:r>
              <a:rPr sz="1500" b="0">
                <a:solidFill>
                  <a:srgbClr val="9AA6B4"/>
                </a:solidFill>
                <a:latin typeface="Segoe UI"/>
              </a:rPr>
              <a:t>     Second on-policy passes REGRESSED in six lineages; one pass consolidates.</a:t>
            </a:r>
          </a:p>
          <a:p>
            <a:pPr>
              <a:spcAft>
                <a:spcPts val="900"/>
              </a:spcAft>
            </a:pPr>
            <a:r>
              <a:rPr sz="1800" b="1">
                <a:solidFill>
                  <a:srgbClr val="6ED38A"/>
                </a:solidFill>
                <a:latin typeface="Segoe UI"/>
              </a:rPr>
              <a:t>3.  BINARY GATE reward at 0.70, plus a zero-sum brevity term,</a:t>
            </a:r>
          </a:p>
          <a:p>
            <a:pPr>
              <a:spcAft>
                <a:spcPts val="400"/>
              </a:spcAft>
            </a:pPr>
            <a:r>
              <a:rPr sz="1500" b="0">
                <a:solidFill>
                  <a:srgbClr val="9AA6B4"/>
                </a:solidFill>
                <a:latin typeface="Segoe UI"/>
              </a:rPr>
              <a:t>     judged by a 4B model applying a WRITTEN rubric, one call per answer.</a:t>
            </a:r>
          </a:p>
          <a:p>
            <a:pPr>
              <a:spcAft>
                <a:spcPts val="900"/>
              </a:spcAft>
            </a:pPr>
            <a:r>
              <a:rPr sz="1800" b="1">
                <a:solidFill>
                  <a:srgbClr val="6ED38A"/>
                </a:solidFill>
                <a:latin typeface="Segoe UI"/>
              </a:rPr>
              <a:t>4.  Threshold-spanning replay — train the boundary, not the settled.</a:t>
            </a:r>
          </a:p>
          <a:p>
            <a:pPr>
              <a:spcAft>
                <a:spcPts val="900"/>
              </a:spcAft>
            </a:pPr>
            <a:r>
              <a:rPr sz="1800" b="1">
                <a:solidFill>
                  <a:srgbClr val="6ED38A"/>
                </a:solidFill>
                <a:latin typeface="Segoe UI"/>
              </a:rPr>
              <a:t>5.  SHARPEN OFFLINE: harvest the model's own k=8 samples,</a:t>
            </a:r>
          </a:p>
          <a:p>
            <a:pPr>
              <a:spcAft>
                <a:spcPts val="400"/>
              </a:spcAft>
            </a:pPr>
            <a:r>
              <a:rPr sz="1500" b="0">
                <a:solidFill>
                  <a:srgbClr val="9AA6B4"/>
                </a:solidFill>
                <a:latin typeface="Segoe UI"/>
              </a:rPr>
              <a:t>     24 judge-picked pairs, 5 minutes of IPO, merge. No second RL pass.</a:t>
            </a:r>
          </a:p>
          <a:p>
            <a:pPr>
              <a:spcAft>
                <a:spcPts val="900"/>
              </a:spcAft>
            </a:pPr>
            <a:r>
              <a:rPr sz="1800" b="1">
                <a:solidFill>
                  <a:srgbClr val="6ED38A"/>
                </a:solidFill>
                <a:latin typeface="Segoe UI"/>
              </a:rPr>
              <a:t>base 4  →  best trained 8   of 16, on the locked scoring mechanism.</a:t>
            </a:r>
          </a:p>
          <a:p>
            <a:pPr>
              <a:spcAft>
                <a:spcPts val="400"/>
              </a:spcAft>
            </a:pPr>
            <a:r>
              <a:rPr sz="1500" b="0">
                <a:solidFill>
                  <a:srgbClr val="9AA6B4"/>
                </a:solidFill>
                <a:latin typeface="Segoe UI"/>
              </a:rPr>
              <a:t>     The end-to-end lift is the result; the method ranking is not resolvable.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HPO is the GATE, not a tuning nicety</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It is what makes each stage a VERDICT instead of an opinion.</a:t>
            </a:r>
          </a:p>
          <a:p>
            <a:pPr>
              <a:spcAft>
                <a:spcPts val="900"/>
              </a:spcAft>
            </a:pPr>
            <a:r>
              <a:rPr sz="1800" b="1">
                <a:solidFill>
                  <a:srgbClr val="E8ECF1"/>
                </a:solidFill>
                <a:latin typeface="Segoe UI"/>
              </a:rPr>
              <a:t>NO LIFT = NO FULL. A configuration that cannot show lift in a short</a:t>
            </a:r>
          </a:p>
          <a:p>
            <a:pPr>
              <a:spcAft>
                <a:spcPts val="400"/>
              </a:spcAft>
            </a:pPr>
            <a:r>
              <a:rPr sz="1500" b="0">
                <a:solidFill>
                  <a:srgbClr val="9AA6B4"/>
                </a:solidFill>
                <a:latin typeface="Segoe UI"/>
              </a:rPr>
              <a:t>     search never earns a multi-hour run.</a:t>
            </a:r>
          </a:p>
          <a:p>
            <a:pPr>
              <a:spcAft>
                <a:spcPts val="900"/>
              </a:spcAft>
            </a:pPr>
            <a:r>
              <a:rPr sz="1800" b="1">
                <a:solidFill>
                  <a:srgbClr val="E8ECF1"/>
                </a:solidFill>
                <a:latin typeface="Segoe UI"/>
              </a:rPr>
              <a:t>It STOPPED CPT. It passed RL, 17 trials deep.</a:t>
            </a:r>
          </a:p>
          <a:p>
            <a:pPr>
              <a:spcAft>
                <a:spcPts val="400"/>
              </a:spcAft>
            </a:pPr>
            <a:r>
              <a:rPr sz="1500" b="0">
                <a:solidFill>
                  <a:srgbClr val="9AA6B4"/>
                </a:solidFill>
                <a:latin typeface="Segoe UI"/>
              </a:rPr>
              <a:t>     And the ceiling it found — one climb, never two — is what told us to</a:t>
            </a:r>
          </a:p>
          <a:p>
            <a:pPr>
              <a:spcAft>
                <a:spcPts val="400"/>
              </a:spcAft>
            </a:pPr>
            <a:r>
              <a:rPr sz="1500" b="0">
                <a:solidFill>
                  <a:srgbClr val="9AA6B4"/>
                </a:solidFill>
                <a:latin typeface="Segoe UI"/>
              </a:rPr>
              <a:t>     CHAIN runs rather than keep tuning.</a:t>
            </a:r>
          </a:p>
          <a:p>
            <a:pPr>
              <a:spcAft>
                <a:spcPts val="900"/>
              </a:spcAft>
            </a:pPr>
            <a:r>
              <a:rPr sz="1800" b="1">
                <a:solidFill>
                  <a:srgbClr val="F5C56B"/>
                </a:solidFill>
                <a:latin typeface="Segoe UI"/>
              </a:rPr>
              <a:t>LIMITATION: those 17 trials DID NOT MERGE adapters.</a:t>
            </a:r>
          </a:p>
          <a:p>
            <a:pPr>
              <a:spcAft>
                <a:spcPts val="400"/>
              </a:spcAft>
            </a:pPr>
            <a:r>
              <a:rPr sz="1500" b="0">
                <a:solidFill>
                  <a:srgbClr val="9AA6B4"/>
                </a:solidFill>
                <a:latin typeface="Segoe UI"/>
              </a:rPr>
              <a:t>     HPO searched the UNMERGED single-run setting — exactly where</a:t>
            </a:r>
          </a:p>
          <a:p>
            <a:pPr>
              <a:spcAft>
                <a:spcPts val="400"/>
              </a:spcAft>
            </a:pPr>
            <a:r>
              <a:rPr sz="1500" b="0">
                <a:solidFill>
                  <a:srgbClr val="9AA6B4"/>
                </a:solidFill>
                <a:latin typeface="Segoe UI"/>
              </a:rPr>
              <a:t>     one-climb-then-plateau is expected. Merging inside the search is UNTESTED.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What I would do next</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1. RECORD OUTPUT LENGTH in the eval. Cheapest fix, everything inherits it.</a:t>
            </a:r>
          </a:p>
          <a:p>
            <a:pPr>
              <a:spcAft>
                <a:spcPts val="900"/>
              </a:spcAft>
            </a:pPr>
            <a:r>
              <a:rPr sz="1800" b="1">
                <a:solidFill>
                  <a:srgbClr val="E8ECF1"/>
                </a:solidFill>
                <a:latin typeface="Segoe UI"/>
              </a:rPr>
              <a:t>2. ABLATE THE REPLAY BUFFER — one filter-off arm settles a PROVEN claim</a:t>
            </a:r>
          </a:p>
          <a:p>
            <a:pPr>
              <a:spcAft>
                <a:spcPts val="400"/>
              </a:spcAft>
            </a:pPr>
            <a:r>
              <a:rPr sz="1500" b="0">
                <a:solidFill>
                  <a:srgbClr val="9AA6B4"/>
                </a:solidFill>
                <a:latin typeface="Segoe UI"/>
              </a:rPr>
              <a:t>     we had to demote.</a:t>
            </a:r>
          </a:p>
          <a:p>
            <a:pPr>
              <a:spcAft>
                <a:spcPts val="900"/>
              </a:spcAft>
            </a:pPr>
            <a:r>
              <a:rPr sz="1800" b="1">
                <a:solidFill>
                  <a:srgbClr val="E8ECF1"/>
                </a:solidFill>
                <a:latin typeface="Segoe UI"/>
              </a:rPr>
              <a:t>3. A BIGGER EVAL. 16 items proves direction; it cannot price the gain.</a:t>
            </a:r>
          </a:p>
          <a:p>
            <a:pPr>
              <a:spcAft>
                <a:spcPts val="900"/>
              </a:spcAft>
            </a:pPr>
            <a:r>
              <a:rPr sz="1800" b="1">
                <a:solidFill>
                  <a:srgbClr val="E8ECF1"/>
                </a:solidFill>
                <a:latin typeface="Segoe UI"/>
              </a:rPr>
              <a:t>4. RESTORE THE FULL OBJECTIVE — answering only when it KNOWS.</a:t>
            </a:r>
          </a:p>
          <a:p>
            <a:pPr>
              <a:spcAft>
                <a:spcPts val="400"/>
              </a:spcAft>
            </a:pPr>
            <a:r>
              <a:rPr sz="1500" b="0">
                <a:solidFill>
                  <a:srgbClr val="9AA6B4"/>
                </a:solidFill>
                <a:latin typeface="Segoe UI"/>
              </a:rPr>
              <a:t>     The abstention machinery is built and lane-switched; it waits on a run.</a:t>
            </a:r>
          </a:p>
          <a:p>
            <a:pPr>
              <a:spcAft>
                <a:spcPts val="900"/>
              </a:spcAft>
            </a:pPr>
            <a:r>
              <a:rPr sz="1800" b="1">
                <a:solidFill>
                  <a:srgbClr val="6ED38A"/>
                </a:solidFill>
                <a:latin typeface="Segoe UI"/>
              </a:rPr>
              <a:t>SFT put the knowledge in. RL made more of it come out — and ONE</a:t>
            </a:r>
          </a:p>
          <a:p>
            <a:pPr>
              <a:spcAft>
                <a:spcPts val="900"/>
              </a:spcAft>
            </a:pPr>
            <a:r>
              <a:rPr sz="1800" b="1">
                <a:solidFill>
                  <a:srgbClr val="6ED38A"/>
                </a:solidFill>
                <a:latin typeface="Segoe UI"/>
              </a:rPr>
              <a:t>MGPO pass came out furthest: 4 → 8. Pretraining on this corpus did neither.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