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 prompt counts recounted from judged_pairs_rl_wm_r1to5.jsonl</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The judge scores each answer 0 to 1. Bands pay a step instead: 0 below 0.70, 0.5 from 0.70, 1 from 0.90. Hypothesis: bands give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A step trains on 16 prompts, 4 answers each. A prompt whose answers all earn the same reward teaches nothing and is dropped. Count prompts judged per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in eight answers paid the same reward. Raw score judged 32 prompts to fill a step where bands judged 73 (same seed and base); no lift (entry 12).</a:t>
            </a:r>
          </a:p>
        </p:txBody>
      </p:sp>
      <p:sp>
        <p:nvSpPr>
          <p:cNvPr id="21" name="TextBox 20"/>
          <p:cNvSpPr txBox="1"/>
          <p:nvPr/>
        </p:nvSpPr>
        <p:spPr>
          <a:xfrm>
            <a:off x="5285232" y="3740000"/>
            <a:ext cx="5900623" cy="230000"/>
          </a:xfrm>
          <a:prstGeom prst="rect">
            <a:avLst/>
          </a:prstGeom>
          <a:noFill/>
        </p:spPr>
        <p:txBody>
          <a:bodyPr wrap="square" lIns="0" rIns="0">
            <a:spAutoFit/>
          </a:bodyPr>
          <a:lstStyle/>
          <a:p>
            <a:r>
              <a:rPr sz="1100" i="1">
                <a:solidFill>
                  <a:srgbClr val="5E6B75"/>
                </a:solidFill>
                <a:latin typeface="Calibri"/>
              </a:rPr>
              <a:t>Made-up scores. A prompt is kept only if its answers fall on both sides of a cutoff: binary 0.70; bands 0.70 or 0.90; raw score any difference. C is the one bands rescue.</a:t>
            </a:r>
          </a:p>
        </p:txBody>
      </p:sp>
      <p:sp>
        <p:nvSpPr>
          <p:cNvPr id="22" name="TextBox 21"/>
          <p:cNvSpPr txBox="1"/>
          <p:nvPr/>
        </p:nvSpPr>
        <p:spPr>
          <a:xfrm>
            <a:off x="5285232" y="4110000"/>
            <a:ext cx="5900623" cy="600000"/>
          </a:xfrm>
          <a:prstGeom prst="rect">
            <a:avLst/>
          </a:prstGeom>
          <a:noFill/>
        </p:spPr>
        <p:txBody>
          <a:bodyPr wrap="square" lIns="0" rIns="0">
            <a:spAutoFit/>
          </a:bodyPr>
          <a:lstStyle/>
          <a:p>
            <a:r>
              <a:rPr b="1" sz="1200">
                <a:solidFill>
                  <a:srgbClr val="16222B"/>
                </a:solidFill>
                <a:latin typeface="Calibri"/>
              </a:rPr>
              <a:t>Of 308 real prompts, binary kept 85, bands 88, raw score 249. </a:t>
            </a:r>
            <a:r>
              <a:rPr sz="1200">
                <a:solidFill>
                  <a:srgbClr val="16222B"/>
                </a:solidFill>
                <a:latin typeface="Calibri"/>
              </a:rPr>
              <a:t>Bands rescued 3 over binary: answers rarely reach 0.70, so the 0.90 cutoff seldom splits a group. Raw score kept 161 that bands dropped. (Recount of logged judge scores, not a new run.)</a:t>
            </a:r>
          </a:p>
        </p:txBody>
      </p:sp>
      <p:sp>
        <p:nvSpPr>
          <p:cNvPr id="23" name="TextBox 22"/>
          <p:cNvSpPr txBox="1"/>
          <p:nvPr/>
        </p:nvSpPr>
        <p:spPr>
          <a:xfrm>
            <a:off x="5285232" y="4700000"/>
            <a:ext cx="5900623" cy="560000"/>
          </a:xfrm>
          <a:prstGeom prst="rect">
            <a:avLst/>
          </a:prstGeom>
          <a:noFill/>
        </p:spPr>
        <p:txBody>
          <a:bodyPr wrap="square" lIns="0" rIns="0">
            <a:spAutoFit/>
          </a:bodyPr>
          <a:lstStyle/>
          <a:p>
            <a:r>
              <a:rPr sz="1300" i="0">
                <a:solidFill>
                  <a:srgbClr val="B84A0B"/>
                </a:solidFill>
                <a:latin typeface="Calibri"/>
              </a:rPr>
              <a:t>211 of 308 prompts were like A: every answer under 0.70.</a:t>
            </a:r>
          </a:p>
        </p:txBody>
      </p:sp>
      <p:graphicFrame>
        <p:nvGraphicFramePr>
          <p:cNvPr id="24" name="Table 23"/>
          <p:cNvGraphicFramePr>
            <a:graphicFrameLocks noGrp="1"/>
          </p:cNvGraphicFramePr>
          <p:nvPr/>
        </p:nvGraphicFramePr>
        <p:xfrm>
          <a:off x="5285232" y="2120000"/>
          <a:ext cx="5900623" cy="1500000"/>
        </p:xfrm>
        <a:graphic>
          <a:graphicData uri="http://schemas.openxmlformats.org/drawingml/2006/table">
            <a:tbl>
              <a:tblPr firstRow="1" bandRow="1">
                <a:tableStyleId>{5C22544A-7EE6-4342-B048-85BDC9FD1C3A}</a:tableStyleId>
              </a:tblPr>
              <a:tblGrid>
                <a:gridCol w="780000"/>
                <a:gridCol w="1250000"/>
                <a:gridCol w="1370000"/>
                <a:gridCol w="1370000"/>
                <a:gridCol w="1130623"/>
              </a:tblGrid>
              <a:tr h="300000">
                <a:tc>
                  <a:txBody>
                    <a:bodyPr wrap="square"/>
                    <a:lstStyle/>
                    <a:p>
                      <a:r>
                        <a:rPr sz="1100" b="1">
                          <a:solidFill>
                            <a:srgbClr val="16222B"/>
                          </a:solidFill>
                          <a:latin typeface="Calibri"/>
                        </a:rPr>
                        <a:t>Prompt</a:t>
                      </a:r>
                    </a:p>
                  </a:txBody>
                  <a:tcPr marT="30000" marB="30000" marL="60000" marR="60000">
                    <a:solidFill>
                      <a:srgbClr val="D2D9DD"/>
                    </a:solidFill>
                  </a:tcPr>
                </a:tc>
                <a:tc>
                  <a:txBody>
                    <a:bodyPr wrap="square"/>
                    <a:lstStyle/>
                    <a:p>
                      <a:r>
                        <a:rPr sz="1100" b="1">
                          <a:solidFill>
                            <a:srgbClr val="16222B"/>
                          </a:solidFill>
                          <a:latin typeface="Calibri"/>
                        </a:rPr>
                        <a:t>Judge scores</a:t>
                      </a:r>
                    </a:p>
                  </a:txBody>
                  <a:tcPr marT="30000" marB="30000" marL="60000" marR="60000">
                    <a:solidFill>
                      <a:srgbClr val="D2D9DD"/>
                    </a:solidFill>
                  </a:tcPr>
                </a:tc>
                <a:tc>
                  <a:txBody>
                    <a:bodyPr wrap="square"/>
                    <a:lstStyle/>
                    <a:p>
                      <a:r>
                        <a:rPr sz="1100" b="1">
                          <a:solidFill>
                            <a:srgbClr val="16222B"/>
                          </a:solidFill>
                          <a:latin typeface="Calibri"/>
                        </a:rPr>
                        <a:t>Bands</a:t>
                      </a:r>
                    </a:p>
                  </a:txBody>
                  <a:tcPr marT="30000" marB="30000" marL="60000" marR="60000">
                    <a:solidFill>
                      <a:srgbClr val="D2D9DD"/>
                    </a:solidFill>
                  </a:tcPr>
                </a:tc>
                <a:tc>
                  <a:txBody>
                    <a:bodyPr wrap="square"/>
                    <a:lstStyle/>
                    <a:p>
                      <a:r>
                        <a:rPr sz="1100" b="1">
                          <a:solidFill>
                            <a:srgbClr val="16222B"/>
                          </a:solidFill>
                          <a:latin typeface="Calibri"/>
                        </a:rPr>
                        <a:t>Binary 0/1</a:t>
                      </a:r>
                    </a:p>
                  </a:txBody>
                  <a:tcPr marT="30000" marB="30000" marL="60000" marR="60000">
                    <a:solidFill>
                      <a:srgbClr val="D2D9DD"/>
                    </a:solidFill>
                  </a:tcPr>
                </a:tc>
                <a:tc>
                  <a:txBody>
                    <a:bodyPr wrap="square"/>
                    <a:lstStyle/>
                    <a:p>
                      <a:r>
                        <a:rPr sz="1100" b="1">
                          <a:solidFill>
                            <a:srgbClr val="16222B"/>
                          </a:solidFill>
                          <a:latin typeface="Calibri"/>
                        </a:rPr>
                        <a:t>Raw score</a:t>
                      </a:r>
                    </a:p>
                  </a:txBody>
                  <a:tcPr marT="30000" marB="30000" marL="60000" marR="60000">
                    <a:solidFill>
                      <a:srgbClr val="D2D9DD"/>
                    </a:solidFill>
                  </a:tcPr>
                </a:tc>
              </a:tr>
              <a:tr h="300000">
                <a:tc>
                  <a:txBody>
                    <a:bodyPr wrap="square"/>
                    <a:lstStyle/>
                    <a:p>
                      <a:r>
                        <a:rPr sz="1100" b="0">
                          <a:solidFill>
                            <a:srgbClr val="16222B"/>
                          </a:solidFill>
                          <a:latin typeface="Calibri"/>
                        </a:rPr>
                        <a:t>A  hard</a:t>
                      </a:r>
                    </a:p>
                  </a:txBody>
                  <a:tcPr marT="30000" marB="30000" marL="60000" marR="60000">
                    <a:solidFill>
                      <a:srgbClr val="FBFCFC"/>
                    </a:solidFill>
                  </a:tcPr>
                </a:tc>
                <a:tc>
                  <a:txBody>
                    <a:bodyPr wrap="square"/>
                    <a:lstStyle/>
                    <a:p>
                      <a:r>
                        <a:rPr sz="1100" b="0">
                          <a:solidFill>
                            <a:srgbClr val="16222B"/>
                          </a:solidFill>
                          <a:latin typeface="Calibri"/>
                        </a:rPr>
                        <a:t>.31 .45 .52 .60</a:t>
                      </a:r>
                    </a:p>
                  </a:txBody>
                  <a:tcPr marT="30000" marB="30000" marL="60000" marR="60000">
                    <a:solidFill>
                      <a:srgbClr val="FBFCFC"/>
                    </a:solidFill>
                  </a:tcPr>
                </a:tc>
                <a:tc>
                  <a:txBody>
                    <a:bodyPr wrap="square"/>
                    <a:lstStyle/>
                    <a:p>
                      <a:r>
                        <a:rPr sz="1100" b="0">
                          <a:solidFill>
                            <a:srgbClr val="B84A0B"/>
                          </a:solidFill>
                          <a:latin typeface="Calibri"/>
                        </a:rPr>
                        <a:t>0 0 0 0  dropped</a:t>
                      </a:r>
                    </a:p>
                  </a:txBody>
                  <a:tcPr marT="30000" marB="30000" marL="60000" marR="60000">
                    <a:solidFill>
                      <a:srgbClr val="FBFCFC"/>
                    </a:solidFill>
                  </a:tcPr>
                </a:tc>
                <a:tc>
                  <a:txBody>
                    <a:bodyPr wrap="square"/>
                    <a:lstStyle/>
                    <a:p>
                      <a:r>
                        <a:rPr sz="1100" b="0">
                          <a:solidFill>
                            <a:srgbClr val="B84A0B"/>
                          </a:solidFill>
                          <a:latin typeface="Calibri"/>
                        </a:rPr>
                        <a:t>0 0 0 0  dropped</a:t>
                      </a:r>
                    </a:p>
                  </a:txBody>
                  <a:tcPr marT="30000" marB="30000" marL="60000" marR="60000">
                    <a:solidFill>
                      <a:srgbClr val="FBFCFC"/>
                    </a:solidFill>
                  </a:tcPr>
                </a:tc>
                <a:tc>
                  <a:txBody>
                    <a:bodyPr wrap="square"/>
                    <a:lstStyle/>
                    <a:p>
                      <a:r>
                        <a:rPr sz="1100" b="0">
                          <a:solidFill>
                            <a:srgbClr val="16222B"/>
                          </a:solidFill>
                          <a:latin typeface="Calibri"/>
                        </a:rPr>
                        <a:t>kept</a:t>
                      </a:r>
                    </a:p>
                  </a:txBody>
                  <a:tcPr marT="30000" marB="30000" marL="60000" marR="60000">
                    <a:solidFill>
                      <a:srgbClr val="FBFCFC"/>
                    </a:solidFill>
                  </a:tcPr>
                </a:tc>
              </a:tr>
              <a:tr h="300000">
                <a:tc>
                  <a:txBody>
                    <a:bodyPr wrap="square"/>
                    <a:lstStyle/>
                    <a:p>
                      <a:r>
                        <a:rPr sz="1100" b="0">
                          <a:solidFill>
                            <a:srgbClr val="16222B"/>
                          </a:solidFill>
                          <a:latin typeface="Calibri"/>
                        </a:rPr>
                        <a:t>B  mixed</a:t>
                      </a:r>
                    </a:p>
                  </a:txBody>
                  <a:tcPr marT="30000" marB="30000" marL="60000" marR="60000">
                    <a:solidFill>
                      <a:srgbClr val="FBFCFC"/>
                    </a:solidFill>
                  </a:tcPr>
                </a:tc>
                <a:tc>
                  <a:txBody>
                    <a:bodyPr wrap="square"/>
                    <a:lstStyle/>
                    <a:p>
                      <a:r>
                        <a:rPr sz="1100" b="0">
                          <a:solidFill>
                            <a:srgbClr val="16222B"/>
                          </a:solidFill>
                          <a:latin typeface="Calibri"/>
                        </a:rPr>
                        <a:t>.35 .75 .92 .40</a:t>
                      </a:r>
                    </a:p>
                  </a:txBody>
                  <a:tcPr marT="30000" marB="30000" marL="60000" marR="60000">
                    <a:solidFill>
                      <a:srgbClr val="FBFCFC"/>
                    </a:solidFill>
                  </a:tcPr>
                </a:tc>
                <a:tc>
                  <a:txBody>
                    <a:bodyPr wrap="square"/>
                    <a:lstStyle/>
                    <a:p>
                      <a:r>
                        <a:rPr sz="1100" b="0">
                          <a:solidFill>
                            <a:srgbClr val="1F5EA8"/>
                          </a:solidFill>
                          <a:latin typeface="Calibri"/>
                        </a:rPr>
                        <a:t>0 .5 1 0  kept</a:t>
                      </a:r>
                    </a:p>
                  </a:txBody>
                  <a:tcPr marT="30000" marB="30000" marL="60000" marR="60000">
                    <a:solidFill>
                      <a:srgbClr val="FBFCFC"/>
                    </a:solidFill>
                  </a:tcPr>
                </a:tc>
                <a:tc>
                  <a:txBody>
                    <a:bodyPr wrap="square"/>
                    <a:lstStyle/>
                    <a:p>
                      <a:r>
                        <a:rPr sz="1100" b="0">
                          <a:solidFill>
                            <a:srgbClr val="1F5EA8"/>
                          </a:solidFill>
                          <a:latin typeface="Calibri"/>
                        </a:rPr>
                        <a:t>0 1 1 0  kept</a:t>
                      </a:r>
                    </a:p>
                  </a:txBody>
                  <a:tcPr marT="30000" marB="30000" marL="60000" marR="60000">
                    <a:solidFill>
                      <a:srgbClr val="FBFCFC"/>
                    </a:solidFill>
                  </a:tcPr>
                </a:tc>
                <a:tc>
                  <a:txBody>
                    <a:bodyPr wrap="square"/>
                    <a:lstStyle/>
                    <a:p>
                      <a:r>
                        <a:rPr sz="1100" b="0">
                          <a:solidFill>
                            <a:srgbClr val="16222B"/>
                          </a:solidFill>
                          <a:latin typeface="Calibri"/>
                        </a:rPr>
                        <a:t>kept</a:t>
                      </a:r>
                    </a:p>
                  </a:txBody>
                  <a:tcPr marT="30000" marB="30000" marL="60000" marR="60000">
                    <a:solidFill>
                      <a:srgbClr val="FBFCFC"/>
                    </a:solidFill>
                  </a:tcPr>
                </a:tc>
              </a:tr>
              <a:tr h="300000">
                <a:tc>
                  <a:txBody>
                    <a:bodyPr wrap="square"/>
                    <a:lstStyle/>
                    <a:p>
                      <a:r>
                        <a:rPr sz="1100" b="0">
                          <a:solidFill>
                            <a:srgbClr val="16222B"/>
                          </a:solidFill>
                          <a:latin typeface="Calibri"/>
                        </a:rPr>
                        <a:t>C  close</a:t>
                      </a:r>
                    </a:p>
                  </a:txBody>
                  <a:tcPr marT="30000" marB="30000" marL="60000" marR="60000">
                    <a:solidFill>
                      <a:srgbClr val="FBFCFC"/>
                    </a:solidFill>
                  </a:tcPr>
                </a:tc>
                <a:tc>
                  <a:txBody>
                    <a:bodyPr wrap="square"/>
                    <a:lstStyle/>
                    <a:p>
                      <a:r>
                        <a:rPr sz="1100" b="0">
                          <a:solidFill>
                            <a:srgbClr val="16222B"/>
                          </a:solidFill>
                          <a:latin typeface="Calibri"/>
                        </a:rPr>
                        <a:t>.75 .75 .92 .97</a:t>
                      </a:r>
                    </a:p>
                  </a:txBody>
                  <a:tcPr marT="30000" marB="30000" marL="60000" marR="60000">
                    <a:solidFill>
                      <a:srgbClr val="FBFCFC"/>
                    </a:solidFill>
                  </a:tcPr>
                </a:tc>
                <a:tc>
                  <a:txBody>
                    <a:bodyPr wrap="square"/>
                    <a:lstStyle/>
                    <a:p>
                      <a:r>
                        <a:rPr sz="1100" b="0">
                          <a:solidFill>
                            <a:srgbClr val="1F5EA8"/>
                          </a:solidFill>
                          <a:latin typeface="Calibri"/>
                        </a:rPr>
                        <a:t>.5 .5 1 1  kept</a:t>
                      </a:r>
                    </a:p>
                  </a:txBody>
                  <a:tcPr marT="30000" marB="30000" marL="60000" marR="60000">
                    <a:solidFill>
                      <a:srgbClr val="FBFCFC"/>
                    </a:solidFill>
                  </a:tcPr>
                </a:tc>
                <a:tc>
                  <a:txBody>
                    <a:bodyPr wrap="square"/>
                    <a:lstStyle/>
                    <a:p>
                      <a:r>
                        <a:rPr sz="1100" b="0">
                          <a:solidFill>
                            <a:srgbClr val="B84A0B"/>
                          </a:solidFill>
                          <a:latin typeface="Calibri"/>
                        </a:rPr>
                        <a:t>1 1 1 1  dropped</a:t>
                      </a:r>
                    </a:p>
                  </a:txBody>
                  <a:tcPr marT="30000" marB="30000" marL="60000" marR="60000">
                    <a:solidFill>
                      <a:srgbClr val="FBFCFC"/>
                    </a:solidFill>
                  </a:tcPr>
                </a:tc>
                <a:tc>
                  <a:txBody>
                    <a:bodyPr wrap="square"/>
                    <a:lstStyle/>
                    <a:p>
                      <a:r>
                        <a:rPr sz="1100" b="0">
                          <a:solidFill>
                            <a:srgbClr val="16222B"/>
                          </a:solidFill>
                          <a:latin typeface="Calibri"/>
                        </a:rPr>
                        <a:t>kept</a:t>
                      </a:r>
                    </a:p>
                  </a:txBody>
                  <a:tcPr marT="30000" marB="30000" marL="60000" marR="60000">
                    <a:solidFill>
                      <a:srgbClr val="FBFCFC"/>
                    </a:solidFill>
                  </a:tcPr>
                </a:tc>
              </a:tr>
              <a:tr h="300000">
                <a:tc>
                  <a:txBody>
                    <a:bodyPr wrap="square"/>
                    <a:lstStyle/>
                    <a:p>
                      <a:r>
                        <a:rPr sz="1100" b="0">
                          <a:solidFill>
                            <a:srgbClr val="16222B"/>
                          </a:solidFill>
                          <a:latin typeface="Calibri"/>
                        </a:rPr>
                        <a:t>D  easy</a:t>
                      </a:r>
                    </a:p>
                  </a:txBody>
                  <a:tcPr marT="30000" marB="30000" marL="60000" marR="60000">
                    <a:solidFill>
                      <a:srgbClr val="FBFCFC"/>
                    </a:solidFill>
                  </a:tcPr>
                </a:tc>
                <a:tc>
                  <a:txBody>
                    <a:bodyPr wrap="square"/>
                    <a:lstStyle/>
                    <a:p>
                      <a:r>
                        <a:rPr sz="1100" b="0">
                          <a:solidFill>
                            <a:srgbClr val="16222B"/>
                          </a:solidFill>
                          <a:latin typeface="Calibri"/>
                        </a:rPr>
                        <a:t>.93 .95 .91 .97</a:t>
                      </a:r>
                    </a:p>
                  </a:txBody>
                  <a:tcPr marT="30000" marB="30000" marL="60000" marR="60000">
                    <a:solidFill>
                      <a:srgbClr val="FBFCFC"/>
                    </a:solidFill>
                  </a:tcPr>
                </a:tc>
                <a:tc>
                  <a:txBody>
                    <a:bodyPr wrap="square"/>
                    <a:lstStyle/>
                    <a:p>
                      <a:r>
                        <a:rPr sz="1100" b="0">
                          <a:solidFill>
                            <a:srgbClr val="B84A0B"/>
                          </a:solidFill>
                          <a:latin typeface="Calibri"/>
                        </a:rPr>
                        <a:t>1 1 1 1  dropped</a:t>
                      </a:r>
                    </a:p>
                  </a:txBody>
                  <a:tcPr marT="30000" marB="30000" marL="60000" marR="60000">
                    <a:solidFill>
                      <a:srgbClr val="FBFCFC"/>
                    </a:solidFill>
                  </a:tcPr>
                </a:tc>
                <a:tc>
                  <a:txBody>
                    <a:bodyPr wrap="square"/>
                    <a:lstStyle/>
                    <a:p>
                      <a:r>
                        <a:rPr sz="1100" b="0">
                          <a:solidFill>
                            <a:srgbClr val="B84A0B"/>
                          </a:solidFill>
                          <a:latin typeface="Calibri"/>
                        </a:rPr>
                        <a:t>1 1 1 1  dropped</a:t>
                      </a:r>
                    </a:p>
                  </a:txBody>
                  <a:tcPr marT="30000" marB="30000" marL="60000" marR="60000">
                    <a:solidFill>
                      <a:srgbClr val="FBFCFC"/>
                    </a:solidFill>
                  </a:tcPr>
                </a:tc>
                <a:tc>
                  <a:txBody>
                    <a:bodyPr wrap="square"/>
                    <a:lstStyle/>
                    <a:p>
                      <a:r>
                        <a:rPr sz="1100" b="0">
                          <a:solidFill>
                            <a:srgbClr val="16222B"/>
                          </a:solidFill>
                          <a:latin typeface="Calibri"/>
                        </a:rPr>
                        <a:t>kept, small</a:t>
                      </a:r>
                    </a:p>
                  </a:txBody>
                  <a:tcPr marT="30000" marB="30000" marL="60000" marR="60000">
                    <a:solidFill>
                      <a:srgbClr val="FBFCF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