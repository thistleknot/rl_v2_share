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professor asked what I did for the chess game in C:\Users\user\Documents\dev\src/chess. Short version: a chess agent learned from pure self-play with no external engine labels, a linear evaluation over hand-built features, a native Rust alpha-beta search, and a recipe I called the trivium. The champion (models/champion.pt) is the amap-897 net: piece-square planes (769) plus attack-coverage maps. The README's measured strength is 1878 Elo with 95% interval 1756 to 2000 from a multi-anchor maximum-likelihood fit over 50 games at depth 9 against Stockfish anchors from 1500 to 2300; the earlier 1724 figure was the Wilson floor of a saturated single-anchor scout (the 1320 anchor saturates above about 1700). The Rust search gave about 2 million nodes per second, roughly 2000 times the Python beam, in about 450 lines (LESSONS.md lesson 10). The project began as a v1.0 terminal game with a DQN (the images/ folder holds the v1.0 to v1.5 screenshots) and became a research campaign. Everything ran on one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recipe, from spec/trivium.spec.md: G = a lambda-return + b search-value + c outcome, weights annealed on an Optuna-tuned schedule (about 21 trials), 809 donor features whitened with ZCA, TD-Leaf(lambda) generation at depth 2 with lambda 0.7, gamma 1.0, online SGD and the RAMP blunder filter, and parallel self-play with epsilon 0.1. Evidence per ingredient (single-variable, replicate-first): trivium anneal gave 1237 against 1166 un-annealed at matched depth, and a static one-third each blend ignites then fades (falsified); ZCA matched the faithful arm on about a quarter of the games; depth-2 sound targets matched depth 4 at half the clock; 15,000 self-play games produced the 1484 net and a restart reproduced its peak in 8,000. The chess RL theory concepts (docs/INSPIRATIONS.md in that repo, titled RL theory and this repo) square the theory against what was built: it is an n-step actor-critic with TD-Leaf targets, not Monte Carlo or GRPO; the n-less-than-T rule means bootstrapping engages because n = 10 is below game length; with a sparse terminal reward gamma acts as the back-cast operator and the target is bootstrap-dominated; and rollout (on-policy, fill, few updates, clear) differs from replay (persistent, random reuse), which was the deferred Q-learning lane. The 1484 figure is on a different scale from the later 1878: see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docs/RL_FINDINGS.md (codas 1 to 8) and docs/LESSONS.md. Row 1: distillation about 1040 and loses; self-play at depth 1 flat and loses; off-policy bootstrap weak; A2C with sampled beam 0 of 20; the AlphaStar-style PUCT hybrid reached parity (16 of 16 draws) with the 1-ply heuristic. Row 2: linear value fit converged cleanly (mean squared error 0.78 to 0.12) but played 585 Elo worse, 0 of 30: the best value function for a better policy is not the one that minimizes value error. Row 3: lambda 0.0 about 909, 0.5 about 1126, 0.9 about 1191, 1.0 about 1126, an interior peak. Row 4: v1 NNUE 808; 156k enriched balanced positions 782; 469k with material coverage 1144; queen-up read +380 before and +671 after. Row 5: the DA2C loop's distilled net went from d2 −58 / d3 −191 to d2 −301 / d3 −301. Row 6: LESSONS lesson 17: the one remaining deviation from the KnightCap recipe, full-width deep quiescence search, delivered +264 Elo (948 to 1212, 95% interval 1109 to 1300) on an untrained eval and the first confirmed training crowns. The campaign plateaued near 880 to 950 for weeks before that. Later: the amap attack-coverage features, the campaign's first confirmed feature win (+51 and +72 Elo across two seeds), produced the champion (floor 1724, re-measured 1878). Campaign law recorded in future_exploration.md: representation beats algorithm: features 3 for 3 confirmed, mechanisms 0 for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verdict is marked inferred: nothing here was tested as a contrast. Chess and the language-model task differ in several variables at once (reward exactness, experience per hour, task type: learning a value function from outcomes versus injecting facts), so the comparison cannot attribute the difference to one of them. What it does show is that the method discipline (single-variable arms, pre-registered falsification, replicate before inventing, confirm crowns before believing them) was enough to find real effects when the reward was exact and experience cheap. Chess lessons that carried over: a universal failure across independent arms points at a shared target defect, not a knob (here: the shared judge and eval defects); never decide on samples that carry no new information (the 16-question eval); match the comparator's experiment shape, not just its totals (games times target quality); and the load-bearing component gets proven, not argued. Numbers: spec/trivium.spec.md (15,000-game peak; restart reproduced it in 8,000 games) and LESSONS lesson 10 (2 million nodes per second).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1F5FA8"/>
                </a:solidFill>
                <a:latin typeface="Consolas"/>
              </a:rPr>
              <a:t>CHESS · 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16222B"/>
                </a:solidFill>
                <a:latin typeface="Georgia"/>
              </a:rPr>
              <a:t>A from-scratch agent trained on self-play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5E6B75"/>
                </a:solidFill>
                <a:latin typeface="Calibri"/>
              </a:rPr>
              <a:t>Source: src/chess README.md, docs/LESSONS.md, spec/trivium.spec.md</a:t>
            </a:r>
          </a:p>
        </p:txBody>
      </p:sp>
      <p:pic>
        <p:nvPicPr>
          <p:cNvPr id="5" name="Picture 4" descr="fig_ch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4937760" cy="29450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746441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E6B75"/>
                </a:solidFill>
                <a:latin typeface="Calibri"/>
              </a:rPr>
              <a:t>The agent's terminal view: squares colored by who attacks and guards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91640"/>
            <a:ext cx="52422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1F5FA8"/>
                </a:solidFill>
                <a:latin typeface="Georgia"/>
              </a:rPr>
              <a:t>1878 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94560"/>
            <a:ext cx="5242255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4A5864"/>
                </a:solidFill>
                <a:latin typeface="Calibri"/>
              </a:rPr>
              <a:t>against Stockfish, 95% interval 1756 to 2000; fitted over 50 games at depth 9 against anchors from 1500 to 2300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032760"/>
            <a:ext cx="52422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16222B"/>
                </a:solidFill>
                <a:latin typeface="Georgia"/>
              </a:rPr>
              <a:t>2 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535680"/>
            <a:ext cx="5242255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4A5864"/>
                </a:solidFill>
                <a:latin typeface="Calibri"/>
              </a:rPr>
              <a:t>the deepest search used anywhere in training; depth is spent only at play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373880"/>
            <a:ext cx="52422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16222B"/>
                </a:solidFill>
                <a:latin typeface="Georgia"/>
              </a:rPr>
              <a:t>897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876800"/>
            <a:ext cx="5242255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4A5864"/>
                </a:solidFill>
                <a:latin typeface="Calibri"/>
              </a:rPr>
              <a:t>a linear evaluation: piece-square planes plus attack-coverage maps; search in Rust at about 2 million nodes per second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1F5FA8"/>
                </a:solidFill>
                <a:latin typeface="Consolas"/>
              </a:rPr>
              <a:t>CHESS · THE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16222B"/>
                </a:solidFill>
                <a:latin typeface="Georgia"/>
              </a:rPr>
              <a:t>Three targets, blended and annealed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5E6B75"/>
                </a:solidFill>
                <a:latin typeface="Calibri"/>
              </a:rPr>
              <a:t>Source: src/chess spec/trivium.spec.md, docs/INSPIRATIONS.md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4846320" cy="3401568"/>
          </a:xfrm>
          <a:prstGeom prst="roundRect">
            <a:avLst>
              <a:gd name="adj" fmla="val 4000"/>
            </a:avLst>
          </a:prstGeom>
          <a:solidFill>
            <a:srgbClr val="FBFCFC"/>
          </a:solidFill>
          <a:ln w="9525">
            <a:solidFill>
              <a:srgbClr val="D2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37944"/>
            <a:ext cx="4480559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E6B75"/>
                </a:solidFill>
                <a:latin typeface="Consolas"/>
              </a:rPr>
              <a:t>THE TRAINING TARGET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6222B"/>
                </a:solidFill>
                <a:latin typeface="Consolas"/>
              </a:rPr>
              <a:t>target = a * lambda_return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6222B"/>
                </a:solidFill>
                <a:latin typeface="Consolas"/>
              </a:rPr>
              <a:t>         + b * search_value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6222B"/>
                </a:solidFill>
                <a:latin typeface="Consolas"/>
              </a:rPr>
              <a:t>         + c * outcome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A5864"/>
                </a:solidFill>
                <a:latin typeface="Calibri"/>
              </a:rPr>
              <a:t>Weights (a, b, c) run from 0.285, 0.341, 0.374 early to 0.516, 0.341, 0.143 late, on a schedule tuned by Optuna.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A5864"/>
                </a:solidFill>
                <a:latin typeface="Calibri"/>
              </a:rPr>
              <a:t>Trained at 2 ply, the same net measures 1484 (1434 to 1542) at depth 7 against Stockfish 1320.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91640"/>
            <a:ext cx="5333695" cy="1011936"/>
          </a:xfrm>
          <a:prstGeom prst="roundRect">
            <a:avLst>
              <a:gd name="adj" fmla="val 4000"/>
            </a:avLst>
          </a:prstGeom>
          <a:solidFill>
            <a:srgbClr val="FBFCFC"/>
          </a:solidFill>
          <a:ln w="9525">
            <a:solidFill>
              <a:srgbClr val="D2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837944"/>
            <a:ext cx="4967935" cy="737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E6B75"/>
                </a:solidFill>
                <a:latin typeface="Consolas"/>
              </a:rPr>
              <a:t>Λ-RETURN REPLACES DEPTH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6222B"/>
                </a:solidFill>
                <a:latin typeface="Calibri"/>
              </a:rPr>
              <a:t>RL theory concepts: TD(λ) and eligibility traces. The bootstrap engages because n = 10 is below a game's 40 to 80 moves.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886456"/>
            <a:ext cx="5333695" cy="1011936"/>
          </a:xfrm>
          <a:prstGeom prst="roundRect">
            <a:avLst>
              <a:gd name="adj" fmla="val 4000"/>
            </a:avLst>
          </a:prstGeom>
          <a:solidFill>
            <a:srgbClr val="FBFCFC"/>
          </a:solidFill>
          <a:ln w="9525">
            <a:solidFill>
              <a:srgbClr val="D2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032760"/>
            <a:ext cx="4967935" cy="737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E6B75"/>
                </a:solidFill>
                <a:latin typeface="Consolas"/>
              </a:rPr>
              <a:t>A 2-PLY SEARCH KEEPS TARGETS SOUND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16222B"/>
                </a:solidFill>
                <a:latin typeface="Calibri"/>
              </a:rPr>
              <a:t>TD-Leaf: the bootstrap is a deep, sound search value rather than the raw network's guess.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081271"/>
            <a:ext cx="5333695" cy="1011936"/>
          </a:xfrm>
          <a:prstGeom prst="roundRect">
            <a:avLst>
              <a:gd name="adj" fmla="val 4000"/>
            </a:avLst>
          </a:prstGeom>
          <a:solidFill>
            <a:srgbClr val="FBFCFC"/>
          </a:solidFill>
          <a:ln w="9525">
            <a:solidFill>
              <a:srgbClr val="D2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227576"/>
            <a:ext cx="4967935" cy="737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E6B75"/>
                </a:solidFill>
                <a:latin typeface="Consolas"/>
              </a:rPr>
              <a:t>THE OUTCOME ANCHORS, THEN FADES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16222B"/>
                </a:solidFill>
                <a:latin typeface="Calibri"/>
              </a:rPr>
              <a:t>Game result steadies early learning and anneals away as the other two take 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76088"/>
            <a:ext cx="10545775" cy="777240"/>
          </a:xfrm>
          <a:prstGeom prst="roundRect">
            <a:avLst>
              <a:gd name="adj" fmla="val 12000"/>
            </a:avLst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5500116"/>
            <a:ext cx="1403604" cy="329184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7FAFB"/>
                </a:solidFill>
                <a:latin typeface="Consolas"/>
              </a:rPr>
              <a:t>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8628" y="5367528"/>
            <a:ext cx="8374075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6222B"/>
                </a:solidFill>
                <a:latin typeface="Calibri"/>
              </a:rPr>
              <a:t>Tested one variable at a time against a faithful baseline: annealed 1237 vs un-annealed 1166 at matched depth; a static equal blend ignites then fades.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1F5FA8"/>
                </a:solidFill>
                <a:latin typeface="Consolas"/>
              </a:rPr>
              <a:t>CHESS · THE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16222B"/>
                </a:solidFill>
                <a:latin typeface="Georgia"/>
              </a:rPr>
              <a:t>What failed, and what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5E6B75"/>
                </a:solidFill>
                <a:latin typeface="Calibri"/>
              </a:rPr>
              <a:t>Elo: rows 1 to 5 against the hand-tuned eval, row 6 against Stockfish 1320. Compare within a row only.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10545774" cy="3371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6479"/>
                <a:gridCol w="3163732"/>
                <a:gridCol w="3585563"/>
              </a:tblGrid>
              <a:tr h="3596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22B"/>
                          </a:solidFill>
                          <a:latin typeface="Calibri"/>
                        </a:rPr>
                        <a:t>Tried</a:t>
                      </a:r>
                    </a:p>
                  </a:txBody>
                  <a:tcPr marL="91440" marR="91440" marT="45720" marB="45720" anchor="ctr">
                    <a:solidFill>
                      <a:srgbClr val="D2D9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22B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91440" marR="91440" marT="45720" marB="45720" anchor="ctr">
                    <a:solidFill>
                      <a:srgbClr val="D2D9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22B"/>
                          </a:solidFill>
                          <a:latin typeface="Calibri"/>
                        </a:rPr>
                        <a:t>What it taught</a:t>
                      </a:r>
                    </a:p>
                  </a:txBody>
                  <a:tcPr marL="91440" marR="91440" marT="45720" marB="45720" anchor="ctr">
                    <a:solidFill>
                      <a:srgbClr val="D2D9DD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Stockfish distillation; AlphaZero-style from scratch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B94E08"/>
                          </a:solidFill>
                          <a:latin typeface="Calibri"/>
                        </a:rPr>
                        <a:t>both lost to a 1-ply heuristic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pod-scale compute is not available on one GPU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RL-tuned linear eval on self-play outcomes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B94E08"/>
                          </a:solidFill>
                          <a:latin typeface="Calibri"/>
                        </a:rPr>
                        <a:t>585 Elo worse than hand-tuned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hand tuning already sat at the linear ceiling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λ sweep: 0, 0.5, 0.9, 1.0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5FA8"/>
                          </a:solidFill>
                          <a:latin typeface="Calibri"/>
                        </a:rPr>
                        <a:t>best at 0.9, about +50 Elo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the bias-variance middle was real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Distilled NNUE, then material coverage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5FA8"/>
                          </a:solidFill>
                          <a:latin typeface="Calibri"/>
                        </a:rPr>
                        <a:t>808 → 1144 Elo (+362)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data coverage, not tuning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Self-play on a distilled eval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B94E08"/>
                          </a:solidFill>
                          <a:latin typeface="Calibri"/>
                        </a:rPr>
                        <a:t>−58 → −301 vs the hand eval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self-play eroded it; distillation beat it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KnightCap reconstruction with deep quiescence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5FA8"/>
                          </a:solidFill>
                          <a:latin typeface="Calibri"/>
                        </a:rPr>
                        <a:t>948 → 1212 Elo (+264)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elimination proved the load-bearing part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1F5FA8"/>
                </a:solidFill>
                <a:latin typeface="Consolas"/>
              </a:rPr>
              <a:t>CHESS AGAINST THE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16222B"/>
                </a:solidFill>
                <a:latin typeface="Georgia"/>
              </a:rPr>
              <a:t>Two environments, one method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5E6B75"/>
                </a:solidFill>
                <a:latin typeface="Calibri"/>
              </a:rPr>
              <a:t>Source: src/chess spec/trivium.spec.md, docs/LESSONS.md · dispositions.md · the verdict row is my inference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155"/>
                <a:gridCol w="4218310"/>
                <a:gridCol w="4218310"/>
              </a:tblGrid>
              <a:tr h="3596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22B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91440" marR="91440" marT="45720" marB="45720" anchor="ctr">
                    <a:solidFill>
                      <a:srgbClr val="D2D9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22B"/>
                          </a:solidFill>
                          <a:latin typeface="Calibri"/>
                        </a:rPr>
                        <a:t>Chess</a:t>
                      </a:r>
                    </a:p>
                  </a:txBody>
                  <a:tcPr marL="91440" marR="91440" marT="45720" marB="45720" anchor="ctr">
                    <a:solidFill>
                      <a:srgbClr val="D2D9D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22B"/>
                          </a:solidFill>
                          <a:latin typeface="Calibri"/>
                        </a:rPr>
                        <a:t>Language-model RL</a:t>
                      </a:r>
                    </a:p>
                  </a:txBody>
                  <a:tcPr marL="91440" marR="91440" marT="45720" marB="45720" anchor="ctr">
                    <a:solidFill>
                      <a:srgbClr val="D2D9DD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game outcome: exact and free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a judge model: noisy, exploitable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  <a:tr h="57302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Experience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2 million nodes per second; a peak in 15,000 games, reproduced in 8,000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16 records per step; minutes per step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Pool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self-play makes new positions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240 records; 112 of 197 never split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Elo with intervals; 50 to 200 games per claim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22B"/>
                          </a:solidFill>
                          <a:latin typeface="Calibri"/>
                        </a:rPr>
                        <a:t>16 questions; wobble of about one</a:t>
                      </a:r>
                    </a:p>
                  </a:txBody>
                  <a:tcPr marL="91440" marR="91440" marT="45720" marB="45720" anchor="ctr">
                    <a:solidFill>
                      <a:srgbClr val="FBFC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276088"/>
            <a:ext cx="10545775" cy="777240"/>
          </a:xfrm>
          <a:prstGeom prst="roundRect">
            <a:avLst>
              <a:gd name="adj" fmla="val 12000"/>
            </a:avLst>
          </a:prstGeom>
          <a:solidFill>
            <a:srgbClr val="E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5500116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5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7FAFB"/>
                </a:solidFill>
                <a:latin typeface="Consolas"/>
              </a:rPr>
              <a:t>INFERRED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5367528"/>
            <a:ext cx="8479231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6222B"/>
                </a:solidFill>
                <a:latin typeface="Calibri"/>
              </a:rPr>
              <a:t>The discipline worked where the environment pays exactly and cheaply. Chess shows RL learns from outcomes when experience is abundant; it does not separate reading 2 from reading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