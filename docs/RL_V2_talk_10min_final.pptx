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63" r:id="rId5"/>
    <p:sldId id="269" r:id="rId6"/>
    <p:sldId id="270" r:id="rId7"/>
    <p:sldId id="280" r:id="rId8"/>
    <p:sldId id="283" r:id="rId9"/>
    <p:sldId id="286" r:id="rId16"/>
    <p:sldId id="287" r:id="rId17"/>
    <p:sldId id="288" r:id="rId18"/>
    <p:sldId id="28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7" d="100"/>
          <a:sy n="97" d="100"/>
        </p:scale>
        <p:origin x="107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2.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C2CB5-D3FF-4AEE-923B-877F5B39BCBC}" type="datetimeFigureOut">
              <a:rPr lang="en-US" smtClean="0"/>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4E668-B1DA-4571-B6E4-E74984D8FE58}" type="slidenum">
              <a:rPr lang="en-US" smtClean="0"/>
              <a:t>‹#›</a:t>
            </a:fld>
            <a:endParaRPr lang="en-US"/>
          </a:p>
        </p:txBody>
      </p:sp>
    </p:spTree>
    <p:extLst>
      <p:ext uri="{BB962C8B-B14F-4D97-AF65-F5344CB8AC3E}">
        <p14:creationId xmlns:p14="http://schemas.microsoft.com/office/powerpoint/2010/main" val="2258362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STORY, and every number on it opens as a file. Left panel, from data/probe3_locked.json (one invocation, fixed scorer): base 4 · SFT epoch 1 = 1 (format collapse — that checkpoint answers with an empty string on most questions) · epoch 2 = 3 · epoch 3 = 5 · then ONE full-parameter MGPO pass trained FROM that SFT checkpoint reads 9. The dashed trail behind the star is that same run's own in-run readings (6, 8, 7, 8) — the same model, not a later timeline.   ·   Read the split honestly: the deposit buys about +1 over base and mostly recovers its own epoch-1 collapse; the RL pass buys +4. RL is where the lift is, and it is surfacing knowledge the deposit already placed — RL trains on its own 240 records, disjoint from SFT's 240 (verified: zero question overlap).   ·   Right panel: the full-coverage campaign, one visit to each of RL's 238 records instead of drilling 6. Regenerate the whole figure with: python -c "import sys;sys.path.insert(0,'src');import plot_pipeline_curve as P;P.plot_critical_lifts()".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0.8B is a hardware constraint, not the variable under study. The variable is full-parameter versus adapter. Four question categories: Math, Code, STEM, Instruction. Self-sufficient scoping was a deliberate paring: the original design also covered unanswerable questions where the right move is to decline, and that half returns in future directions.   ·   The formulation follows the part 1 MDP checklist: states = the prompt plus tokens emitted so far, actions = the vocabulary, transitions deterministic (appending a token), reward zero everywhere except the terminal judge call, gamma 1. Because the episode-level problem is one decision wide, the environment reduces to its reward function — which is why 'model the judge' equals 'model the world' later.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separation is the reason the numbers mean anything. Author and judge are different models; the student never sees the standard it is being held to. Everything the 0.8B learns arrives through one channel — the scalar reward.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data/synthetic_domain_rubric.md, worked-examples block (REQ-J11 — every exemplar is drawn from a held-out 12-item rubric split, never from training or eval).   ·   Why the 'wrong, good' row exists: 0.4-0.6 is reserved for the most DEMANDING kind of wrong — a specific false claim, a confident wrong number, a flipped comparison. An answer that commits to nothing has not earned that band and drops to 0.05-0.25. Collapsing those two is how a judge ends up scoring every wrong answer ~0.45 and treating 'wrong' as one category when it is three.   ·   Why 'correct, bad' exists: the gold band is 0.9-1.0, NOT 1.0. If every correct answer scores 1.000 the instrument has no resolution above 'correct', and RL has no way to prefer one right answer over another. The five correct exemplars score 0.98, 0.95, 0.92, 0.85, 0.72 by design.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from the RL course material to our design: every mechanism on the next slides is an instance of uncertainty-aware exploration. Count bonus: MCTS/UCT's Q + C*sqrt(ln N / N(s,a)) — rarely-visited gets optimism. Entropy: SAC maximizes reward plus policy entropy, staying deliberately uncertain until forced to commit. The 'two models' answer (ensemble disagreement / RND: frozen random net + trained predictor, error high exactly on unseen states) measures epistemic uncertainty. The 'surprise'/learning-progress answer (Schmidhuber's curiosity line; prioritized replay's TD-error is the value-based cousin) measures information content directly but pays one gradient step per candidate just to score it. MGPO gets the same quantity for free: a prompt whose G sampled outcomes disagree has maximal within-group reward variance, which IS the expected-gradient magnitude under GRPO's variance-normalised advantage. Same principle, zero extra forward passes.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LADDER IN ONE TABLE, every count with all 16 questions judged (2026-09-06 complete re-judge; earlier receipts left 1-5 questions unjudged and read up to 11 as floors over fewer questions). Sourcing, honestly: base 6 / full-param 9 / IPO 10 share ONE invocation (data/full16_verdict.json); SFT 8 and chain 8 come from the pipeline invocation (data/pipeline_curve_full16.json), where base read 7. The champion's 10 replicated in a third complete receipt. Read the ladder as: endpoint-over-base (+3 to +5) is robust; each RUNG is ~1 question on an instrument whose repeat-judge swing is 2-3, so the rung ordering is consistent direction, not measured effect size.   ·   Relationship between rungs: ReLoRA and full-param MGPO are the same objective at different capacity (adapter merges vs full weights); IPO is NOT an RL pass — it replaced the SECOND pass, which declined in six independent lineages. MGPO is not dropped: the champion IS one MGPO pass (scale_rewards='none'), IPO is the polish on top. IPO = identity preference optimization (Azar et al. 2023): DPO-family offline pairwise loss, regularized toward a fixed preference margin so 24 pairs cannot overfit — no rollouts, no reward model, no collapse risk, 5 minutes on the same 16 GB card.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ratio, not just the endpoint: sixteen measured dead ends for one working path. That is what a real search looks like, and the dead ends are the transferable part — anyone repeating this can skip them.   ·   The ReLoRA chain is no longer on the recipe: it was the route to 8 at adapter capacity, and the full-param pass + offline IPO superseded it (the ReLoRA slide keeps the insight).   ·   Honest caveats carried from the rest of the deck: n=16, so this is DIRECTION not effect size; the replay-buffer component was never ablated; the IPO step reads +1 over plain full-param RL on the complete instrument (10 vs 9, same invocation) — consistent direction, size at the floor of what 16 questions can resolve.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Ordered by cost-to-value. Items 1 and 2 close honesty gaps in claims already made, so they come before anything that spends GPU hours. Full-parameter RL moved OFF this list on 2026-09-02 (its pass 2 is one of the two winners at 8/16 on the locked board); IPO iteration is NOT on the list — the polish read 0 to -1 across three lanes under the locked grader. Receipts, per-trial ledgers and checkpoints are in the repo; every number traces to a JSON file.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instruments on the same checkpoints. The eval wrapper (hand-built prompt) is what the plot shows; the training prompt (the model's own chat template) is what training used. dispositions.md lines ~1329-1349 measured the mismatch after this run collapsed: blank answers on 6 to 9 of 16 under the wrapper, 0 under the training prompt. Under the training prompt this run read 2 to 5 by step 46, then lost it. Neither reading is a sustained gain. Single greedy read per checkpoint, same-checkpoint wobble not measured, so the 2 to 5 is a finding to confirm, not a verdict. Trainer: docs/grpo_one_file.py.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Pre-registered bar, same instrument as rl_lr3e6b: greedy eval under the training prompt &gt;= 5/16 from a deposit of 2/16 by the step with 46 optimizer updates (step 23 at 2 inner epochs). Result 3/16 at the bar, best 4/16. The replay half goes stale within the 5-step window (mean |log-ratio| 0.23 to 0.77). Census caveat: a visit here is two fresh answers, so solved/straddle/fail counts are not comparable with non-replay runs. Weights deleted per the RL-weights-are-disposable rule; configs, logs, metrics.json and judged pairs kept.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Computation: two-proportion test, p = 0.5, alpha 0.05 two-sided (z 1.96), power 80% (z 0.84), detect 0.05: n per arm = (1.96+0.84)^2 * 2 * 0.25 / 0.05^2 = 1568. Standard error of a proportion at n = 16, p = 0.5: sqrt(0.25/16) = 0.125. The three readings of the null in the README (mis-specified but not applied; scale; wrong tool) remain open; this slide supports only the eval-size half of the scale reading.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783080"/>
            <a:ext cx="10332720" cy="1051560"/>
          </a:xfrm>
          <a:prstGeom prst="rect">
            <a:avLst/>
          </a:prstGeom>
          <a:noFill/>
        </p:spPr>
        <p:txBody>
          <a:bodyPr wrap="square" lIns="0" tIns="0" rIns="0" bIns="0" anchor="ctr">
            <a:spAutoFit/>
          </a:bodyPr>
          <a:lstStyle/>
          <a:p>
            <a:pPr algn="l"/>
            <a:r>
              <a:rPr sz="2800" b="1" i="0">
                <a:solidFill>
                  <a:srgbClr val="E8ECF1"/>
                </a:solidFill>
                <a:latin typeface="Segoe UI"/>
              </a:rPr>
              <a:t>Injecting Domain Knowledge with SFT and RLVR</a:t>
            </a:r>
          </a:p>
        </p:txBody>
      </p:sp>
      <p:sp>
        <p:nvSpPr>
          <p:cNvPr id="4" name="TextBox 3"/>
          <p:cNvSpPr txBox="1"/>
          <p:nvPr/>
        </p:nvSpPr>
        <p:spPr>
          <a:xfrm>
            <a:off x="777240" y="2834640"/>
            <a:ext cx="10332720" cy="502920"/>
          </a:xfrm>
          <a:prstGeom prst="rect">
            <a:avLst/>
          </a:prstGeom>
          <a:noFill/>
        </p:spPr>
        <p:txBody>
          <a:bodyPr wrap="square" lIns="0" tIns="0" rIns="0" bIns="0" anchor="t">
            <a:spAutoFit/>
          </a:bodyPr>
          <a:lstStyle/>
          <a:p>
            <a:pPr algn="l"/>
            <a:r>
              <a:rPr sz="1800" b="0" i="0">
                <a:solidFill>
                  <a:srgbClr val="56BCEB"/>
                </a:solidFill>
                <a:latin typeface="Segoe UI"/>
              </a:rPr>
              <a:t>Full-parameter SFT puts domain knowledge in; RLVR makes more of it answerable.</a:t>
            </a:r>
          </a:p>
        </p:txBody>
      </p:sp>
      <p:sp>
        <p:nvSpPr>
          <p:cNvPr id="5" name="TextBox 4"/>
          <p:cNvSpPr txBox="1"/>
          <p:nvPr/>
        </p:nvSpPr>
        <p:spPr>
          <a:xfrm>
            <a:off x="777240" y="3456432"/>
            <a:ext cx="10332720" cy="320040"/>
          </a:xfrm>
          <a:prstGeom prst="rect">
            <a:avLst/>
          </a:prstGeom>
          <a:noFill/>
        </p:spPr>
        <p:txBody>
          <a:bodyPr wrap="square" lIns="0" tIns="0" rIns="0" bIns="0" anchor="t">
            <a:spAutoFit/>
          </a:bodyPr>
          <a:lstStyle/>
          <a:p>
            <a:pPr algn="l"/>
            <a:r>
              <a:rPr sz="1100" b="0" i="0">
                <a:solidFill>
                  <a:srgbClr val="98A6B5"/>
                </a:solidFill>
                <a:latin typeface="Segoe UI"/>
              </a:rPr>
              <a:t>data science texts  ·  0.8B test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lIns="0" tIns="0" rIns="0" bIns="0" anchor="ctr">
            <a:spAutoFit/>
          </a:bodyPr>
          <a:lstStyle/>
          <a:p>
            <a:r>
              <a:rPr sz="2700" b="1">
                <a:solidFill>
                  <a:srgbClr val="E8ECF1"/>
                </a:solidFill>
                <a:latin typeface="Segoe UI"/>
              </a:rPr>
              <a:t>The result: base 4 → SFT 5 → first RL pass 9, of 16</a:t>
            </a:r>
          </a:p>
        </p:txBody>
      </p:sp>
      <p:graphicFrame>
        <p:nvGraphicFramePr>
          <p:cNvPr id="4" name="Table 3"/>
          <p:cNvGraphicFramePr>
            <a:graphicFrameLocks noGrp="1"/>
          </p:cNvGraphicFramePr>
          <p:nvPr/>
        </p:nvGraphicFramePr>
        <p:xfrm>
          <a:off x="777240" y="1417320"/>
          <a:ext cx="10469880" cy="2057400"/>
        </p:xfrm>
        <a:graphic>
          <a:graphicData uri="http://schemas.openxmlformats.org/drawingml/2006/table">
            <a:tbl>
              <a:tblPr firstRow="1" bandRow="1">
                <a:tableStyleId>{5C22544A-7EE6-4342-B048-85BDC9FD1C3A}</a:tableStyleId>
              </a:tblPr>
              <a:tblGrid>
                <a:gridCol w="731520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514350">
                <a:tc>
                  <a:txBody>
                    <a:bodyPr/>
                    <a:lstStyle/>
                    <a:p>
                      <a:pPr algn="l"/>
                      <a:r>
                        <a:rPr sz="1600" b="1" i="0">
                          <a:solidFill>
                            <a:srgbClr val="10141A"/>
                          </a:solidFill>
                          <a:latin typeface="Segoe UI"/>
                        </a:rPr>
                        <a:t>checkpoint</a:t>
                      </a:r>
                    </a:p>
                  </a:txBody>
                  <a:tcPr marT="36576" marB="36576" anchor="ctr">
                    <a:solidFill>
                      <a:srgbClr val="56BCEB"/>
                    </a:solidFill>
                  </a:tcPr>
                </a:tc>
                <a:tc>
                  <a:txBody>
                    <a:bodyPr/>
                    <a:lstStyle/>
                    <a:p>
                      <a:pPr algn="l"/>
                      <a:r>
                        <a:rPr sz="1600" b="1" i="0">
                          <a:solidFill>
                            <a:srgbClr val="10141A"/>
                          </a:solidFill>
                          <a:latin typeface="Segoe UI"/>
                        </a:rPr>
                        <a:t>answerable</a:t>
                      </a:r>
                    </a:p>
                  </a:txBody>
                  <a:tcPr marT="36576" marB="36576" anchor="ctr">
                    <a:solidFill>
                      <a:srgbClr val="56BCEB"/>
                    </a:solidFill>
                  </a:tcPr>
                </a:tc>
                <a:extLst>
                  <a:ext uri="{0D108BD9-81ED-4DB2-BD59-A6C34878D82A}">
                    <a16:rowId xmlns:a16="http://schemas.microsoft.com/office/drawing/2014/main" val="10000"/>
                  </a:ext>
                </a:extLst>
              </a:tr>
              <a:tr h="514350">
                <a:tc>
                  <a:txBody>
                    <a:bodyPr/>
                    <a:lstStyle/>
                    <a:p>
                      <a:r>
                        <a:rPr sz="1600">
                          <a:solidFill>
                            <a:srgbClr val="98A6B5"/>
                          </a:solidFill>
                          <a:latin typeface="Segoe UI"/>
                        </a:rPr>
                        <a:t>base</a:t>
                      </a:r>
                    </a:p>
                  </a:txBody>
                  <a:tcPr marT="36576" marB="36576" anchor="ctr">
                    <a:solidFill>
                      <a:srgbClr val="1E232B"/>
                    </a:solidFill>
                  </a:tcPr>
                </a:tc>
                <a:tc>
                  <a:txBody>
                    <a:bodyPr/>
                    <a:lstStyle/>
                    <a:p>
                      <a:r>
                        <a:rPr sz="1600">
                          <a:solidFill>
                            <a:srgbClr val="98A6B5"/>
                          </a:solidFill>
                          <a:latin typeface="Segoe UI"/>
                        </a:rPr>
                        <a:t>4 / 16</a:t>
                      </a:r>
                    </a:p>
                  </a:txBody>
                  <a:tcPr marT="36576" marB="36576" anchor="ctr">
                    <a:solidFill>
                      <a:srgbClr val="1E232B"/>
                    </a:solidFill>
                  </a:tcPr>
                </a:tc>
                <a:extLst>
                  <a:ext uri="{0D108BD9-81ED-4DB2-BD59-A6C34878D82A}">
                    <a16:rowId xmlns:a16="http://schemas.microsoft.com/office/drawing/2014/main" val="10001"/>
                  </a:ext>
                </a:extLst>
              </a:tr>
              <a:tr h="514350">
                <a:tc>
                  <a:txBody>
                    <a:bodyPr/>
                    <a:lstStyle/>
                    <a:p>
                      <a:r>
                        <a:rPr sz="1600">
                          <a:solidFill>
                            <a:srgbClr val="6BD18A"/>
                          </a:solidFill>
                          <a:latin typeface="Segoe UI"/>
                        </a:rPr>
                        <a:t>full-parameter SFT</a:t>
                      </a:r>
                    </a:p>
                  </a:txBody>
                  <a:tcPr marT="36576" marB="36576" anchor="ctr">
                    <a:solidFill>
                      <a:srgbClr val="232933"/>
                    </a:solidFill>
                  </a:tcPr>
                </a:tc>
                <a:tc>
                  <a:txBody>
                    <a:bodyPr/>
                    <a:lstStyle/>
                    <a:p>
                      <a:r>
                        <a:rPr sz="1600">
                          <a:solidFill>
                            <a:srgbClr val="6BD18A"/>
                          </a:solidFill>
                          <a:latin typeface="Segoe UI"/>
                        </a:rPr>
                        <a:t>5 / 16</a:t>
                      </a:r>
                    </a:p>
                  </a:txBody>
                  <a:tcPr marT="36576" marB="36576" anchor="ctr">
                    <a:solidFill>
                      <a:srgbClr val="232933"/>
                    </a:solidFill>
                  </a:tcPr>
                </a:tc>
                <a:extLst>
                  <a:ext uri="{0D108BD9-81ED-4DB2-BD59-A6C34878D82A}">
                    <a16:rowId xmlns:a16="http://schemas.microsoft.com/office/drawing/2014/main" val="10002"/>
                  </a:ext>
                </a:extLst>
              </a:tr>
              <a:tr h="514350">
                <a:tc>
                  <a:txBody>
                    <a:bodyPr/>
                    <a:lstStyle/>
                    <a:p>
                      <a:r>
                        <a:rPr sz="1150" b="0">
                          <a:solidFill>
                            <a:srgbClr val="6BD18A"/>
                          </a:solidFill>
                          <a:latin typeface="Segoe UI"/>
                        </a:rPr>
                        <a:t>first RL pass</a:t>
                      </a:r>
                    </a:p>
                  </a:txBody>
                  <a:tcPr marT="36576" marB="36576" anchor="ctr">
                    <a:solidFill>
                      <a:srgbClr val="1E232B"/>
                    </a:solidFill>
                  </a:tcPr>
                </a:tc>
                <a:tc>
                  <a:txBody>
                    <a:bodyPr/>
                    <a:lstStyle/>
                    <a:p>
                      <a:r>
                        <a:rPr sz="1150" b="0">
                          <a:solidFill>
                            <a:srgbClr val="6BD18A"/>
                          </a:solidFill>
                          <a:latin typeface="Segoe UI"/>
                        </a:rPr>
                        <a:t>9 / 16</a:t>
                      </a:r>
                    </a:p>
                  </a:txBody>
                  <a:tcPr marT="36576" marB="36576" anchor="ctr">
                    <a:solidFill>
                      <a:srgbClr val="1E232B"/>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777240" y="5742432"/>
            <a:ext cx="10469880" cy="384048"/>
          </a:xfrm>
          <a:prstGeom prst="rect">
            <a:avLst/>
          </a:prstGeom>
          <a:noFill/>
        </p:spPr>
        <p:txBody>
          <a:bodyPr wrap="square" lIns="0" tIns="0" rIns="0" bIns="0" anchor="ctr">
            <a:spAutoFit/>
          </a:bodyPr>
          <a:lstStyle/>
          <a:p>
            <a:r>
              <a:rPr sz="1050" b="0">
                <a:solidFill>
                  <a:srgbClr val="98A6B5"/>
                </a:solidFill>
                <a:latin typeface="Segoe UI"/>
              </a:rPr>
              <a:t>Fixed-scoring sequence; the RL point is the first pass from SFT epoch 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lIns="0" tIns="0" rIns="0" bIns="0" anchor="ctr">
            <a:spAutoFit/>
          </a:bodyPr>
          <a:lstStyle/>
          <a:p>
            <a:pPr algn="l"/>
            <a:r>
              <a:rPr sz="2700" b="1" i="0">
                <a:solidFill>
                  <a:srgbClr val="E8ECF1"/>
                </a:solidFill>
                <a:latin typeface="Segoe UI"/>
              </a:rPr>
              <a:t>What was tested</a:t>
            </a:r>
          </a:p>
        </p:txBody>
      </p:sp>
      <p:sp>
        <p:nvSpPr>
          <p:cNvPr id="4" name="TextBox 3"/>
          <p:cNvSpPr txBox="1"/>
          <p:nvPr/>
        </p:nvSpPr>
        <p:spPr>
          <a:xfrm>
            <a:off x="868680" y="1353312"/>
            <a:ext cx="10241280" cy="1661993"/>
          </a:xfrm>
          <a:prstGeom prst="rect">
            <a:avLst/>
          </a:prstGeom>
          <a:noFill/>
        </p:spPr>
        <p:txBody>
          <a:bodyPr wrap="square" lIns="0" tIns="0" rIns="0" bIns="0" anchor="t">
            <a:spAutoFit/>
          </a:bodyPr>
          <a:lstStyle/>
          <a:p>
            <a:pPr algn="l"/>
            <a:r>
              <a:rPr sz="1800" b="0" dirty="0">
                <a:solidFill>
                  <a:srgbClr val="E8ECF1"/>
                </a:solidFill>
                <a:latin typeface="Segoe UI"/>
              </a:rPr>
              <a:t>Business problem: pretrained models do not contain organization-specific domain data unless it was in pretraining.</a:t>
            </a:r>
          </a:p>
          <a:p>
            <a:r>
              <a:rPr sz="1800" b="0" dirty="0">
                <a:solidFill>
                  <a:srgbClr val="56BCEB"/>
                </a:solidFill>
                <a:latin typeface="Segoe UI"/>
              </a:rPr>
              <a:t>Test: full-parameter SFT → RLVR on data science texts.</a:t>
            </a:r>
          </a:p>
          <a:p>
            <a:r>
              <a:rPr sz="1800" b="0" dirty="0">
                <a:solidFill>
                  <a:srgbClr val="E8ECF1"/>
                </a:solidFill>
                <a:latin typeface="Segoe UI"/>
              </a:rPr>
              <a:t>Four overlays on sampled domain: Math · Code · STEM · Instruction</a:t>
            </a:r>
          </a:p>
          <a:p>
            <a:r>
              <a:rPr sz="1800" b="0" dirty="0">
                <a:solidFill>
                  <a:srgbClr val="E8ECF1"/>
                </a:solidFill>
                <a:latin typeface="Segoe UI"/>
              </a:rPr>
              <a:t>0.8B policy model  ·  238-prompt pool, 7 used by the winning run  ·  160-token cap</a:t>
            </a:r>
          </a:p>
          <a:p>
            <a:r>
              <a:rPr sz="1800" b="0" dirty="0">
                <a:solidFill>
                  <a:srgbClr val="E8ECF1"/>
                </a:solidFill>
                <a:latin typeface="Segoe UI"/>
              </a:rPr>
              <a:t>16 frozen evaluation questions  ·  </a:t>
            </a:r>
            <a:r>
              <a:rPr sz="1800" b="0">
                <a:solidFill>
                  <a:srgbClr val="E8ECF1"/>
                </a:solidFill>
                <a:latin typeface="Segoe UI"/>
              </a:rPr>
              <a:t>no </a:t>
            </a:r>
            <a:r>
              <a:rPr lang="en-US">
                <a:solidFill>
                  <a:srgbClr val="E8ECF1"/>
                </a:solidFill>
                <a:latin typeface="Segoe UI"/>
              </a:rPr>
              <a:t>‘context’ field</a:t>
            </a:r>
            <a:r>
              <a:rPr sz="1800" b="0">
                <a:solidFill>
                  <a:srgbClr val="E8ECF1"/>
                </a:solidFill>
                <a:latin typeface="Segoe UI"/>
              </a:rPr>
              <a:t>  </a:t>
            </a:r>
            <a:r>
              <a:rPr sz="1800" b="0" dirty="0">
                <a:solidFill>
                  <a:srgbClr val="E8ECF1"/>
                </a:solidFill>
                <a:latin typeface="Segoe UI"/>
              </a:rPr>
              <a:t>·  no abstention option</a:t>
            </a:r>
          </a:p>
        </p:txBody>
      </p:sp>
      <p:sp>
        <p:nvSpPr>
          <p:cNvPr id="5" name="TextBox 4"/>
          <p:cNvSpPr txBox="1"/>
          <p:nvPr/>
        </p:nvSpPr>
        <p:spPr>
          <a:xfrm>
            <a:off x="777240" y="5742432"/>
            <a:ext cx="10469880" cy="384048"/>
          </a:xfrm>
          <a:prstGeom prst="rect">
            <a:avLst/>
          </a:prstGeom>
          <a:noFill/>
        </p:spPr>
        <p:txBody>
          <a:bodyPr wrap="square" lIns="0" tIns="0" rIns="0" bIns="0" anchor="ctr">
            <a:spAutoFit/>
          </a:bodyPr>
          <a:lstStyle/>
          <a:p>
            <a:pPr algn="l"/>
            <a:r>
              <a:rPr sz="1050" b="0" i="0">
                <a:solidFill>
                  <a:srgbClr val="98A6B5"/>
                </a:solidFill>
                <a:latin typeface="Segoe UI"/>
              </a:rPr>
              <a:t>A correct answer has to come from the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lIns="0" tIns="0" rIns="0" bIns="0" anchor="ctr">
            <a:spAutoFit/>
          </a:bodyPr>
          <a:lstStyle/>
          <a:p>
            <a:pPr algn="l"/>
            <a:r>
              <a:rPr sz="2700" b="1" i="0">
                <a:solidFill>
                  <a:srgbClr val="E8ECF1"/>
                </a:solidFill>
                <a:latin typeface="Segoe UI"/>
              </a:rPr>
              <a:t>RLVR: the reward comes from a verifier</a:t>
            </a:r>
          </a:p>
        </p:txBody>
      </p:sp>
      <p:sp>
        <p:nvSpPr>
          <p:cNvPr id="4" name="TextBox 3"/>
          <p:cNvSpPr txBox="1"/>
          <p:nvPr/>
        </p:nvSpPr>
        <p:spPr>
          <a:xfrm>
            <a:off x="868680" y="1417320"/>
            <a:ext cx="10241280" cy="3108960"/>
          </a:xfrm>
          <a:prstGeom prst="rect">
            <a:avLst/>
          </a:prstGeom>
          <a:noFill/>
        </p:spPr>
        <p:txBody>
          <a:bodyPr wrap="square" lIns="0" tIns="0" rIns="0" bIns="0" anchor="t">
            <a:spAutoFit/>
          </a:bodyPr>
          <a:lstStyle/>
          <a:p>
            <a:pPr algn="l"/>
            <a:r>
              <a:rPr sz="1800" b="0">
                <a:solidFill>
                  <a:srgbClr val="E8ECF1"/>
                </a:solidFill>
                <a:latin typeface="Segoe UI"/>
              </a:rPr>
              <a:t>9B author — writes questions, gold answers, and rubric examples.</a:t>
            </a:r>
          </a:p>
          <a:p>
            <a:r>
              <a:rPr sz="1800" b="0">
                <a:solidFill>
                  <a:srgbClr val="E8ECF1"/>
                </a:solidFill>
                <a:latin typeface="Segoe UI"/>
              </a:rPr>
              <a:t>4B LLM verifier — applies that written rubric to each answer.</a:t>
            </a:r>
          </a:p>
          <a:p>
            <a:r>
              <a:rPr sz="1800" b="0">
                <a:solidFill>
                  <a:srgbClr val="E8ECF1"/>
                </a:solidFill>
                <a:latin typeface="Segoe UI"/>
              </a:rPr>
              <a:t>0.8B policy — writes answers and never sees the rubric.</a:t>
            </a:r>
          </a:p>
          <a:p>
            <a:r>
              <a:rPr sz="1800" b="0">
                <a:solidFill>
                  <a:srgbClr val="56BCEB"/>
                </a:solidFill>
                <a:latin typeface="Segoe UI"/>
              </a:rPr>
              <a:t>The reward is rubric-based correctness, not a human-preference reward model.</a:t>
            </a:r>
          </a:p>
        </p:txBody>
      </p:sp>
      <p:sp>
        <p:nvSpPr>
          <p:cNvPr id="5" name="TextBox 4"/>
          <p:cNvSpPr txBox="1"/>
          <p:nvPr/>
        </p:nvSpPr>
        <p:spPr>
          <a:xfrm>
            <a:off x="777240" y="5742432"/>
            <a:ext cx="10469880" cy="384048"/>
          </a:xfrm>
          <a:prstGeom prst="rect">
            <a:avLst/>
          </a:prstGeom>
          <a:noFill/>
        </p:spPr>
        <p:txBody>
          <a:bodyPr wrap="square" lIns="0" tIns="0" rIns="0" bIns="0" anchor="ctr">
            <a:spAutoFit/>
          </a:bodyPr>
          <a:lstStyle/>
          <a:p>
            <a:pPr algn="l"/>
            <a:r>
              <a:rPr sz="1050" b="0" i="0">
                <a:solidFill>
                  <a:srgbClr val="98A6B5"/>
                </a:solidFill>
                <a:latin typeface="Segoe UI"/>
              </a:rPr>
              <a:t>LLM feedback, but verifier-based RL rather than classic RLHF.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lIns="0" tIns="0" rIns="0" bIns="0" anchor="ctr">
            <a:spAutoFit/>
          </a:bodyPr>
          <a:lstStyle/>
          <a:p>
            <a:r>
              <a:rPr sz="2700" b="1">
                <a:solidFill>
                  <a:srgbClr val="E8ECF1"/>
                </a:solidFill>
                <a:latin typeface="Segoe UI"/>
              </a:rPr>
              <a:t>The rubric, applied — one question, seven answers</a:t>
            </a:r>
          </a:p>
        </p:txBody>
      </p:sp>
      <p:sp>
        <p:nvSpPr>
          <p:cNvPr id="4" name="TextBox 3"/>
          <p:cNvSpPr txBox="1"/>
          <p:nvPr/>
        </p:nvSpPr>
        <p:spPr>
          <a:xfrm>
            <a:off x="868680" y="1024128"/>
            <a:ext cx="10241280" cy="320040"/>
          </a:xfrm>
          <a:prstGeom prst="rect">
            <a:avLst/>
          </a:prstGeom>
          <a:noFill/>
        </p:spPr>
        <p:txBody>
          <a:bodyPr wrap="square" lIns="0" tIns="0" rIns="0" bIns="0" anchor="t">
            <a:spAutoFit/>
          </a:bodyPr>
          <a:lstStyle/>
          <a:p>
            <a:r>
              <a:rPr sz="1150" b="0">
                <a:solidFill>
                  <a:srgbClr val="98A6B5"/>
                </a:solidFill>
                <a:latin typeface="Segoe UI"/>
              </a:rPr>
              <a:t>Question: With BaggingRegressor over decision-tree bases, which statistical property does averaging primarily reduce?</a:t>
            </a:r>
          </a:p>
        </p:txBody>
      </p:sp>
      <p:graphicFrame>
        <p:nvGraphicFramePr>
          <p:cNvPr id="4" name="Table 3"/>
          <p:cNvGraphicFramePr>
            <a:graphicFrameLocks noGrp="1"/>
          </p:cNvGraphicFramePr>
          <p:nvPr/>
        </p:nvGraphicFramePr>
        <p:xfrm>
          <a:off x="713232" y="1298448"/>
          <a:ext cx="9573768" cy="2551176"/>
        </p:xfrm>
        <a:graphic>
          <a:graphicData uri="http://schemas.openxmlformats.org/drawingml/2006/table">
            <a:tbl>
              <a:tblPr>
                <a:tableStyleId>{5C22544A-7EE6-4342-B048-85BDC9FD1C3A}</a:tableStyleId>
              </a:tblPr>
              <a:tblGrid>
                <a:gridCol w="3474720"/>
                <a:gridCol w="3474720"/>
                <a:gridCol w="3474720"/>
              </a:tblGrid>
              <a:tr h="398417">
                <a:tc>
                  <a:txBody>
                    <a:bodyPr/>
                    <a:lstStyle/>
                    <a:p>
                      <a:pPr>
                        <a:spcAft>
                          <a:spcPts val="0"/>
                        </a:spcAft>
                      </a:pPr>
                      <a:r>
                        <a:rPr sz="1300" b="1">
                          <a:solidFill>
                            <a:srgbClr val="12161C"/>
                          </a:solidFill>
                          <a:latin typeface="Segoe UI"/>
                        </a:rPr>
                        <a:t>answer</a:t>
                      </a:r>
                    </a:p>
                  </a:txBody>
                  <a:tcPr>
                    <a:solidFill>
                      <a:srgbClr val="5BC8F5"/>
                    </a:solidFill>
                  </a:tcPr>
                </a:tc>
                <a:tc>
                  <a:txBody>
                    <a:bodyPr/>
                    <a:lstStyle/>
                    <a:p>
                      <a:pPr>
                        <a:spcAft>
                          <a:spcPts val="0"/>
                        </a:spcAft>
                      </a:pPr>
                      <a:r>
                        <a:rPr sz="1300" b="1">
                          <a:solidFill>
                            <a:srgbClr val="12161C"/>
                          </a:solidFill>
                          <a:latin typeface="Segoe UI"/>
                        </a:rPr>
                        <a:t>score</a:t>
                      </a:r>
                    </a:p>
                  </a:txBody>
                  <a:tcPr>
                    <a:solidFill>
                      <a:srgbClr val="5BC8F5"/>
                    </a:solidFill>
                  </a:tcPr>
                </a:tc>
                <a:tc>
                  <a:txBody>
                    <a:bodyPr/>
                    <a:lstStyle/>
                    <a:p>
                      <a:pPr>
                        <a:spcAft>
                          <a:spcPts val="0"/>
                        </a:spcAft>
                      </a:pPr>
                      <a:r>
                        <a:rPr sz="1300" b="1">
                          <a:solidFill>
                            <a:srgbClr val="12161C"/>
                          </a:solidFill>
                          <a:latin typeface="Segoe UI"/>
                        </a:rPr>
                        <a:t>why that number</a:t>
                      </a:r>
                    </a:p>
                  </a:txBody>
                  <a:tcPr>
                    <a:solidFill>
                      <a:srgbClr val="5BC8F5"/>
                    </a:solidFill>
                  </a:tcPr>
                </a:tc>
              </a:tr>
              <a:tr h="398417">
                <a:tc>
                  <a:txBody>
                    <a:bodyPr/>
                    <a:lstStyle/>
                    <a:p>
                      <a:pPr>
                        <a:spcAft>
                          <a:spcPts val="0"/>
                        </a:spcAft>
                      </a:pPr>
                      <a:r>
                        <a:rPr sz="1200">
                          <a:solidFill>
                            <a:srgbClr val="6ED38A"/>
                          </a:solidFill>
                          <a:latin typeface="Segoe UI"/>
                        </a:rPr>
                        <a:t>variance — averaging high-variance trees</a:t>
                      </a:r>
                    </a:p>
                  </a:txBody>
                  <a:tcPr>
                    <a:solidFill>
                      <a:srgbClr val="1A1F27"/>
                    </a:solidFill>
                  </a:tcPr>
                </a:tc>
                <a:tc>
                  <a:txBody>
                    <a:bodyPr/>
                    <a:lstStyle/>
                    <a:p>
                      <a:pPr>
                        <a:spcAft>
                          <a:spcPts val="0"/>
                        </a:spcAft>
                      </a:pPr>
                      <a:r>
                        <a:rPr sz="1200">
                          <a:solidFill>
                            <a:srgbClr val="6ED38A"/>
                          </a:solidFill>
                          <a:latin typeface="Segoe UI"/>
                        </a:rPr>
                        <a:t>0.95</a:t>
                      </a:r>
                    </a:p>
                  </a:txBody>
                  <a:tcPr>
                    <a:solidFill>
                      <a:srgbClr val="1A1F27"/>
                    </a:solidFill>
                  </a:tcPr>
                </a:tc>
                <a:tc>
                  <a:txBody>
                    <a:bodyPr/>
                    <a:lstStyle/>
                    <a:p>
                      <a:pPr>
                        <a:spcAft>
                          <a:spcPts val="0"/>
                        </a:spcAft>
                      </a:pPr>
                      <a:r>
                        <a:rPr sz="1200">
                          <a:solidFill>
                            <a:srgbClr val="6ED38A"/>
                          </a:solidFill>
                          <a:latin typeface="Segoe UI"/>
                        </a:rPr>
                        <a:t>the claim, said directly</a:t>
                      </a:r>
                    </a:p>
                  </a:txBody>
                  <a:tcPr>
                    <a:solidFill>
                      <a:srgbClr val="1A1F27"/>
                    </a:solidFill>
                  </a:tcPr>
                </a:tc>
              </a:tr>
              <a:tr h="398417">
                <a:tc>
                  <a:txBody>
                    <a:bodyPr/>
                    <a:lstStyle/>
                    <a:p>
                      <a:pPr>
                        <a:spcAft>
                          <a:spcPts val="0"/>
                        </a:spcAft>
                      </a:pPr>
                      <a:r>
                        <a:rPr sz="1200">
                          <a:solidFill>
                            <a:srgbClr val="6ED38A"/>
                          </a:solidFill>
                          <a:latin typeface="Segoe UI"/>
                        </a:rPr>
                        <a:t>“Averaging is used across many ensemble methods, and what it acts on here, statistically, is the variance of the base learners.”</a:t>
                      </a:r>
                    </a:p>
                  </a:txBody>
                  <a:tcPr>
                    <a:solidFill>
                      <a:srgbClr val="212731"/>
                    </a:solidFill>
                  </a:tcPr>
                </a:tc>
                <a:tc>
                  <a:txBody>
                    <a:bodyPr/>
                    <a:lstStyle/>
                    <a:p>
                      <a:pPr>
                        <a:spcAft>
                          <a:spcPts val="0"/>
                        </a:spcAft>
                      </a:pPr>
                      <a:r>
                        <a:rPr sz="1200">
                          <a:solidFill>
                            <a:srgbClr val="6ED38A"/>
                          </a:solidFill>
                          <a:latin typeface="Segoe UI"/>
                        </a:rPr>
                        <a:t>0.72</a:t>
                      </a:r>
                    </a:p>
                  </a:txBody>
                  <a:tcPr>
                    <a:solidFill>
                      <a:srgbClr val="212731"/>
                    </a:solidFill>
                  </a:tcPr>
                </a:tc>
                <a:tc>
                  <a:txBody>
                    <a:bodyPr/>
                    <a:lstStyle/>
                    <a:p>
                      <a:pPr>
                        <a:spcAft>
                          <a:spcPts val="0"/>
                        </a:spcAft>
                      </a:pPr>
                      <a:r>
                        <a:rPr sz="1200">
                          <a:solidFill>
                            <a:srgbClr val="6ED38A"/>
                          </a:solidFill>
                          <a:latin typeface="Segoe UI"/>
                        </a:rPr>
                        <a:t>CORRECT but padded — right answer, low band</a:t>
                      </a:r>
                    </a:p>
                  </a:txBody>
                  <a:tcPr>
                    <a:solidFill>
                      <a:srgbClr val="212731"/>
                    </a:solidFill>
                  </a:tcPr>
                </a:tc>
              </a:tr>
              <a:tr h="398417">
                <a:tc>
                  <a:txBody>
                    <a:bodyPr/>
                    <a:lstStyle/>
                    <a:p>
                      <a:pPr>
                        <a:spcAft>
                          <a:spcPts val="0"/>
                        </a:spcAft>
                      </a:pPr>
                      <a:r>
                        <a:rPr sz="1200">
                          <a:solidFill>
                            <a:srgbClr val="F27A7A"/>
                          </a:solidFill>
                          <a:latin typeface="Segoe UI"/>
                        </a:rPr>
                        <a:t>bias, since averaging corrects each tree's underfitting</a:t>
                      </a:r>
                    </a:p>
                  </a:txBody>
                  <a:tcPr>
                    <a:solidFill>
                      <a:srgbClr val="1A1F27"/>
                    </a:solidFill>
                  </a:tcPr>
                </a:tc>
                <a:tc>
                  <a:txBody>
                    <a:bodyPr/>
                    <a:lstStyle/>
                    <a:p>
                      <a:pPr>
                        <a:spcAft>
                          <a:spcPts val="0"/>
                        </a:spcAft>
                      </a:pPr>
                      <a:r>
                        <a:rPr sz="1200">
                          <a:solidFill>
                            <a:srgbClr val="F27A7A"/>
                          </a:solidFill>
                          <a:latin typeface="Segoe UI"/>
                        </a:rPr>
                        <a:t>0.45</a:t>
                      </a:r>
                    </a:p>
                  </a:txBody>
                  <a:tcPr>
                    <a:solidFill>
                      <a:srgbClr val="1A1F27"/>
                    </a:solidFill>
                  </a:tcPr>
                </a:tc>
                <a:tc>
                  <a:txBody>
                    <a:bodyPr/>
                    <a:lstStyle/>
                    <a:p>
                      <a:pPr>
                        <a:spcAft>
                          <a:spcPts val="0"/>
                        </a:spcAft>
                      </a:pPr>
                      <a:r>
                        <a:rPr sz="1200">
                          <a:solidFill>
                            <a:srgbClr val="F27A7A"/>
                          </a:solidFill>
                          <a:latin typeface="Segoe UI"/>
                        </a:rPr>
                        <a:t>commits to a named mechanism; the mechanism is wrong</a:t>
                      </a:r>
                    </a:p>
                  </a:txBody>
                  <a:tcPr>
                    <a:solidFill>
                      <a:srgbClr val="1A1F27"/>
                    </a:solidFill>
                  </a:tcPr>
                </a:tc>
              </a:tr>
              <a:tr h="398417">
                <a:tc>
                  <a:txBody>
                    <a:bodyPr/>
                    <a:lstStyle/>
                    <a:p>
                      <a:pPr>
                        <a:spcAft>
                          <a:spcPts val="0"/>
                        </a:spcAft>
                      </a:pPr>
                      <a:r>
                        <a:rPr sz="1200">
                          <a:solidFill>
                            <a:srgbClr val="F27A7A"/>
                          </a:solidFill>
                          <a:latin typeface="Segoe UI"/>
                        </a:rPr>
                        <a:t>it reduces total training time, the trees fit in parallel</a:t>
                      </a:r>
                    </a:p>
                  </a:txBody>
                  <a:tcPr>
                    <a:solidFill>
                      <a:srgbClr val="212731"/>
                    </a:solidFill>
                  </a:tcPr>
                </a:tc>
                <a:tc>
                  <a:txBody>
                    <a:bodyPr/>
                    <a:lstStyle/>
                    <a:p>
                      <a:pPr>
                        <a:spcAft>
                          <a:spcPts val="0"/>
                        </a:spcAft>
                      </a:pPr>
                      <a:r>
                        <a:rPr sz="1200">
                          <a:solidFill>
                            <a:srgbClr val="F27A7A"/>
                          </a:solidFill>
                          <a:latin typeface="Segoe UI"/>
                        </a:rPr>
                        <a:t>0.32</a:t>
                      </a:r>
                    </a:p>
                  </a:txBody>
                  <a:tcPr>
                    <a:solidFill>
                      <a:srgbClr val="212731"/>
                    </a:solidFill>
                  </a:tcPr>
                </a:tc>
                <a:tc>
                  <a:txBody>
                    <a:bodyPr/>
                    <a:lstStyle/>
                    <a:p>
                      <a:pPr>
                        <a:spcAft>
                          <a:spcPts val="0"/>
                        </a:spcAft>
                      </a:pPr>
                      <a:r>
                        <a:rPr sz="1200">
                          <a:solidFill>
                            <a:srgbClr val="F27A7A"/>
                          </a:solidFill>
                          <a:latin typeface="Segoe UI"/>
                        </a:rPr>
                        <a:t>true of bagging — answers a DIFFERENT question</a:t>
                      </a:r>
                    </a:p>
                  </a:txBody>
                  <a:tcPr>
                    <a:solidFill>
                      <a:srgbClr val="212731"/>
                    </a:solidFill>
                  </a:tcPr>
                </a:tc>
              </a:tr>
              <a:tr h="398417">
                <a:tc>
                  <a:txBody>
                    <a:bodyPr/>
                    <a:lstStyle/>
                    <a:p>
                      <a:pPr>
                        <a:spcAft>
                          <a:spcPts val="0"/>
                        </a:spcAft>
                      </a:pPr>
                      <a:r>
                        <a:rPr sz="1200">
                          <a:solidFill>
                            <a:srgbClr val="F27A7A"/>
                          </a:solidFill>
                          <a:latin typeface="Segoe UI"/>
                        </a:rPr>
                        <a:t>ensembles combine estimators to improve performance</a:t>
                      </a:r>
                    </a:p>
                  </a:txBody>
                  <a:tcPr>
                    <a:solidFill>
                      <a:srgbClr val="1A1F27"/>
                    </a:solidFill>
                  </a:tcPr>
                </a:tc>
                <a:tc>
                  <a:txBody>
                    <a:bodyPr/>
                    <a:lstStyle/>
                    <a:p>
                      <a:pPr>
                        <a:spcAft>
                          <a:spcPts val="0"/>
                        </a:spcAft>
                      </a:pPr>
                      <a:r>
                        <a:rPr sz="1200">
                          <a:solidFill>
                            <a:srgbClr val="F27A7A"/>
                          </a:solidFill>
                          <a:latin typeface="Segoe UI"/>
                        </a:rPr>
                        <a:t>0.18</a:t>
                      </a:r>
                    </a:p>
                  </a:txBody>
                  <a:tcPr>
                    <a:solidFill>
                      <a:srgbClr val="1A1F27"/>
                    </a:solidFill>
                  </a:tcPr>
                </a:tc>
                <a:tc>
                  <a:txBody>
                    <a:bodyPr/>
                    <a:lstStyle/>
                    <a:p>
                      <a:pPr>
                        <a:spcAft>
                          <a:spcPts val="0"/>
                        </a:spcAft>
                      </a:pPr>
                      <a:r>
                        <a:rPr sz="1200">
                          <a:solidFill>
                            <a:srgbClr val="F27A7A"/>
                          </a:solidFill>
                          <a:latin typeface="Segoe UI"/>
                        </a:rPr>
                        <a:t>on-topic; asserts nothing about this question</a:t>
                      </a:r>
                    </a:p>
                  </a:txBody>
                  <a:tcPr>
                    <a:solidFill>
                      <a:srgbClr val="1A1F27"/>
                    </a:solidFill>
                  </a:tcPr>
                </a:tc>
              </a:tr>
              <a:tr h="398418">
                <a:tc>
                  <a:txBody>
                    <a:bodyPr/>
                    <a:lstStyle/>
                    <a:p>
                      <a:pPr>
                        <a:spcAft>
                          <a:spcPts val="0"/>
                        </a:spcAft>
                      </a:pPr>
                      <a:r>
                        <a:rPr sz="1200">
                          <a:solidFill>
                            <a:srgbClr val="F27A7A"/>
                          </a:solidFill>
                          <a:latin typeface="Segoe UI"/>
                        </a:rPr>
                        <a:t>“Yes, that is the standard approach.”</a:t>
                      </a:r>
                    </a:p>
                  </a:txBody>
                  <a:tcPr>
                    <a:solidFill>
                      <a:srgbClr val="212731"/>
                    </a:solidFill>
                  </a:tcPr>
                </a:tc>
                <a:tc>
                  <a:txBody>
                    <a:bodyPr/>
                    <a:lstStyle/>
                    <a:p>
                      <a:pPr>
                        <a:spcAft>
                          <a:spcPts val="0"/>
                        </a:spcAft>
                      </a:pPr>
                      <a:r>
                        <a:rPr sz="1200">
                          <a:solidFill>
                            <a:srgbClr val="F27A7A"/>
                          </a:solidFill>
                          <a:latin typeface="Segoe UI"/>
                        </a:rPr>
                        <a:t>0.05</a:t>
                      </a:r>
                    </a:p>
                  </a:txBody>
                  <a:tcPr>
                    <a:solidFill>
                      <a:srgbClr val="212731"/>
                    </a:solidFill>
                  </a:tcPr>
                </a:tc>
                <a:tc>
                  <a:txBody>
                    <a:bodyPr/>
                    <a:lstStyle/>
                    <a:p>
                      <a:pPr>
                        <a:spcAft>
                          <a:spcPts val="0"/>
                        </a:spcAft>
                      </a:pPr>
                      <a:r>
                        <a:rPr sz="1200">
                          <a:solidFill>
                            <a:srgbClr val="F27A7A"/>
                          </a:solidFill>
                          <a:latin typeface="Segoe UI"/>
                        </a:rPr>
                        <a:t>content-free deferral — it never tried</a:t>
                      </a:r>
                    </a:p>
                  </a:txBody>
                  <a:tcPr>
                    <a:solidFill>
                      <a:srgbClr val="212731"/>
                    </a:solidFill>
                  </a:tcPr>
                </a:tc>
              </a:tr>
            </a:tbl>
          </a:graphicData>
        </a:graphic>
      </p:graphicFrame>
      <p:sp>
        <p:nvSpPr>
          <p:cNvPr id="6" name="TextBox 5"/>
          <p:cNvSpPr txBox="1"/>
          <p:nvPr/>
        </p:nvSpPr>
        <p:spPr>
          <a:xfrm>
            <a:off x="777240" y="5742432"/>
            <a:ext cx="10469880" cy="384048"/>
          </a:xfrm>
          <a:prstGeom prst="rect">
            <a:avLst/>
          </a:prstGeom>
          <a:noFill/>
        </p:spPr>
        <p:txBody>
          <a:bodyPr wrap="square" lIns="0" tIns="0" rIns="0" bIns="0" anchor="ctr">
            <a:spAutoFit/>
          </a:bodyPr>
          <a:lstStyle/>
          <a:p>
            <a:pPr algn="l"/>
            <a:r>
              <a:rPr sz="1050" b="0" i="0">
                <a:solidFill>
                  <a:srgbClr val="98A6B5"/>
                </a:solidFill>
                <a:latin typeface="Segoe UI"/>
              </a:rPr>
              <a:t>0.70 is the correctness line. The reward is that yes/no ONLY — 0.95 and 0.72 earn the same 1.0; 0.45 and 0.05 earn the same 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a:spAutoFit/>
          </a:bodyPr>
          <a:lstStyle/>
          <a:p>
            <a:r>
              <a:rPr sz="2700" b="1">
                <a:solidFill>
                  <a:srgbClr val="E8ECF1"/>
                </a:solidFill>
                <a:latin typeface="Segoe UI"/>
              </a:rPr>
              <a:t>GRPO, modified for this run</a:t>
            </a:r>
          </a:p>
        </p:txBody>
      </p:sp>
      <p:sp>
        <p:nvSpPr>
          <p:cNvPr id="4" name="TextBox 3"/>
          <p:cNvSpPr txBox="1"/>
          <p:nvPr/>
        </p:nvSpPr>
        <p:spPr>
          <a:xfrm>
            <a:off x="868680" y="1170432"/>
            <a:ext cx="10149840" cy="566928"/>
          </a:xfrm>
          <a:prstGeom prst="rect">
            <a:avLst/>
          </a:prstGeom>
          <a:noFill/>
        </p:spPr>
        <p:txBody>
          <a:bodyPr wrap="square">
            <a:spAutoFit/>
          </a:bodyPr>
          <a:lstStyle/>
          <a:p>
            <a:r>
              <a:rPr sz="1800" b="1">
                <a:solidFill>
                  <a:srgbClr val="56BCEB"/>
                </a:solidFill>
                <a:latin typeface="Segoe UI"/>
              </a:rPr>
              <a:t>For each question, write 4 answers, grade them, push the model toward the better ones.</a:t>
            </a:r>
          </a:p>
        </p:txBody>
      </p:sp>
      <p:graphicFrame>
        <p:nvGraphicFramePr>
          <p:cNvPr id="5" name="Table 4"/>
          <p:cNvGraphicFramePr>
            <a:graphicFrameLocks noGrp="1"/>
          </p:cNvGraphicFramePr>
          <p:nvPr/>
        </p:nvGraphicFramePr>
        <p:xfrm>
          <a:off x="868680" y="1828800"/>
          <a:ext cx="10149840" cy="3456432"/>
        </p:xfrm>
        <a:graphic>
          <a:graphicData uri="http://schemas.openxmlformats.org/drawingml/2006/table">
            <a:tbl>
              <a:tblPr firstRow="1" bandRow="1">
                <a:tableStyleId>{5C22544A-7EE6-4342-B048-85BDC9FD1C3A}</a:tableStyleId>
              </a:tblPr>
              <a:tblGrid>
                <a:gridCol w="3063240">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tblGrid>
              <a:tr h="432054">
                <a:tc>
                  <a:txBody>
                    <a:bodyPr/>
                    <a:lstStyle/>
                    <a:p>
                      <a:r>
                        <a:rPr sz="1300" b="1">
                          <a:solidFill>
                            <a:srgbClr val="10141A"/>
                          </a:solidFill>
                          <a:latin typeface="Segoe UI"/>
                        </a:rPr>
                        <a:t>GRPO core</a:t>
                      </a:r>
                    </a:p>
                  </a:txBody>
                  <a:tcPr marT="36576" marB="36576" anchor="ctr">
                    <a:solidFill>
                      <a:srgbClr val="56BCEB"/>
                    </a:solidFill>
                  </a:tcPr>
                </a:tc>
                <a:tc>
                  <a:txBody>
                    <a:bodyPr/>
                    <a:lstStyle/>
                    <a:p>
                      <a:r>
                        <a:rPr sz="1300" b="1">
                          <a:solidFill>
                            <a:srgbClr val="10141A"/>
                          </a:solidFill>
                          <a:latin typeface="Segoe UI"/>
                        </a:rPr>
                        <a:t>our run</a:t>
                      </a:r>
                    </a:p>
                  </a:txBody>
                  <a:tcPr marT="36576" marB="36576" anchor="ctr">
                    <a:solidFill>
                      <a:srgbClr val="56BCEB"/>
                    </a:solidFill>
                  </a:tcPr>
                </a:tc>
                <a:extLst>
                  <a:ext uri="{0D108BD9-81ED-4DB2-BD59-A6C34878D82A}">
                    <a16:rowId xmlns:a16="http://schemas.microsoft.com/office/drawing/2014/main" val="10000"/>
                  </a:ext>
                </a:extLst>
              </a:tr>
              <a:tr h="432054">
                <a:tc>
                  <a:txBody>
                    <a:bodyPr/>
                    <a:lstStyle/>
                    <a:p>
                      <a:r>
                        <a:rPr sz="1150" b="0">
                          <a:solidFill>
                            <a:srgbClr val="E8ECF1"/>
                          </a:solidFill>
                          <a:latin typeface="Segoe UI"/>
                        </a:rPr>
                        <a:t>Rollouts</a:t>
                      </a:r>
                    </a:p>
                  </a:txBody>
                  <a:tcPr marT="36576" marB="36576" anchor="ctr">
                    <a:solidFill>
                      <a:srgbClr val="1E232B"/>
                    </a:solidFill>
                  </a:tcPr>
                </a:tc>
                <a:tc>
                  <a:txBody>
                    <a:bodyPr/>
                    <a:lstStyle/>
                    <a:p>
                      <a:r>
                        <a:rPr sz="1150" b="0">
                          <a:solidFill>
                            <a:srgbClr val="E8ECF1"/>
                          </a:solidFill>
                          <a:latin typeface="Segoe UI"/>
                        </a:rPr>
                        <a:t>G=4 completions per prompt</a:t>
                      </a:r>
                    </a:p>
                  </a:txBody>
                  <a:tcPr marT="36576" marB="36576" anchor="ctr">
                    <a:solidFill>
                      <a:srgbClr val="1E232B"/>
                    </a:solidFill>
                  </a:tcPr>
                </a:tc>
                <a:extLst>
                  <a:ext uri="{0D108BD9-81ED-4DB2-BD59-A6C34878D82A}">
                    <a16:rowId xmlns:a16="http://schemas.microsoft.com/office/drawing/2014/main" val="10001"/>
                  </a:ext>
                </a:extLst>
              </a:tr>
              <a:tr h="432054">
                <a:tc>
                  <a:txBody>
                    <a:bodyPr/>
                    <a:lstStyle/>
                    <a:p>
                      <a:r>
                        <a:rPr sz="1150" b="0">
                          <a:solidFill>
                            <a:srgbClr val="E8ECF1"/>
                          </a:solidFill>
                          <a:latin typeface="Segoe UI"/>
                        </a:rPr>
                        <a:t>Reward</a:t>
                      </a:r>
                    </a:p>
                  </a:txBody>
                  <a:tcPr marT="36576" marB="36576" anchor="ctr">
                    <a:solidFill>
                      <a:srgbClr val="232933"/>
                    </a:solidFill>
                  </a:tcPr>
                </a:tc>
                <a:tc>
                  <a:txBody>
                    <a:bodyPr/>
                    <a:lstStyle/>
                    <a:p>
                      <a:r>
                        <a:rPr sz="1150" b="0">
                          <a:solidFill>
                            <a:srgbClr val="6BD18A"/>
                          </a:solidFill>
                          <a:latin typeface="Segoe UI"/>
                        </a:rPr>
                        <a:t>LLM verifier score → binary gate: ≥0.70 = 1; below = 0</a:t>
                      </a:r>
                    </a:p>
                  </a:txBody>
                  <a:tcPr marT="36576" marB="36576" anchor="ctr">
                    <a:solidFill>
                      <a:srgbClr val="232933"/>
                    </a:solidFill>
                  </a:tcPr>
                </a:tc>
                <a:extLst>
                  <a:ext uri="{0D108BD9-81ED-4DB2-BD59-A6C34878D82A}">
                    <a16:rowId xmlns:a16="http://schemas.microsoft.com/office/drawing/2014/main" val="10002"/>
                  </a:ext>
                </a:extLst>
              </a:tr>
              <a:tr h="432054">
                <a:tc>
                  <a:txBody>
                    <a:bodyPr/>
                    <a:lstStyle/>
                    <a:p>
                      <a:r>
                        <a:rPr sz="1150" b="0">
                          <a:solidFill>
                            <a:srgbClr val="E8ECF1"/>
                          </a:solidFill>
                          <a:latin typeface="Segoe UI"/>
                        </a:rPr>
                        <a:t>Advantage</a:t>
                      </a:r>
                    </a:p>
                  </a:txBody>
                  <a:tcPr marT="36576" marB="36576" anchor="ctr">
                    <a:solidFill>
                      <a:srgbClr val="1E232B"/>
                    </a:solidFill>
                  </a:tcPr>
                </a:tc>
                <a:tc>
                  <a:txBody>
                    <a:bodyPr/>
                    <a:lstStyle/>
                    <a:p>
                      <a:r>
                        <a:rPr sz="1150" b="0">
                          <a:solidFill>
                            <a:srgbClr val="E8ECF1"/>
                          </a:solidFill>
                          <a:latin typeface="Segoe UI"/>
                        </a:rPr>
                        <a:t>group-relative update; mean subtraction only, no std scaling (Dr. GRPO)</a:t>
                      </a:r>
                    </a:p>
                  </a:txBody>
                  <a:tcPr marT="36576" marB="36576" anchor="ctr">
                    <a:solidFill>
                      <a:srgbClr val="1E232B"/>
                    </a:solidFill>
                  </a:tcPr>
                </a:tc>
                <a:extLst>
                  <a:ext uri="{0D108BD9-81ED-4DB2-BD59-A6C34878D82A}">
                    <a16:rowId xmlns:a16="http://schemas.microsoft.com/office/drawing/2014/main" val="10003"/>
                  </a:ext>
                </a:extLst>
              </a:tr>
              <a:tr h="432054">
                <a:tc>
                  <a:txBody>
                    <a:bodyPr/>
                    <a:lstStyle/>
                    <a:p>
                      <a:r>
                        <a:rPr sz="1150" b="0">
                          <a:solidFill>
                            <a:srgbClr val="E8ECF1"/>
                          </a:solidFill>
                          <a:latin typeface="Segoe UI"/>
                        </a:rPr>
                        <a:t>Objective</a:t>
                      </a:r>
                    </a:p>
                  </a:txBody>
                  <a:tcPr marT="36576" marB="36576" anchor="ctr">
                    <a:solidFill>
                      <a:srgbClr val="232933"/>
                    </a:solidFill>
                  </a:tcPr>
                </a:tc>
                <a:tc>
                  <a:txBody>
                    <a:bodyPr/>
                    <a:lstStyle/>
                    <a:p>
                      <a:r>
                        <a:rPr sz="1150" b="0">
                          <a:solidFill>
                            <a:srgbClr val="E8ECF1"/>
                          </a:solidFill>
                          <a:latin typeface="Segoe UI"/>
                        </a:rPr>
                        <a:t>DAPO token normalization; no format bonus in the reward</a:t>
                      </a:r>
                    </a:p>
                  </a:txBody>
                  <a:tcPr marT="36576" marB="36576" anchor="ctr">
                    <a:solidFill>
                      <a:srgbClr val="232933"/>
                    </a:solidFill>
                  </a:tcPr>
                </a:tc>
                <a:extLst>
                  <a:ext uri="{0D108BD9-81ED-4DB2-BD59-A6C34878D82A}">
                    <a16:rowId xmlns:a16="http://schemas.microsoft.com/office/drawing/2014/main" val="10004"/>
                  </a:ext>
                </a:extLst>
              </a:tr>
              <a:tr h="432054">
                <a:tc>
                  <a:txBody>
                    <a:bodyPr/>
                    <a:lstStyle/>
                    <a:p>
                      <a:r>
                        <a:rPr sz="1150" b="0">
                          <a:solidFill>
                            <a:srgbClr val="E8ECF1"/>
                          </a:solidFill>
                          <a:latin typeface="Segoe UI"/>
                        </a:rPr>
                        <a:t>Brevity</a:t>
                      </a:r>
                    </a:p>
                  </a:txBody>
                  <a:tcPr marT="36576" marB="36576" anchor="ctr">
                    <a:solidFill>
                      <a:srgbClr val="1E232B"/>
                    </a:solidFill>
                  </a:tcPr>
                </a:tc>
                <a:tc>
                  <a:txBody>
                    <a:bodyPr/>
                    <a:lstStyle/>
                    <a:p>
                      <a:r>
                        <a:rPr sz="1150" b="0">
                          <a:solidFill>
                            <a:srgbClr val="6BD18A"/>
                          </a:solidFill>
                          <a:latin typeface="Segoe UI"/>
                        </a:rPr>
                        <a:t>zero-sum preference only among correct answers; wrong stays 0</a:t>
                      </a:r>
                    </a:p>
                  </a:txBody>
                  <a:tcPr marT="36576" marB="36576" anchor="ctr">
                    <a:solidFill>
                      <a:srgbClr val="1E232B"/>
                    </a:solidFill>
                  </a:tcPr>
                </a:tc>
                <a:extLst>
                  <a:ext uri="{0D108BD9-81ED-4DB2-BD59-A6C34878D82A}">
                    <a16:rowId xmlns:a16="http://schemas.microsoft.com/office/drawing/2014/main" val="10005"/>
                  </a:ext>
                </a:extLst>
              </a:tr>
              <a:tr h="432054">
                <a:tc>
                  <a:txBody>
                    <a:bodyPr/>
                    <a:lstStyle/>
                    <a:p>
                      <a:r>
                        <a:rPr sz="1150" b="0">
                          <a:solidFill>
                            <a:srgbClr val="E8ECF1"/>
                          </a:solidFill>
                          <a:latin typeface="Segoe UI"/>
                        </a:rPr>
                        <a:t>Stability</a:t>
                      </a:r>
                    </a:p>
                  </a:txBody>
                  <a:tcPr marT="36576" marB="36576" anchor="ctr">
                    <a:solidFill>
                      <a:srgbClr val="232933"/>
                    </a:solidFill>
                  </a:tcPr>
                </a:tc>
                <a:tc>
                  <a:txBody>
                    <a:bodyPr/>
                    <a:lstStyle/>
                    <a:p>
                      <a:r>
                        <a:rPr sz="1150" b="0">
                          <a:solidFill>
                            <a:srgbClr val="6BD18A"/>
                          </a:solidFill>
                          <a:latin typeface="Segoe UI"/>
                        </a:rPr>
                        <a:t>clipped ratio ε=0.2 + KL to frozen reference; KL=0.3 in winning run</a:t>
                      </a:r>
                    </a:p>
                  </a:txBody>
                  <a:tcPr marT="36576" marB="36576" anchor="ctr">
                    <a:solidFill>
                      <a:srgbClr val="232933"/>
                    </a:solidFill>
                  </a:tcPr>
                </a:tc>
                <a:extLst>
                  <a:ext uri="{0D108BD9-81ED-4DB2-BD59-A6C34878D82A}">
                    <a16:rowId xmlns:a16="http://schemas.microsoft.com/office/drawing/2014/main" val="10006"/>
                  </a:ext>
                </a:extLst>
              </a:tr>
              <a:tr h="432054">
                <a:tc>
                  <a:txBody>
                    <a:bodyPr/>
                    <a:lstStyle/>
                    <a:p>
                      <a:r>
                        <a:rPr sz="1150" b="0">
                          <a:solidFill>
                            <a:srgbClr val="E8ECF1"/>
                          </a:solidFill>
                          <a:latin typeface="Segoe UI"/>
                        </a:rPr>
                        <a:t>Coverage</a:t>
                      </a:r>
                    </a:p>
                  </a:txBody>
                  <a:tcPr marT="36576" marB="36576" anchor="ctr">
                    <a:solidFill>
                      <a:srgbClr val="1E232B"/>
                    </a:solidFill>
                  </a:tcPr>
                </a:tc>
                <a:tc>
                  <a:txBody>
                    <a:bodyPr/>
                    <a:lstStyle/>
                    <a:p>
                      <a:r>
                        <a:rPr sz="1150" b="0">
                          <a:solidFill>
                            <a:srgbClr val="6BD18A"/>
                          </a:solidFill>
                          <a:latin typeface="Segoe UI"/>
                        </a:rPr>
                        <a:t>pool of 238; round 2 re-drawn by uncertainty — 7 distinct prompts seen</a:t>
                      </a:r>
                    </a:p>
                  </a:txBody>
                  <a:tcPr marT="36576" marB="36576" anchor="ctr">
                    <a:solidFill>
                      <a:srgbClr val="1E232B"/>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868680" y="5532120"/>
            <a:ext cx="10149840" cy="320040"/>
          </a:xfrm>
          <a:prstGeom prst="rect">
            <a:avLst/>
          </a:prstGeom>
          <a:noFill/>
        </p:spPr>
        <p:txBody>
          <a:bodyPr wrap="square">
            <a:spAutoFit/>
          </a:bodyPr>
          <a:lstStyle/>
          <a:p>
            <a:r>
              <a:rPr sz="1050" b="0">
                <a:solidFill>
                  <a:srgbClr val="98A6B5"/>
                </a:solidFill>
                <a:latin typeface="Segoe UI"/>
              </a:rPr>
              <a:t>RLVR: the reward is verifier-based correctness, not human-preference feedback.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a:spAutoFit/>
          </a:bodyPr>
          <a:lstStyle/>
          <a:p>
            <a:r>
              <a:rPr sz="2700" b="1">
                <a:solidFill>
                  <a:srgbClr val="E8ECF1"/>
                </a:solidFill>
                <a:latin typeface="Segoe UI"/>
              </a:rPr>
              <a:t>SFT scores, then RL steps</a:t>
            </a:r>
          </a:p>
        </p:txBody>
      </p:sp>
      <p:pic>
        <p:nvPicPr>
          <p:cNvPr id="4" name="Picture 3" descr="rl_final_requested_sequence.png"/>
          <p:cNvPicPr>
            <a:picLocks noChangeAspect="1"/>
          </p:cNvPicPr>
          <p:nvPr/>
        </p:nvPicPr>
        <p:blipFill>
          <a:blip r:embed="rId5"/>
          <a:stretch>
            <a:fillRect/>
          </a:stretch>
        </p:blipFill>
        <p:spPr>
          <a:xfrm>
            <a:off x="347472" y="1042415"/>
            <a:ext cx="10287000" cy="43616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lIns="0" tIns="0" rIns="0" bIns="0" anchor="ctr">
            <a:spAutoFit/>
          </a:bodyPr>
          <a:lstStyle/>
          <a:p>
            <a:pPr algn="l"/>
            <a:r>
              <a:rPr sz="2700" b="1" i="0">
                <a:solidFill>
                  <a:srgbClr val="E8ECF1"/>
                </a:solidFill>
                <a:latin typeface="Segoe UI"/>
              </a:rPr>
              <a:t>The cost of finding the peak</a:t>
            </a:r>
          </a:p>
        </p:txBody>
      </p:sp>
      <p:graphicFrame>
        <p:nvGraphicFramePr>
          <p:cNvPr id="4" name="Table 3"/>
          <p:cNvGraphicFramePr>
            <a:graphicFrameLocks noGrp="1"/>
          </p:cNvGraphicFramePr>
          <p:nvPr/>
        </p:nvGraphicFramePr>
        <p:xfrm>
          <a:off x="777240" y="1417320"/>
          <a:ext cx="10469880" cy="2743200"/>
        </p:xfrm>
        <a:graphic>
          <a:graphicData uri="http://schemas.openxmlformats.org/drawingml/2006/table">
            <a:tbl>
              <a:tblPr firstRow="1" bandRow="1">
                <a:tableStyleId>{5C22544A-7EE6-4342-B048-85BDC9FD1C3A}</a:tableStyleId>
              </a:tblPr>
              <a:tblGrid>
                <a:gridCol w="694944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tblGrid>
              <a:tr h="548640">
                <a:tc>
                  <a:txBody>
                    <a:bodyPr/>
                    <a:lstStyle/>
                    <a:p>
                      <a:pPr algn="l"/>
                      <a:r>
                        <a:rPr sz="1500" b="1" i="0">
                          <a:solidFill>
                            <a:srgbClr val="10141A"/>
                          </a:solidFill>
                          <a:latin typeface="Segoe UI"/>
                        </a:rPr>
                        <a:t>run component</a:t>
                      </a:r>
                    </a:p>
                  </a:txBody>
                  <a:tcPr marT="36576" marB="36576" anchor="ctr">
                    <a:solidFill>
                      <a:srgbClr val="56BCEB"/>
                    </a:solidFill>
                  </a:tcPr>
                </a:tc>
                <a:tc>
                  <a:txBody>
                    <a:bodyPr/>
                    <a:lstStyle/>
                    <a:p>
                      <a:pPr algn="l"/>
                      <a:r>
                        <a:rPr sz="1500" b="1" i="0">
                          <a:solidFill>
                            <a:srgbClr val="10141A"/>
                          </a:solidFill>
                          <a:latin typeface="Segoe UI"/>
                        </a:rPr>
                        <a:t>amount</a:t>
                      </a:r>
                    </a:p>
                  </a:txBody>
                  <a:tcPr marT="36576" marB="36576" anchor="ctr">
                    <a:solidFill>
                      <a:srgbClr val="56BCEB"/>
                    </a:solidFill>
                  </a:tcPr>
                </a:tc>
                <a:extLst>
                  <a:ext uri="{0D108BD9-81ED-4DB2-BD59-A6C34878D82A}">
                    <a16:rowId xmlns:a16="http://schemas.microsoft.com/office/drawing/2014/main" val="10000"/>
                  </a:ext>
                </a:extLst>
              </a:tr>
              <a:tr h="548640">
                <a:tc>
                  <a:txBody>
                    <a:bodyPr/>
                    <a:lstStyle/>
                    <a:p>
                      <a:pPr algn="l"/>
                      <a:r>
                        <a:rPr sz="1500" b="0" i="0">
                          <a:solidFill>
                            <a:srgbClr val="E8ECF1"/>
                          </a:solidFill>
                          <a:latin typeface="Segoe UI"/>
                        </a:rPr>
                        <a:t>RL prompts</a:t>
                      </a:r>
                    </a:p>
                  </a:txBody>
                  <a:tcPr marT="36576" marB="36576" anchor="ctr">
                    <a:solidFill>
                      <a:srgbClr val="1E232B"/>
                    </a:solidFill>
                  </a:tcPr>
                </a:tc>
                <a:tc>
                  <a:txBody>
                    <a:bodyPr/>
                    <a:lstStyle/>
                    <a:p>
                      <a:pPr algn="l"/>
                      <a:r>
                        <a:rPr sz="1500" b="0" i="0">
                          <a:solidFill>
                            <a:srgbClr val="E8ECF1"/>
                          </a:solidFill>
                          <a:latin typeface="Segoe UI"/>
                        </a:rPr>
                        <a:t>7  (drawn from a pool of 238)</a:t>
                      </a:r>
                    </a:p>
                  </a:txBody>
                  <a:tcPr marT="36576" marB="36576" anchor="ctr">
                    <a:solidFill>
                      <a:srgbClr val="1E232B"/>
                    </a:solidFill>
                  </a:tcPr>
                </a:tc>
                <a:extLst>
                  <a:ext uri="{0D108BD9-81ED-4DB2-BD59-A6C34878D82A}">
                    <a16:rowId xmlns:a16="http://schemas.microsoft.com/office/drawing/2014/main" val="10001"/>
                  </a:ext>
                </a:extLst>
              </a:tr>
              <a:tr h="548640">
                <a:tc>
                  <a:txBody>
                    <a:bodyPr/>
                    <a:lstStyle/>
                    <a:p>
                      <a:pPr algn="l"/>
                      <a:r>
                        <a:rPr sz="1500" b="0" i="0">
                          <a:solidFill>
                            <a:srgbClr val="E8ECF1"/>
                          </a:solidFill>
                          <a:latin typeface="Segoe UI"/>
                        </a:rPr>
                        <a:t>answers sampled per prompt</a:t>
                      </a:r>
                    </a:p>
                  </a:txBody>
                  <a:tcPr marT="36576" marB="36576" anchor="ctr">
                    <a:solidFill>
                      <a:srgbClr val="232933"/>
                    </a:solidFill>
                  </a:tcPr>
                </a:tc>
                <a:tc>
                  <a:txBody>
                    <a:bodyPr/>
                    <a:lstStyle/>
                    <a:p>
                      <a:pPr algn="l"/>
                      <a:r>
                        <a:rPr sz="1500" b="0" i="0">
                          <a:solidFill>
                            <a:srgbClr val="E8ECF1"/>
                          </a:solidFill>
                          <a:latin typeface="Segoe UI"/>
                        </a:rPr>
                        <a:t>4</a:t>
                      </a:r>
                    </a:p>
                  </a:txBody>
                  <a:tcPr marT="36576" marB="36576" anchor="ctr">
                    <a:solidFill>
                      <a:srgbClr val="232933"/>
                    </a:solidFill>
                  </a:tcPr>
                </a:tc>
                <a:extLst>
                  <a:ext uri="{0D108BD9-81ED-4DB2-BD59-A6C34878D82A}">
                    <a16:rowId xmlns:a16="http://schemas.microsoft.com/office/drawing/2014/main" val="10002"/>
                  </a:ext>
                </a:extLst>
              </a:tr>
              <a:tr h="548640">
                <a:tc>
                  <a:txBody>
                    <a:bodyPr/>
                    <a:lstStyle/>
                    <a:p>
                      <a:pPr algn="l"/>
                      <a:r>
                        <a:rPr sz="1500" b="0" i="0">
                          <a:solidFill>
                            <a:srgbClr val="E8ECF1"/>
                          </a:solidFill>
                          <a:latin typeface="Segoe UI"/>
                        </a:rPr>
                        <a:t>generation cap</a:t>
                      </a:r>
                    </a:p>
                  </a:txBody>
                  <a:tcPr marT="36576" marB="36576" anchor="ctr">
                    <a:solidFill>
                      <a:srgbClr val="1E232B"/>
                    </a:solidFill>
                  </a:tcPr>
                </a:tc>
                <a:tc>
                  <a:txBody>
                    <a:bodyPr/>
                    <a:lstStyle/>
                    <a:p>
                      <a:pPr algn="l"/>
                      <a:r>
                        <a:rPr sz="1500" b="0" i="0">
                          <a:solidFill>
                            <a:srgbClr val="E8ECF1"/>
                          </a:solidFill>
                          <a:latin typeface="Segoe UI"/>
                        </a:rPr>
                        <a:t>160 tokens</a:t>
                      </a:r>
                    </a:p>
                  </a:txBody>
                  <a:tcPr marT="36576" marB="36576" anchor="ctr">
                    <a:solidFill>
                      <a:srgbClr val="1E232B"/>
                    </a:solidFill>
                  </a:tcPr>
                </a:tc>
                <a:extLst>
                  <a:ext uri="{0D108BD9-81ED-4DB2-BD59-A6C34878D82A}">
                    <a16:rowId xmlns:a16="http://schemas.microsoft.com/office/drawing/2014/main" val="10003"/>
                  </a:ext>
                </a:extLst>
              </a:tr>
              <a:tr h="548640">
                <a:tc>
                  <a:txBody>
                    <a:bodyPr/>
                    <a:lstStyle/>
                    <a:p>
                      <a:pPr algn="l"/>
                      <a:r>
                        <a:rPr sz="1500" b="0" i="0">
                          <a:solidFill>
                            <a:srgbClr val="56BCEB"/>
                          </a:solidFill>
                          <a:latin typeface="Segoe UI"/>
                        </a:rPr>
                        <a:t>one full RL run</a:t>
                      </a:r>
                    </a:p>
                  </a:txBody>
                  <a:tcPr marT="36576" marB="36576" anchor="ctr">
                    <a:solidFill>
                      <a:srgbClr val="232933"/>
                    </a:solidFill>
                  </a:tcPr>
                </a:tc>
                <a:tc>
                  <a:txBody>
                    <a:bodyPr/>
                    <a:lstStyle/>
                    <a:p>
                      <a:pPr algn="l"/>
                      <a:r>
                        <a:rPr sz="1500" b="0" i="0">
                          <a:solidFill>
                            <a:srgbClr val="56BCEB"/>
                          </a:solidFill>
                          <a:latin typeface="Segoe UI"/>
                        </a:rPr>
                        <a:t>≈ 74 min</a:t>
                      </a:r>
                    </a:p>
                  </a:txBody>
                  <a:tcPr marT="36576" marB="36576" anchor="ctr">
                    <a:solidFill>
                      <a:srgbClr val="232933"/>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777240" y="5742432"/>
            <a:ext cx="10469880" cy="384048"/>
          </a:xfrm>
          <a:prstGeom prst="rect">
            <a:avLst/>
          </a:prstGeom>
          <a:noFill/>
        </p:spPr>
        <p:txBody>
          <a:bodyPr wrap="square" lIns="0" tIns="0" rIns="0" bIns="0" anchor="ctr">
            <a:spAutoFit/>
          </a:bodyPr>
          <a:lstStyle/>
          <a:p>
            <a:pPr algn="l"/>
            <a:r>
              <a:rPr sz="1050" b="0" i="0">
                <a:solidFill>
                  <a:srgbClr val="98A6B5"/>
                </a:solidFill>
                <a:latin typeface="Segoe UI"/>
              </a:rPr>
              <a:t>0.8B model. Checkpoint evaluation is part of the method, not cleanup.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a:spAutoFit/>
          </a:bodyPr>
          <a:lstStyle/>
          <a:p>
            <a:r>
              <a:rPr sz="2700" b="1">
                <a:solidFill>
                  <a:srgbClr val="E8ECF1"/>
                </a:solidFill>
                <a:latin typeface="Segoe UI"/>
              </a:rPr>
              <a:t>The 60-step run: no sustained gain, on either reading</a:t>
            </a:r>
          </a:p>
        </p:txBody>
      </p:sp>
      <p:sp>
        <p:nvSpPr>
          <p:cNvPr id="5" name="TextBox 4"/>
          <p:cNvSpPr txBox="1"/>
          <p:nvPr/>
        </p:nvSpPr>
        <p:spPr>
          <a:xfrm>
            <a:off x="777240" y="5742432"/>
            <a:ext cx="10469880" cy="384048"/>
          </a:xfrm>
          <a:prstGeom prst="rect">
            <a:avLst/>
          </a:prstGeom>
          <a:noFill/>
        </p:spPr>
        <p:txBody>
          <a:bodyPr wrap="square" lIns="0" tIns="0" rIns="0" bIns="0" anchor="ctr">
            <a:spAutoFit/>
          </a:bodyPr>
          <a:lstStyle/>
          <a:p>
            <a:pPr algn="l"/>
            <a:r>
              <a:rPr sz="1050" b="0" i="0">
                <a:solidFill>
                  <a:srgbClr val="98A6B5"/>
                </a:solidFill>
                <a:latin typeface="Segoe UI"/>
              </a:rPr>
              <a:t>Run rl_lr3e6 (lr 3e-6, KL beta 0.3, 240-record pool). Plot = eval wrapper. Source: docs/run-logs/rl_lr3e6.md; docs/dispositions.md, 2026-09-25 re-score; trainer docs/grpo_one_file.py.</a:t>
            </a:r>
          </a:p>
        </p:txBody>
      </p:sp>
      <p:pic>
        <p:nvPicPr>
          <p:cNvPr id="6" name="Picture 5" descr="rl_lr3e6_crop.png"/>
          <p:cNvPicPr>
            <a:picLocks noChangeAspect="1"/>
          </p:cNvPicPr>
          <p:nvPr/>
        </p:nvPicPr>
        <p:blipFill>
          <a:blip r:embed="rId3"/>
          <a:stretch>
            <a:fillRect/>
          </a:stretch>
        </p:blipFill>
        <p:spPr>
          <a:xfrm>
            <a:off x="777240" y="1000000"/>
            <a:ext cx="10640000" cy="2901818"/>
          </a:xfrm>
          <a:prstGeom prst="rect">
            <a:avLst/>
          </a:prstGeom>
        </p:spPr>
      </p:pic>
      <p:sp>
        <p:nvSpPr>
          <p:cNvPr id="7" name="TextBox 6"/>
          <p:cNvSpPr txBox="1"/>
          <p:nvPr/>
        </p:nvSpPr>
        <p:spPr>
          <a:xfrm>
            <a:off x="777240" y="4021818"/>
            <a:ext cx="10640000" cy="1680614"/>
          </a:xfrm>
          <a:prstGeom prst="rect">
            <a:avLst/>
          </a:prstGeom>
          <a:noFill/>
        </p:spPr>
        <p:txBody>
          <a:bodyPr wrap="square">
            <a:spAutoFit/>
          </a:bodyPr>
          <a:lstStyle/>
          <a:p>
            <a:pPr>
              <a:spcAft>
                <a:spcPts val="600"/>
              </a:spcAft>
            </a:pPr>
            <a:r>
              <a:rPr sz="1600" b="1">
                <a:solidFill>
                  <a:srgbClr val="E8ECF1"/>
                </a:solidFill>
                <a:latin typeface="Segoe UI"/>
              </a:rPr>
              <a:t>Plotted (eval wrapper): start 4, best 5, final 1 of 16. Run log: best 5 is within the +-1 same-checkpoint wobble.</a:t>
            </a:r>
          </a:p>
          <a:p>
            <a:pPr>
              <a:spcAft>
                <a:spcPts val="600"/>
              </a:spcAft>
            </a:pPr>
            <a:r>
              <a:rPr sz="1600" b="0">
                <a:solidFill>
                  <a:srgbClr val="E8ECF1"/>
                </a:solidFill>
                <a:latin typeface="Segoe UI"/>
              </a:rPr>
              <a:t>Re-scored under the training prompt, 7 checkpoints: 2, 3, 5, 4, 3, 3, 3. Peak at step 46, then given back. One greedy read each; the wobble under this instrument is not measured.</a:t>
            </a:r>
          </a:p>
          <a:p>
            <a:pPr>
              <a:spcAft>
                <a:spcPts val="600"/>
              </a:spcAft>
            </a:pPr>
            <a:r>
              <a:rPr sz="1600" b="0">
                <a:solidFill>
                  <a:srgbClr val="E8ECF1"/>
                </a:solidFill>
                <a:latin typeface="Segoe UI"/>
              </a:rPr>
              <a:t>KL runaway at steps 61 to 63 (raw KL 0.23 to 7.3). Straddling records held near 100 of 240; solved peaked at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a:spAutoFit/>
          </a:bodyPr>
          <a:lstStyle/>
          <a:p>
            <a:r>
              <a:rPr sz="2700" b="1">
                <a:solidFill>
                  <a:srgbClr val="E8ECF1"/>
                </a:solidFill>
                <a:latin typeface="Segoe UI"/>
              </a:rPr>
              <a:t>Replay sampler, 2 inner epochs: missed its own bar</a:t>
            </a:r>
          </a:p>
        </p:txBody>
      </p:sp>
      <p:sp>
        <p:nvSpPr>
          <p:cNvPr id="5" name="TextBox 4"/>
          <p:cNvSpPr txBox="1"/>
          <p:nvPr/>
        </p:nvSpPr>
        <p:spPr>
          <a:xfrm>
            <a:off x="777240" y="5742432"/>
            <a:ext cx="10469880" cy="384048"/>
          </a:xfrm>
          <a:prstGeom prst="rect">
            <a:avLst/>
          </a:prstGeom>
          <a:noFill/>
        </p:spPr>
        <p:txBody>
          <a:bodyPr wrap="square" lIns="0" tIns="0" rIns="0" bIns="0" anchor="ctr">
            <a:spAutoFit/>
          </a:bodyPr>
          <a:lstStyle/>
          <a:p>
            <a:pPr algn="l"/>
            <a:r>
              <a:rPr sz="1050" b="0" i="0">
                <a:solidFill>
                  <a:srgbClr val="98A6B5"/>
                </a:solidFill>
                <a:latin typeface="Segoe UI"/>
              </a:rPr>
              <a:t>Run rl_replay2, eval under the TRAINING prompt (a different instrument from the previous slide). Source: docs/dispositions.md, 'rl_replay2' (2026-09-25 to 09-26); trainer docs/grpo_one_file.py.</a:t>
            </a:r>
          </a:p>
        </p:txBody>
      </p:sp>
      <p:pic>
        <p:nvPicPr>
          <p:cNvPr id="6" name="Picture 5" descr="rl_replay2_crop.png"/>
          <p:cNvPicPr>
            <a:picLocks noChangeAspect="1"/>
          </p:cNvPicPr>
          <p:nvPr/>
        </p:nvPicPr>
        <p:blipFill>
          <a:blip r:embed="rId3"/>
          <a:stretch>
            <a:fillRect/>
          </a:stretch>
        </p:blipFill>
        <p:spPr>
          <a:xfrm>
            <a:off x="777240" y="1000000"/>
            <a:ext cx="10640000" cy="2901818"/>
          </a:xfrm>
          <a:prstGeom prst="rect">
            <a:avLst/>
          </a:prstGeom>
        </p:spPr>
      </p:pic>
      <p:sp>
        <p:nvSpPr>
          <p:cNvPr id="7" name="TextBox 6"/>
          <p:cNvSpPr txBox="1"/>
          <p:nvPr/>
        </p:nvSpPr>
        <p:spPr>
          <a:xfrm>
            <a:off x="777240" y="4021818"/>
            <a:ext cx="10640000" cy="1680614"/>
          </a:xfrm>
          <a:prstGeom prst="rect">
            <a:avLst/>
          </a:prstGeom>
          <a:noFill/>
        </p:spPr>
        <p:txBody>
          <a:bodyPr wrap="square">
            <a:spAutoFit/>
          </a:bodyPr>
          <a:lstStyle/>
          <a:p>
            <a:pPr>
              <a:spcAft>
                <a:spcPts val="600"/>
              </a:spcAft>
            </a:pPr>
            <a:r>
              <a:rPr sz="1600" b="1">
                <a:solidFill>
                  <a:srgbClr val="E8ECF1"/>
                </a:solidFill>
                <a:latin typeface="Segoe UI"/>
              </a:rPr>
              <a:t>Eval of 16 under the training prompt: start 2, best 4. Pre-set bar was 5 by step 23 (46 updates). Missed.</a:t>
            </a:r>
          </a:p>
          <a:p>
            <a:pPr>
              <a:spcAft>
                <a:spcPts val="600"/>
              </a:spcAft>
            </a:pPr>
            <a:r>
              <a:rPr sz="1600" b="0">
                <a:solidFill>
                  <a:srgbClr val="E8ECF1"/>
                </a:solidFill>
                <a:latin typeface="Segoe UI"/>
              </a:rPr>
              <a:t>Replayed answers drifted off-policy: 12 of 28 masked at step 13, 22 of 32 at step 23. KL abort at step 24 (raw KL 0.858 &gt; 0.5).</a:t>
            </a:r>
          </a:p>
          <a:p>
            <a:pPr>
              <a:spcAft>
                <a:spcPts val="600"/>
              </a:spcAft>
            </a:pPr>
            <a:r>
              <a:rPr sz="1600" b="0">
                <a:solidFill>
                  <a:srgbClr val="E8ECF1"/>
                </a:solidFill>
                <a:latin typeface="Segoe UI"/>
              </a:rPr>
              <a:t>Not faster either: about 8 minutes per update against about 9. Do not compare this 4 with the 5 on the previous slide: different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a:spAutoFit/>
          </a:bodyPr>
          <a:lstStyle/>
          <a:p>
            <a:r>
              <a:rPr sz="2700" b="1">
                <a:solidFill>
                  <a:srgbClr val="E8ECF1"/>
                </a:solidFill>
                <a:latin typeface="Segoe UI"/>
              </a:rPr>
              <a:t>What the long runs say about scale</a:t>
            </a:r>
          </a:p>
        </p:txBody>
      </p:sp>
      <p:sp>
        <p:nvSpPr>
          <p:cNvPr id="5" name="TextBox 4"/>
          <p:cNvSpPr txBox="1"/>
          <p:nvPr/>
        </p:nvSpPr>
        <p:spPr>
          <a:xfrm>
            <a:off x="777240" y="5742432"/>
            <a:ext cx="10469880" cy="384048"/>
          </a:xfrm>
          <a:prstGeom prst="rect">
            <a:avLst/>
          </a:prstGeom>
          <a:noFill/>
        </p:spPr>
        <p:txBody>
          <a:bodyPr wrap="square" lIns="0" tIns="0" rIns="0" bIns="0" anchor="ctr">
            <a:spAutoFit/>
          </a:bodyPr>
          <a:lstStyle/>
          <a:p>
            <a:pPr algn="l"/>
            <a:r>
              <a:rPr sz="1050" b="0" i="0">
                <a:solidFill>
                  <a:srgbClr val="98A6B5"/>
                </a:solidFill>
                <a:latin typeface="Segoe UI"/>
              </a:rPr>
              <a:t>Same-seed wobble: an unchanged model read 6/16 and 7/16 (docs/SETTLED.md). 1,570 is computed on this slide. 32,000 is the author's estimate, not derived.</a:t>
            </a:r>
          </a:p>
        </p:txBody>
      </p:sp>
      <p:sp>
        <p:nvSpPr>
          <p:cNvPr id="6" name="TextBox 5"/>
          <p:cNvSpPr txBox="1"/>
          <p:nvPr/>
        </p:nvSpPr>
        <p:spPr>
          <a:xfrm>
            <a:off x="777240" y="1150000"/>
            <a:ext cx="10640000" cy="4400000"/>
          </a:xfrm>
          <a:prstGeom prst="rect">
            <a:avLst/>
          </a:prstGeom>
          <a:noFill/>
        </p:spPr>
        <p:txBody>
          <a:bodyPr wrap="square">
            <a:spAutoFit/>
          </a:bodyPr>
          <a:lstStyle/>
          <a:p>
            <a:pPr>
              <a:spcAft>
                <a:spcPts val="600"/>
              </a:spcAft>
            </a:pPr>
            <a:r>
              <a:rPr sz="1800" b="1">
                <a:solidFill>
                  <a:srgbClr val="E8ECF1"/>
                </a:solidFill>
                <a:latin typeface="Segoe UI"/>
              </a:rPr>
              <a:t>What we saw</a:t>
            </a:r>
          </a:p>
          <a:p>
            <a:pPr>
              <a:spcAft>
                <a:spcPts val="600"/>
              </a:spcAft>
            </a:pPr>
            <a:r>
              <a:rPr sz="1800" b="0">
                <a:solidFill>
                  <a:srgbClr val="E8ECF1"/>
                </a:solidFill>
                <a:latin typeface="Segoe UI"/>
              </a:rPr>
              <a:t>240 training records: every record had been drawn by step 15 to 20.</a:t>
            </a:r>
          </a:p>
          <a:p>
            <a:pPr>
              <a:spcAft>
                <a:spcPts val="600"/>
              </a:spcAft>
            </a:pPr>
            <a:r>
              <a:rPr sz="1800" b="0">
                <a:solidFill>
                  <a:srgbClr val="E8ECF1"/>
                </a:solidFill>
                <a:latin typeface="Segoe UI"/>
              </a:rPr>
              <a:t>16 evaluation questions: one question is 6 points; the standard error of a score at n = 16 is about 12.5 points.</a:t>
            </a:r>
          </a:p>
          <a:p>
            <a:pPr>
              <a:spcAft>
                <a:spcPts val="600"/>
              </a:spcAft>
            </a:pPr>
            <a:r>
              <a:rPr sz="1800" b="0">
                <a:solidFill>
                  <a:srgbClr val="E8ECF1"/>
                </a:solidFill>
                <a:latin typeface="Segoe UI"/>
              </a:rPr>
              <a:t>Two long runs, two mechanisms, and no gain that held on either prompt.</a:t>
            </a:r>
          </a:p>
          <a:p>
            <a:pPr>
              <a:spcAft>
                <a:spcPts val="600"/>
              </a:spcAft>
            </a:pPr>
            <a:r>
              <a:rPr sz="1800" b="1">
                <a:solidFill>
                  <a:srgbClr val="E8ECF1"/>
                </a:solidFill>
                <a:latin typeface="Segoe UI"/>
              </a:rPr>
              <a:t>What follows</a:t>
            </a:r>
          </a:p>
          <a:p>
            <a:pPr>
              <a:spcAft>
                <a:spcPts val="600"/>
              </a:spcAft>
            </a:pPr>
            <a:r>
              <a:rPr sz="1800" b="0">
                <a:solidFill>
                  <a:srgbClr val="E8ECF1"/>
                </a:solidFill>
                <a:latin typeface="Segoe UI"/>
              </a:rPr>
              <a:t>Eval: seeing a 5-point difference at 80% power takes about 1,570 questions per arm (computed: 2.8^2 x 2 x 0.25 / 0.05^2).</a:t>
            </a:r>
          </a:p>
          <a:p>
            <a:pPr>
              <a:spcAft>
                <a:spcPts val="600"/>
              </a:spcAft>
            </a:pPr>
            <a:r>
              <a:rPr sz="1800" b="0">
                <a:solidFill>
                  <a:srgbClr val="E8ECF1"/>
                </a:solidFill>
                <a:latin typeface="Segoe UI"/>
              </a:rPr>
              <a:t>Training records: about 32,000 is the author's estimate, not derived. It holds if the pool, not the method, was the limit (all 240 drawn by step 20); if the gain per record is tiny, it does not.</a:t>
            </a:r>
          </a:p>
          <a:p>
            <a:pPr>
              <a:spcAft>
                <a:spcPts val="600"/>
              </a:spcAft>
            </a:pPr>
            <a:r>
              <a:rPr sz="1800" b="0">
                <a:solidFill>
                  <a:srgbClr val="E8ECF1"/>
                </a:solidFill>
                <a:latin typeface="Segoe UI"/>
              </a:rPr>
              <a:t>At 240 records and 16 questions the question is not testable. Not tested at larger scale.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393192"/>
            <a:ext cx="10515600" cy="566928"/>
          </a:xfrm>
          <a:prstGeom prst="rect">
            <a:avLst/>
          </a:prstGeom>
          <a:noFill/>
        </p:spPr>
        <p:txBody>
          <a:bodyPr wrap="square" lIns="0" tIns="0" rIns="0" bIns="0" anchor="ctr">
            <a:spAutoFit/>
          </a:bodyPr>
          <a:lstStyle/>
          <a:p>
            <a:pPr algn="l"/>
            <a:r>
              <a:rPr sz="2700" b="1" i="0">
                <a:solidFill>
                  <a:srgbClr val="E8ECF1"/>
                </a:solidFill>
                <a:latin typeface="Segoe UI"/>
              </a:rPr>
              <a:t>Takeaway</a:t>
            </a:r>
          </a:p>
        </p:txBody>
      </p:sp>
      <p:sp>
        <p:nvSpPr>
          <p:cNvPr id="4" name="TextBox 3"/>
          <p:cNvSpPr txBox="1"/>
          <p:nvPr/>
        </p:nvSpPr>
        <p:spPr>
          <a:xfrm>
            <a:off x="868680" y="1417320"/>
            <a:ext cx="10241280" cy="3383280"/>
          </a:xfrm>
          <a:prstGeom prst="rect">
            <a:avLst/>
          </a:prstGeom>
          <a:noFill/>
        </p:spPr>
        <p:txBody>
          <a:bodyPr wrap="square" lIns="0" tIns="0" rIns="0" bIns="0" anchor="t">
            <a:spAutoFit/>
          </a:bodyPr>
          <a:lstStyle/>
          <a:p>
            <a:r>
              <a:rPr sz="1800" b="0">
                <a:solidFill>
                  <a:srgbClr val="E8ECF1"/>
                </a:solidFill>
                <a:latin typeface="Segoe UI"/>
              </a:rPr>
              <a:t>Pretraining gives broad capability, not organization-specific domain data.</a:t>
            </a:r>
          </a:p>
          <a:p>
            <a:r>
              <a:rPr sz="1800" b="0">
                <a:solidFill>
                  <a:srgbClr val="E8ECF1"/>
                </a:solidFill>
                <a:latin typeface="Segoe UI"/>
              </a:rPr>
              <a:t>Full-parameter SFT: 4 → 5 of 16.</a:t>
            </a:r>
          </a:p>
          <a:p>
            <a:r>
              <a:rPr sz="1800" b="0">
                <a:solidFill>
                  <a:srgbClr val="E8ECF1"/>
                </a:solidFill>
                <a:latin typeface="Segoe UI"/>
              </a:rPr>
              <a:t>First RL pass: 9 of 16.</a:t>
            </a:r>
          </a:p>
          <a:p>
            <a:r>
              <a:rPr sz="1800" b="0">
                <a:solidFill>
                  <a:srgbClr val="E8ECF1"/>
                </a:solidFill>
                <a:latin typeface="Segoe UI"/>
              </a:rPr>
              <a:t>Later RL passes degraded.</a:t>
            </a:r>
          </a:p>
          <a:p>
            <a:r>
              <a:rPr sz="1800" b="0">
                <a:solidFill>
                  <a:srgbClr val="E8ECF1"/>
                </a:solidFill>
                <a:latin typeface="Segoe UI"/>
              </a:rPr>
              <a:t>Longer RL runs (60 steps; replay sampler) never beat 9 and never held a gain.</a:t>
            </a:r>
          </a:p>
        </p:txBody>
      </p:sp>
      <p:sp>
        <p:nvSpPr>
          <p:cNvPr id="5" name="TextBox 4"/>
          <p:cNvSpPr txBox="1"/>
          <p:nvPr/>
        </p:nvSpPr>
        <p:spPr>
          <a:xfrm>
            <a:off x="777240" y="5742432"/>
            <a:ext cx="10469880" cy="384048"/>
          </a:xfrm>
          <a:prstGeom prst="rect">
            <a:avLst/>
          </a:prstGeom>
          <a:noFill/>
        </p:spPr>
        <p:txBody>
          <a:bodyPr wrap="square" lIns="0" tIns="0" rIns="0" bIns="0" anchor="ctr">
            <a:spAutoFit/>
          </a:bodyPr>
          <a:lstStyle/>
          <a:p>
            <a:pPr algn="l"/>
            <a:r>
              <a:rPr sz="1050" b="0" i="0">
                <a:solidFill>
                  <a:srgbClr val="98A6B5"/>
                </a:solidFill>
                <a:latin typeface="Segoe UI"/>
              </a:rPr>
              <a:t>Next: about 32,000 records and a larger evaluation (more compute); at 240 records and 16 questions the problem cannot be tested.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TotalTime>
  <Words>1787</Words>
  <Application>Microsoft Office PowerPoint</Application>
  <PresentationFormat>Widescreen</PresentationFormat>
  <Paragraphs>95</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Laferriere (US), Joshua C</cp:lastModifiedBy>
  <cp:revision>7</cp:revision>
  <dcterms:created xsi:type="dcterms:W3CDTF">2013-01-27T09:14:16Z</dcterms:created>
  <dcterms:modified xsi:type="dcterms:W3CDTF">2026-09-09T21:13:25Z</dcterms:modified>
  <cp:category/>
</cp:coreProperties>
</file>