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cut the waste by more than half; it did not produce lift (entry 12).</a:t>
            </a:r>
          </a:p>
        </p:txBody>
      </p:sp>
      <p:graphicFrame>
        <p:nvGraphicFramePr>
          <p:cNvPr id="20" name="Table 19"/>
          <p:cNvGraphicFramePr>
            <a:graphicFrameLocks noGrp="1"/>
          </p:cNvGraphicFramePr>
          <p:nvPr/>
        </p:nvGraphicFramePr>
        <p:xfrm>
          <a:off x="5285232" y="2120000"/>
          <a:ext cx="5900623" cy="1200000"/>
        </p:xfrm>
        <a:graphic>
          <a:graphicData uri="http://schemas.openxmlformats.org/drawingml/2006/table">
            <a:tbl>
              <a:tblPr firstRow="1" bandRow="1">
                <a:tableStyleId>{5C22544A-7EE6-4342-B048-85BDC9FD1C3A}</a:tableStyleId>
              </a:tblPr>
              <a:tblGrid>
                <a:gridCol w="900000"/>
                <a:gridCol w="1800000"/>
                <a:gridCol w="1900000"/>
                <a:gridCol w="1300623"/>
              </a:tblGrid>
              <a:tr h="300000">
                <a:tc>
                  <a:txBody>
                    <a:bodyPr wrap="square"/>
                    <a:lstStyle/>
                    <a:p>
                      <a:r>
                        <a:rPr sz="1200" b="1">
                          <a:solidFill>
                            <a:srgbClr val="16222B"/>
                          </a:solidFill>
                          <a:latin typeface="Calibri"/>
                        </a:rPr>
                        <a:t>Prompt</a:t>
                      </a:r>
                    </a:p>
                  </a:txBody>
                  <a:tcPr marT="30000" marB="30000">
                    <a:solidFill>
                      <a:srgbClr val="D2D9DD"/>
                    </a:solidFill>
                  </a:tcPr>
                </a:tc>
                <a:tc>
                  <a:txBody>
                    <a:bodyPr wrap="square"/>
                    <a:lstStyle/>
                    <a:p>
                      <a:r>
                        <a:rPr sz="1200" b="1">
                          <a:solidFill>
                            <a:srgbClr val="16222B"/>
                          </a:solidFill>
                          <a:latin typeface="Calibri"/>
                        </a:rPr>
                        <a:t>Judge scores, 4 answers</a:t>
                      </a:r>
                    </a:p>
                  </a:txBody>
                  <a:tcPr marT="30000" marB="30000">
                    <a:solidFill>
                      <a:srgbClr val="D2D9DD"/>
                    </a:solidFill>
                  </a:tcPr>
                </a:tc>
                <a:tc>
                  <a:txBody>
                    <a:bodyPr wrap="square"/>
                    <a:lstStyle/>
                    <a:p>
                      <a:r>
                        <a:rPr sz="1200" b="1">
                          <a:solidFill>
                            <a:srgbClr val="16222B"/>
                          </a:solidFill>
                          <a:latin typeface="Calibri"/>
                        </a:rPr>
                        <a:t>Banded reward</a:t>
                      </a:r>
                    </a:p>
                  </a:txBody>
                  <a:tcPr marT="30000" marB="30000">
                    <a:solidFill>
                      <a:srgbClr val="D2D9DD"/>
                    </a:solidFill>
                  </a:tcPr>
                </a:tc>
                <a:tc>
                  <a:txBody>
                    <a:bodyPr wrap="square"/>
                    <a:lstStyle/>
                    <a:p>
                      <a:r>
                        <a:rPr sz="1200" b="1">
                          <a:solidFill>
                            <a:srgbClr val="16222B"/>
                          </a:solidFill>
                          <a:latin typeface="Calibri"/>
                        </a:rPr>
                        <a:t>Raw reward</a:t>
                      </a:r>
                    </a:p>
                  </a:txBody>
                  <a:tcPr marT="30000" marB="30000">
                    <a:solidFill>
                      <a:srgbClr val="D2D9DD"/>
                    </a:solidFill>
                  </a:tcPr>
                </a:tc>
              </a:tr>
              <a:tr h="300000">
                <a:tc>
                  <a:txBody>
                    <a:bodyPr wrap="square"/>
                    <a:lstStyle/>
                    <a:p>
                      <a:r>
                        <a:rPr sz="1200" b="0">
                          <a:solidFill>
                            <a:srgbClr val="16222B"/>
                          </a:solidFill>
                          <a:latin typeface="Calibri"/>
                        </a:rPr>
                        <a:t>A  hard</a:t>
                      </a:r>
                    </a:p>
                  </a:txBody>
                  <a:tcPr marT="30000" marB="30000">
                    <a:solidFill>
                      <a:srgbClr val="FBFCFC"/>
                    </a:solidFill>
                  </a:tcPr>
                </a:tc>
                <a:tc>
                  <a:txBody>
                    <a:bodyPr wrap="square"/>
                    <a:lstStyle/>
                    <a:p>
                      <a:r>
                        <a:rPr sz="1200" b="0">
                          <a:solidFill>
                            <a:srgbClr val="16222B"/>
                          </a:solidFill>
                          <a:latin typeface="Calibri"/>
                        </a:rPr>
                        <a:t>.31  .45  .52  .60</a:t>
                      </a:r>
                    </a:p>
                  </a:txBody>
                  <a:tcPr marT="30000" marB="30000">
                    <a:solidFill>
                      <a:srgbClr val="FBFCFC"/>
                    </a:solidFill>
                  </a:tcPr>
                </a:tc>
                <a:tc>
                  <a:txBody>
                    <a:bodyPr wrap="square"/>
                    <a:lstStyle/>
                    <a:p>
                      <a:r>
                        <a:rPr sz="1200" b="0">
                          <a:solidFill>
                            <a:srgbClr val="B84A0B"/>
                          </a:solidFill>
                          <a:latin typeface="Calibri"/>
                        </a:rPr>
                        <a:t>0  0  0  0  dropped</a:t>
                      </a:r>
                    </a:p>
                  </a:txBody>
                  <a:tcPr marT="30000" marB="30000">
                    <a:solidFill>
                      <a:srgbClr val="FBFCFC"/>
                    </a:solidFill>
                  </a:tcPr>
                </a:tc>
                <a:tc>
                  <a:txBody>
                    <a:bodyPr wrap="square"/>
                    <a:lstStyle/>
                    <a:p>
                      <a:r>
                        <a:rPr sz="1200" b="0">
                          <a:solidFill>
                            <a:srgbClr val="16222B"/>
                          </a:solidFill>
                          <a:latin typeface="Calibri"/>
                        </a:rPr>
                        <a:t>kept</a:t>
                      </a:r>
                    </a:p>
                  </a:txBody>
                  <a:tcPr marT="30000" marB="30000">
                    <a:solidFill>
                      <a:srgbClr val="FBFCFC"/>
                    </a:solidFill>
                  </a:tcPr>
                </a:tc>
              </a:tr>
              <a:tr h="300000">
                <a:tc>
                  <a:txBody>
                    <a:bodyPr wrap="square"/>
                    <a:lstStyle/>
                    <a:p>
                      <a:r>
                        <a:rPr sz="1200" b="0">
                          <a:solidFill>
                            <a:srgbClr val="16222B"/>
                          </a:solidFill>
                          <a:latin typeface="Calibri"/>
                        </a:rPr>
                        <a:t>B  mixed</a:t>
                      </a:r>
                    </a:p>
                  </a:txBody>
                  <a:tcPr marT="30000" marB="30000">
                    <a:solidFill>
                      <a:srgbClr val="FBFCFC"/>
                    </a:solidFill>
                  </a:tcPr>
                </a:tc>
                <a:tc>
                  <a:txBody>
                    <a:bodyPr wrap="square"/>
                    <a:lstStyle/>
                    <a:p>
                      <a:r>
                        <a:rPr sz="1200" b="0">
                          <a:solidFill>
                            <a:srgbClr val="16222B"/>
                          </a:solidFill>
                          <a:latin typeface="Calibri"/>
                        </a:rPr>
                        <a:t>.35  .75  .92  .40</a:t>
                      </a:r>
                    </a:p>
                  </a:txBody>
                  <a:tcPr marT="30000" marB="30000">
                    <a:solidFill>
                      <a:srgbClr val="FBFCFC"/>
                    </a:solidFill>
                  </a:tcPr>
                </a:tc>
                <a:tc>
                  <a:txBody>
                    <a:bodyPr wrap="square"/>
                    <a:lstStyle/>
                    <a:p>
                      <a:r>
                        <a:rPr sz="1200" b="0">
                          <a:solidFill>
                            <a:srgbClr val="1F5EA8"/>
                          </a:solidFill>
                          <a:latin typeface="Calibri"/>
                        </a:rPr>
                        <a:t>0  .5  1  0  kept</a:t>
                      </a:r>
                    </a:p>
                  </a:txBody>
                  <a:tcPr marT="30000" marB="30000">
                    <a:solidFill>
                      <a:srgbClr val="FBFCFC"/>
                    </a:solidFill>
                  </a:tcPr>
                </a:tc>
                <a:tc>
                  <a:txBody>
                    <a:bodyPr wrap="square"/>
                    <a:lstStyle/>
                    <a:p>
                      <a:r>
                        <a:rPr sz="1200" b="0">
                          <a:solidFill>
                            <a:srgbClr val="16222B"/>
                          </a:solidFill>
                          <a:latin typeface="Calibri"/>
                        </a:rPr>
                        <a:t>kept</a:t>
                      </a:r>
                    </a:p>
                  </a:txBody>
                  <a:tcPr marT="30000" marB="30000">
                    <a:solidFill>
                      <a:srgbClr val="FBFCFC"/>
                    </a:solidFill>
                  </a:tcPr>
                </a:tc>
              </a:tr>
              <a:tr h="300000">
                <a:tc>
                  <a:txBody>
                    <a:bodyPr wrap="square"/>
                    <a:lstStyle/>
                    <a:p>
                      <a:r>
                        <a:rPr sz="1200" b="0">
                          <a:solidFill>
                            <a:srgbClr val="16222B"/>
                          </a:solidFill>
                          <a:latin typeface="Calibri"/>
                        </a:rPr>
                        <a:t>C  easy</a:t>
                      </a:r>
                    </a:p>
                  </a:txBody>
                  <a:tcPr marT="30000" marB="30000">
                    <a:solidFill>
                      <a:srgbClr val="FBFCFC"/>
                    </a:solidFill>
                  </a:tcPr>
                </a:tc>
                <a:tc>
                  <a:txBody>
                    <a:bodyPr wrap="square"/>
                    <a:lstStyle/>
                    <a:p>
                      <a:r>
                        <a:rPr sz="1200" b="0">
                          <a:solidFill>
                            <a:srgbClr val="16222B"/>
                          </a:solidFill>
                          <a:latin typeface="Calibri"/>
                        </a:rPr>
                        <a:t>.93  .95  .91  .97</a:t>
                      </a:r>
                    </a:p>
                  </a:txBody>
                  <a:tcPr marT="30000" marB="30000">
                    <a:solidFill>
                      <a:srgbClr val="FBFCFC"/>
                    </a:solidFill>
                  </a:tcPr>
                </a:tc>
                <a:tc>
                  <a:txBody>
                    <a:bodyPr wrap="square"/>
                    <a:lstStyle/>
                    <a:p>
                      <a:r>
                        <a:rPr sz="1200" b="0">
                          <a:solidFill>
                            <a:srgbClr val="B84A0B"/>
                          </a:solidFill>
                          <a:latin typeface="Calibri"/>
                        </a:rPr>
                        <a:t>1  1  1  1  dropped</a:t>
                      </a:r>
                    </a:p>
                  </a:txBody>
                  <a:tcPr marT="30000" marB="30000">
                    <a:solidFill>
                      <a:srgbClr val="FBFCFC"/>
                    </a:solidFill>
                  </a:tcPr>
                </a:tc>
                <a:tc>
                  <a:txBody>
                    <a:bodyPr wrap="square"/>
                    <a:lstStyle/>
                    <a:p>
                      <a:r>
                        <a:rPr sz="1200" b="0">
                          <a:solidFill>
                            <a:srgbClr val="16222B"/>
                          </a:solidFill>
                          <a:latin typeface="Calibri"/>
                        </a:rPr>
                        <a:t>kept, small</a:t>
                      </a:r>
                    </a:p>
                  </a:txBody>
                  <a:tcPr marT="30000" marB="30000">
                    <a:solidFill>
                      <a:srgbClr val="FBFCFC"/>
                    </a:solidFill>
                  </a:tcPr>
                </a:tc>
              </a:tr>
            </a:tbl>
          </a:graphicData>
        </a:graphic>
      </p:graphicFrame>
      <p:sp>
        <p:nvSpPr>
          <p:cNvPr id="21" name="TextBox 20"/>
          <p:cNvSpPr txBox="1"/>
          <p:nvPr/>
        </p:nvSpPr>
        <p:spPr>
          <a:xfrm>
            <a:off x="5285232" y="3380000"/>
            <a:ext cx="5900623" cy="230000"/>
          </a:xfrm>
          <a:prstGeom prst="rect">
            <a:avLst/>
          </a:prstGeom>
          <a:noFill/>
        </p:spPr>
        <p:txBody>
          <a:bodyPr wrap="square" lIns="0" rIns="0">
            <a:spAutoFit/>
          </a:bodyPr>
          <a:lstStyle/>
          <a:p>
            <a:r>
              <a:rPr sz="1100" i="1">
                <a:solidFill>
                  <a:srgbClr val="5E6B75"/>
                </a:solidFill>
                <a:latin typeface="Calibri"/>
              </a:rPr>
              <a:t>Made-up scores, one prompt each. Reward minus the group average is what RL learns from; a group of equal rewards has none.</a:t>
            </a:r>
          </a:p>
        </p:txBody>
      </p:sp>
      <p:sp>
        <p:nvSpPr>
          <p:cNvPr id="22" name="TextBox 21"/>
          <p:cNvSpPr txBox="1"/>
          <p:nvPr/>
        </p:nvSpPr>
        <p:spPr>
          <a:xfrm>
            <a:off x="5285232" y="3880000"/>
            <a:ext cx="5900623" cy="600000"/>
          </a:xfrm>
          <a:prstGeom prst="rect">
            <a:avLst/>
          </a:prstGeom>
          <a:noFill/>
        </p:spPr>
        <p:txBody>
          <a:bodyPr wrap="square" lIns="0" rIns="0">
            <a:spAutoFit/>
          </a:bodyPr>
          <a:lstStyle/>
          <a:p>
            <a:r>
              <a:rPr b="1" sz="1400">
                <a:solidFill>
                  <a:srgbClr val="16222B"/>
                </a:solidFill>
                <a:latin typeface="Calibri"/>
              </a:rPr>
              <a:t>Bands cost 2.3 times the judging for the same step: </a:t>
            </a:r>
            <a:r>
              <a:rPr sz="1400">
                <a:solidFill>
                  <a:srgbClr val="16222B"/>
                </a:solidFill>
                <a:latin typeface="Calibri"/>
              </a:rPr>
              <a:t>73 prompts judged to find 16 that teach something, against 32 with the raw judge score (same seed and base). Later banded steps needed 103.</a:t>
            </a:r>
          </a:p>
        </p:txBody>
      </p:sp>
      <p:sp>
        <p:nvSpPr>
          <p:cNvPr id="23" name="TextBox 22"/>
          <p:cNvSpPr txBox="1"/>
          <p:nvPr/>
        </p:nvSpPr>
        <p:spPr>
          <a:xfrm>
            <a:off x="5285232" y="4560000"/>
            <a:ext cx="5900623" cy="560000"/>
          </a:xfrm>
          <a:prstGeom prst="rect">
            <a:avLst/>
          </a:prstGeom>
          <a:noFill/>
        </p:spPr>
        <p:txBody>
          <a:bodyPr wrap="square" lIns="0" rIns="0">
            <a:spAutoFit/>
          </a:bodyPr>
          <a:lstStyle/>
          <a:p>
            <a:r>
              <a:rPr sz="1400" i="0">
                <a:solidFill>
                  <a:srgbClr val="B84A0B"/>
                </a:solidFill>
                <a:latin typeface="Calibri"/>
              </a:rPr>
              <a:t>86.9% of 1,752 judged answers earned 0 under bands, so most prompts looked like 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