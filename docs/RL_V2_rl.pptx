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93" r:id="rId37"/>
    <p:sldId id="261" r:id="rId13"/>
    <p:sldId id="292" r:id="rId38"/>
    <p:sldId id="262" r:id="rId14"/>
    <p:sldId id="263" r:id="rId15"/>
    <p:sldId id="264" r:id="rId16"/>
    <p:sldId id="265" r:id="rId17"/>
    <p:sldId id="267" r:id="rId19"/>
    <p:sldId id="272" r:id="rId24"/>
    <p:sldId id="288" r:id="rId40"/>
    <p:sldId id="289" r:id="rId41"/>
    <p:sldId id="268" r:id="rId20"/>
    <p:sldId id="269" r:id="rId21"/>
    <p:sldId id="270" r:id="rId22"/>
    <p:sldId id="271" r:id="rId23"/>
    <p:sldId id="273" r:id="rId25"/>
    <p:sldId id="274" r:id="rId26"/>
    <p:sldId id="275" r:id="rId27"/>
    <p:sldId id="276" r:id="rId28"/>
    <p:sldId id="277" r:id="rId29"/>
    <p:sldId id="278" r:id="rId30"/>
    <p:sldId id="279" r:id="rId31"/>
    <p:sldId id="280" r:id="rId32"/>
    <p:sldId id="281" r:id="rId33"/>
    <p:sldId id="282" r:id="rId34"/>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7.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14.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7" Type="http://schemas.openxmlformats.org/officeDocument/2006/relationships/slide" Target="slides/slide6.xml"/><Relationship Id="rId38" Type="http://schemas.openxmlformats.org/officeDocument/2006/relationships/slide" Target="slides/slide8.xml"/><Relationship Id="rId39" Type="http://schemas.openxmlformats.org/officeDocument/2006/relationships/slide" Target="slides/slide33.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31.xml"/><Relationship Id="rId43"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Two chunkers, no overlap in either. (1) Question source: src/chunk_more_trees.py pack() splits on paragraph boundaries and greedily packs toward TARGET_TOKENS = 458 (chars/4 estimate), the median packed chunk of the base file; a trailing scrap under a quarter of the target is folded into the previous chunk. (2) CPT text: src/rlv2/data/chunking.py atoms_for() takes each note's paragraphs-per-section median m and MAD d, merges sections below m and splits those above m + 2d with stride m, so atoms tile the source; chunking.py then joins atoms of ONE note into a record, greedy to 512 tokens, and the record stride (default 1, exposure 2.67x; 2 gives 1.72x, 3 gives 1.32x) is the only overlap, a chosen dose and not a defect. de_overlap_strings (the operator's reduce-overlap algorithm) is not applied to atoms: atoms are disjoint by construction, it trimmed 310 characters across 15,871 atoms that were coincidental markdown collisions (data loss), so paragraph conservation (every source paragraph in exactly one atom) is asserted instead. Not verified: which chunker produced the 79 base chunks.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(hard sequence cap, halved on out-of-memory), gen_tokens 16 x (288 + 160) = 7,168 (total tokens per generate call: sequences x the batch's widest prompt+budget; questions are sorted longest first by prompt+budget before packing, which cut padded tokens 67% on the RL pool),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 WHAT WE LANDED ON (evidence): full-parameter SFT and full-parameter RL. (1) dispositions.md, THE CLEAR WINNER (2026-09-06): 'ONE full-parameter MGPO pass on the full-parameter SFT deposit', base 4/16 to 8/16, 'full-param GRPO, lr 1e-5, G=4', reproduced in two lanes; 'LoRA chain: capped at 5'. (2) docs/grpo_one_file.py load_policy: 'a 0.8B fits at full parameters on 16 GB, and adapters were falsified for knowledge INJECTION in this project, so full-parameter is the default'; fp32 'is what every published number here used'; QLoRA is behind the --qlora flag, meant for larger models. (3) The launch commands recorded in docs/run-logs/rl_kl03.md, rl_lr3e6.md and rl_nowm.md contain no --qlora flag, so those runs took the full-parameter default. Not verified: the dtype flag in each launch command. Background: an earlier note in dispositions.md records the author's wish for adapter-only training of larger models, and that RL worked only on a full-parameter SFT base; the table's last row (fresh adapter on top of full SFT, +0.03) is the early lane, before the full-parameter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Slides 17 to 25 are the earlier runs, ruled out during RL. They come from the first hope that RL could add new knowledge (8 over a base of 4). The latest runs, with the training prompt and Jev as reward, are the earlier slides, 14 to 16.</a:t>
            </a:r>
          </a:p>
          <a:p/>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 types (instructions.md 3.5.1, 6.11; owner scope cut 2026-08-23): R1 open-book answerable (measures reading), R2 context present but insufficient (calibration), R3 no context, answerable from domain knowledge, verifiable (the only type that measures whether knowledge entered the weights), R4 no context and unanswerable (calibration). R3 questions are generated from a source chunk but asked WITHOUT it; a regex gate rejects any question that needs the passage in hand ('the pseudocode above'). VibeThinker: its eval items are used only as few-shot exemplars for phrasing, matched to the category being asked (pools.py style_exemplars_by_category); no VibeThinker item is in any pool. The decision to drop a VibeThinker proxy dataset to remove confounders is the author's account; the code comments record only that it contributes style, no items. Four QA types (R3_CATEGORIES): Math (derivation, formula, numeric), Code (implementation), STEM (why a mechanism behaves as it does), Instruction (procedure or setting). Box-Cox sampling: pools.py category_pdf takes CATEGORY_AVG_WEIGHTS, the average per-category share across R1-R4 (Math 0.1175, Code 0.0715, Instruction 0.06533, STEM 0.0620), applies Box-Cox with lambda 0.5 and renormalises: Math 0.3075, Code 0.2399, Instruction 0.2293, STEM 0.2234 (Math:STEM ratio 1.9 raw, 1.4 after). category_quota turns it into counts by largest remainder; the same distribution draws the eval and sets the generation quota. Separately, src/rlv2/data/cpt_mix.py boxcox_length_band sets a token-length band, median +- 2 MAD x 1.4826 in Box-Cox space, per component of the CPT mix.</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26 and slides 15 and 16), so the two are not on one instrument. Scoring detail (dispositions.md, THE LOCKED MECHANISM AND THE UNIFORM BOARD): the checkpoint's greedy answers, each (question, answer) judged ALONE 3 times by the 4B judge, empty or stub answers scored 0 mechanically, the majority of the 3 readings is that question's verdict, and the count of 16 is the phase score. Board, one procedure: base 4, SFT 5, SFT plus one MGPO run on 6 records 9, that plus IPO 5, coverage 4. Training past the first RL update lost in three attempts: 8 to 5 (lr 1e-5, 72 records), 6 to 5 (lr 3e-6, 60 records), 6 to 2 (restart from the better model). The in-run eval reads of the winning pass (RL step 3: 6, step 6: 8, step 9: 7, step 12: 8) come from a different instrument, so they are not on this board. Figure (docs/figures/critical_lifts.png, from data/probe3_locked.json): left panel, base 4, SFT epochs 1/3/5 read 1, 3, 5, then the RL checkpoint trained from SFT (past9_r1a) reads 9; its own in-run readings at steps 3, 6, 9, 12 read 6, 8, 7, 8 (same run, different instrument from the 9). Right panel: the full-coverage campaign's in-run readings 3, 5, 5, 7, 7 at steps 2 to 10 (12 records each), against the same SFT of 1 and winner of 5. Reading of the 9 (dispositions.md): the locked board has the champion RL pass at 8 and the second lineage fpv2_pass2 at 8; 'Every FIRST RL pass lifts (+3..4); every second/third pass collapses (2-5)'; 'Earlier headline numbers (9, 10, 11, 12) were floors/other-grader readings'. Resolution: one question = 6.25 points; one reading has a standard error of 12.5 points; a 5-point difference at 80% power needs about 1,568 questions per arm. CORRECTION: the reading above that a first-pass lift of 3 to 4 'replicated' rests on old-method boards only (LLM judge, 3-read majority, comparative-grader era); it does not carry to the current method (training prompt, Jev, 200-record runs rl_kl03, rl_lr3e6, rl_replay2), where no run held a gain.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29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src/rlv2/data/chunking.py (atoms_for),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Paragraph splits, no overlap. Questions: pack to 458 tokens, the median base chunk. CPT: median/MAD atoms form records; the trainer packs whole records to 512.</a:t>
                      </a:r>
                    </a:p>
                  </a:txBody>
                  <a:tcPr marL="91440" marR="91440" marT="45720" marB="45720" anchor="ctr">
                    <a:solidFill>
                      <a:srgbClr val="FBFCFC"/>
                    </a:solidFill>
                  </a:tcPr>
                </a:tc>
                <a:tc>
                  <a:txBody>
                    <a:bodyPr wrap="square"/>
                    <a:lstStyle/>
                    <a:p>
                      <a:r>
                        <a:rPr sz="1200" b="0">
                          <a:solidFill>
                            <a:srgbClr val="16222B"/>
                          </a:solidFill>
                          <a:latin typeface="Calibri"/>
                        </a:rPr>
                        <a:t>79 chunks, 16 skills. Only overlap: CPT records step 1 atom at a time (2.67x exposure), chosen</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QUESTIONS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kind of question, and how the mix was sampled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src/rlv2/data/pools.py (R3_CATEGORIES, category_pdf, style_exemplars) · instructions.md 3.5.1 and 6.11</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WHAT WE KEPT</a:t>
            </a:r>
          </a:p>
          <a:p>
            <a:pPr>
              <a:spcAft>
                <a:spcPts val="400"/>
              </a:spcAft>
            </a:pPr>
            <a:r>
              <a:rPr sz="1600" b="0">
                <a:solidFill>
                  <a:srgbClr val="16222B"/>
                </a:solidFill>
                <a:latin typeface="Calibri"/>
              </a:rPr>
              <a:t>•  Four response types existed (R1 to R4); we kept one, R3</a:t>
            </a:r>
          </a:p>
          <a:p>
            <a:pPr>
              <a:spcAft>
                <a:spcPts val="400"/>
              </a:spcAft>
            </a:pPr>
            <a:r>
              <a:rPr sz="1600" b="0">
                <a:solidFill>
                  <a:srgbClr val="16222B"/>
                </a:solidFill>
                <a:latin typeface="Calibri"/>
              </a:rPr>
              <a:t>•  R3: a question made from the source notes, asked without them, so it tests the weights</a:t>
            </a:r>
          </a:p>
          <a:p>
            <a:pPr>
              <a:spcAft>
                <a:spcPts val="400"/>
              </a:spcAft>
            </a:pPr>
            <a:r>
              <a:rPr sz="1600" b="0">
                <a:solidFill>
                  <a:srgbClr val="16222B"/>
                </a:solidFill>
                <a:latin typeface="Calibri"/>
              </a:rPr>
              <a:t>•  VibeThinker data was a candidate proxy; dropped to remove confounders</a:t>
            </a:r>
          </a:p>
          <a:p>
            <a:pPr>
              <a:spcAft>
                <a:spcPts val="400"/>
              </a:spcAft>
            </a:pPr>
            <a:r>
              <a:rPr sz="1600" b="0">
                <a:solidFill>
                  <a:srgbClr val="16222B"/>
                </a:solidFill>
                <a:latin typeface="Calibri"/>
              </a:rPr>
              <a:t>•  Only its four QA types (math, code, STEM, instruction) remain, as a style on our own synthetic questions</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HOW THE MIX WAS SAMPLED</a:t>
            </a:r>
          </a:p>
          <a:p>
            <a:pPr>
              <a:spcAft>
                <a:spcPts val="400"/>
              </a:spcAft>
            </a:pPr>
            <a:r>
              <a:rPr sz="1600" b="0">
                <a:solidFill>
                  <a:srgbClr val="16222B"/>
                </a:solidFill>
                <a:latin typeface="Calibri"/>
              </a:rPr>
              <a:t>•  Category share = average over R1 to R4, then Box-Cox (power 0.5), renormalised</a:t>
            </a:r>
          </a:p>
          <a:p>
            <a:pPr>
              <a:spcAft>
                <a:spcPts val="400"/>
              </a:spcAft>
            </a:pPr>
            <a:r>
              <a:rPr sz="1600" b="0">
                <a:solidFill>
                  <a:srgbClr val="16222B"/>
                </a:solidFill>
                <a:latin typeface="Calibri"/>
              </a:rPr>
              <a:t>•  Result: Math 0.31, Code 0.24, Instruction 0.23, STEM 0.22</a:t>
            </a:r>
          </a:p>
          <a:p>
            <a:pPr>
              <a:spcAft>
                <a:spcPts val="400"/>
              </a:spcAft>
            </a:pPr>
            <a:r>
              <a:rPr sz="1600" b="0">
                <a:solidFill>
                  <a:srgbClr val="16222B"/>
                </a:solidFill>
                <a:latin typeface="Calibri"/>
              </a:rPr>
              <a:t>•  Math to STEM ratio falls from 1.9 to 1.4, so no category is starved</a:t>
            </a:r>
          </a:p>
          <a:p>
            <a:pPr>
              <a:spcAft>
                <a:spcPts val="400"/>
              </a:spcAft>
            </a:pPr>
            <a:r>
              <a:rPr sz="1600" b="0">
                <a:solidFill>
                  <a:srgbClr val="16222B"/>
                </a:solidFill>
                <a:latin typeface="Calibri"/>
              </a:rPr>
              <a:t>•  The same weights set the eval draw and the generation quota</a:t>
            </a:r>
          </a:p>
          <a:p>
            <a:pPr>
              <a:spcAft>
                <a:spcPts val="400"/>
              </a:spcAft>
            </a:pPr>
            <a:r>
              <a:rPr sz="1600" b="0">
                <a:solidFill>
                  <a:srgbClr val="16222B"/>
                </a:solidFill>
                <a:latin typeface="Calibri"/>
              </a:rPr>
              <a:t>•  CPT lengths also use Box-Cox: median ± 2 MAD per component</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One question type and one style source leave a single thing to measure: whether the model knows the domain.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Questions are sorted longest first, then packed (dynamic batching)</a:t>
            </a:r>
          </a:p>
          <a:p>
            <a:pPr>
              <a:spcAft>
                <a:spcPts val="400"/>
              </a:spcAft>
            </a:pPr>
            <a:r>
              <a:rPr sz="1600" b="0">
                <a:solidFill>
                  <a:srgbClr val="16222B"/>
                </a:solidFill>
                <a:latin typeface="Calibri"/>
              </a:rPr>
              <a:t>•  Each batch stays under 7,168 tokens in total: sequences x longest prompt+answer</a:t>
            </a:r>
          </a:p>
          <a:p>
            <a:pPr>
              <a:spcAft>
                <a:spcPts val="400"/>
              </a:spcAft>
            </a:pPr>
            <a:r>
              <a:rPr sz="1600" b="0">
                <a:solidFill>
                  <a:srgbClr val="16222B"/>
                </a:solidFill>
                <a:latin typeface="Calibri"/>
              </a:rPr>
              <a:t>•  Short records batch wider, up to 32 sequences</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Answer length budget: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To judge a gain, score the before and after checkpoints in the same run. Across runs, one pair read +3, +3, then −3.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"Proven Path", "THE CLEAR WINNER" · docs/grpo_one_file.py load_policy</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Aim: full-parameter SFT and RL, so no adapter confounds the result. Test: can a deposit in an adapter be sharpened by RL as a full-parameter one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We landed on full-parameter SFT and RL: the winning pass (4 to 8 of 16) and the long runs.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
        <p:nvSpPr>
          <p:cNvPr id="16" name="TextBox 15"/>
          <p:cNvSpPr txBox="1"/>
          <p:nvPr/>
        </p:nvSpPr>
        <p:spPr>
          <a:xfrm>
            <a:off x="822960" y="1390000"/>
            <a:ext cx="10545775" cy="290000"/>
          </a:xfrm>
          <a:prstGeom prst="rect">
            <a:avLst/>
          </a:prstGeom>
          <a:noFill/>
        </p:spPr>
        <p:txBody>
          <a:bodyPr wrap="square" tIns="0" bIns="0" lIns="0">
            <a:spAutoFit/>
          </a:bodyPr>
          <a:lstStyle/>
          <a:p>
            <a:r>
              <a:rPr sz="1200" i="1">
                <a:solidFill>
                  <a:srgbClr val="5E6B75"/>
                </a:solidFill>
                <a:latin typeface="Calibri"/>
              </a:rPr>
              <a:t>Earlier runs, ruled out during RL. We began hoping RL could add new knowledge (8 over a base of 4). Our latest runs are slides 14 to 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400" b="0">
                <a:solidFill>
                  <a:srgbClr val="4A5864"/>
                </a:solidFill>
                <a:latin typeface="Calibri"/>
              </a:rPr>
              <a:t>Records the model gets right some tries and wrong others. Base 10%, after SFT 38% (20 and 16 records, so rough). SFT makes records RL can learn from.</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400" b="0">
                <a:solidFill>
                  <a:srgbClr val="4A5864"/>
                </a:solidFill>
                <a:latin typeface="Calibri"/>
              </a:rPr>
              <a:t>Same share at SFT epoch 3 vs epoch 2, on the same 24 records. About two records apart, so epoch 3 is only slightly ahead.</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400" b="0">
                <a:solidFill>
                  <a:srgbClr val="4A5864"/>
                </a:solidFill>
                <a:latin typeface="Calibri"/>
              </a:rPr>
              <a:t>Eval score out of 16: epoch 3 got 5, epoch 2 got 7. The half-known share picks epoch 3; the eval prefers epoch 2.</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The judge scores each answer 0 to 1. Bands pay a step instead: 0 below 0.70, 0.5 from 0.70, 1 from 0.90. Hypothesis: bands give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A step trains on 16 prompts, 4 answers each. A prompt whose answers all earn the same reward teaches nothing and is dropped. Count prompts judged per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cut the waste by more than half; it did not produce lift (entry 12).</a:t>
            </a:r>
          </a:p>
        </p:txBody>
      </p:sp>
      <p:sp>
        <p:nvSpPr>
          <p:cNvPr id="21" name="TextBox 20"/>
          <p:cNvSpPr txBox="1"/>
          <p:nvPr/>
        </p:nvSpPr>
        <p:spPr>
          <a:xfrm>
            <a:off x="5285232" y="3380000"/>
            <a:ext cx="5900623" cy="230000"/>
          </a:xfrm>
          <a:prstGeom prst="rect">
            <a:avLst/>
          </a:prstGeom>
          <a:noFill/>
        </p:spPr>
        <p:txBody>
          <a:bodyPr wrap="square" lIns="0" rIns="0">
            <a:spAutoFit/>
          </a:bodyPr>
          <a:lstStyle/>
          <a:p>
            <a:r>
              <a:rPr sz="1100" i="1">
                <a:solidFill>
                  <a:srgbClr val="5E6B75"/>
                </a:solidFill>
                <a:latin typeface="Calibri"/>
              </a:rPr>
              <a:t>Made-up scores, one prompt each. RL learns from reward minus the group average; a group of equal rewards has none.</a:t>
            </a:r>
          </a:p>
        </p:txBody>
      </p:sp>
      <p:sp>
        <p:nvSpPr>
          <p:cNvPr id="22" name="TextBox 21"/>
          <p:cNvSpPr txBox="1"/>
          <p:nvPr/>
        </p:nvSpPr>
        <p:spPr>
          <a:xfrm>
            <a:off x="5285232" y="3800000"/>
            <a:ext cx="5900623" cy="600000"/>
          </a:xfrm>
          <a:prstGeom prst="rect">
            <a:avLst/>
          </a:prstGeom>
          <a:noFill/>
        </p:spPr>
        <p:txBody>
          <a:bodyPr wrap="square" lIns="0" rIns="0">
            <a:spAutoFit/>
          </a:bodyPr>
          <a:lstStyle/>
          <a:p>
            <a:r>
              <a:rPr b="1" sz="1300">
                <a:solidFill>
                  <a:srgbClr val="16222B"/>
                </a:solidFill>
                <a:latin typeface="Calibri"/>
              </a:rPr>
              <a:t>Raw score: less than half the judging of bands. </a:t>
            </a:r>
            <a:r>
              <a:rPr sz="1300">
                <a:solidFill>
                  <a:srgbClr val="16222B"/>
                </a:solidFill>
                <a:latin typeface="Calibri"/>
              </a:rPr>
              <a:t>32 prompts judged to find 16, against 73 for bands (same seed and base). Binary drops every prompt bands drop, so it costs at least as much; not run.</a:t>
            </a:r>
          </a:p>
        </p:txBody>
      </p:sp>
      <p:sp>
        <p:nvSpPr>
          <p:cNvPr id="23" name="TextBox 22"/>
          <p:cNvSpPr txBox="1"/>
          <p:nvPr/>
        </p:nvSpPr>
        <p:spPr>
          <a:xfrm>
            <a:off x="5285232" y="4600000"/>
            <a:ext cx="5900623" cy="560000"/>
          </a:xfrm>
          <a:prstGeom prst="rect">
            <a:avLst/>
          </a:prstGeom>
          <a:noFill/>
        </p:spPr>
        <p:txBody>
          <a:bodyPr wrap="square" lIns="0" rIns="0">
            <a:spAutoFit/>
          </a:bodyPr>
          <a:lstStyle/>
          <a:p>
            <a:r>
              <a:rPr sz="1400" i="0">
                <a:solidFill>
                  <a:srgbClr val="B84A0B"/>
                </a:solidFill>
                <a:latin typeface="Calibri"/>
              </a:rPr>
              <a:t>86.9% of answers earned 0 under bands, so most prompts looked like A.</a:t>
            </a:r>
          </a:p>
        </p:txBody>
      </p:sp>
      <p:graphicFrame>
        <p:nvGraphicFramePr>
          <p:cNvPr id="24" name="Table 23"/>
          <p:cNvGraphicFramePr>
            <a:graphicFrameLocks noGrp="1"/>
          </p:cNvGraphicFramePr>
          <p:nvPr/>
        </p:nvGraphicFramePr>
        <p:xfrm>
          <a:off x="5285232" y="2120000"/>
          <a:ext cx="5900623" cy="1200000"/>
        </p:xfrm>
        <a:graphic>
          <a:graphicData uri="http://schemas.openxmlformats.org/drawingml/2006/table">
            <a:tbl>
              <a:tblPr firstRow="1" bandRow="1">
                <a:tableStyleId>{5C22544A-7EE6-4342-B048-85BDC9FD1C3A}</a:tableStyleId>
              </a:tblPr>
              <a:tblGrid>
                <a:gridCol w="780000"/>
                <a:gridCol w="1250000"/>
                <a:gridCol w="1370000"/>
                <a:gridCol w="1370000"/>
                <a:gridCol w="1130623"/>
              </a:tblGrid>
              <a:tr h="300000">
                <a:tc>
                  <a:txBody>
                    <a:bodyPr wrap="square"/>
                    <a:lstStyle/>
                    <a:p>
                      <a:r>
                        <a:rPr sz="1100" b="1">
                          <a:solidFill>
                            <a:srgbClr val="16222B"/>
                          </a:solidFill>
                          <a:latin typeface="Calibri"/>
                        </a:rPr>
                        <a:t>Prompt</a:t>
                      </a:r>
                    </a:p>
                  </a:txBody>
                  <a:tcPr marT="30000" marB="30000" marL="60000" marR="60000">
                    <a:solidFill>
                      <a:srgbClr val="D2D9DD"/>
                    </a:solidFill>
                  </a:tcPr>
                </a:tc>
                <a:tc>
                  <a:txBody>
                    <a:bodyPr wrap="square"/>
                    <a:lstStyle/>
                    <a:p>
                      <a:r>
                        <a:rPr sz="1100" b="1">
                          <a:solidFill>
                            <a:srgbClr val="16222B"/>
                          </a:solidFill>
                          <a:latin typeface="Calibri"/>
                        </a:rPr>
                        <a:t>Judge scores</a:t>
                      </a:r>
                    </a:p>
                  </a:txBody>
                  <a:tcPr marT="30000" marB="30000" marL="60000" marR="60000">
                    <a:solidFill>
                      <a:srgbClr val="D2D9DD"/>
                    </a:solidFill>
                  </a:tcPr>
                </a:tc>
                <a:tc>
                  <a:txBody>
                    <a:bodyPr wrap="square"/>
                    <a:lstStyle/>
                    <a:p>
                      <a:r>
                        <a:rPr sz="1100" b="1">
                          <a:solidFill>
                            <a:srgbClr val="16222B"/>
                          </a:solidFill>
                          <a:latin typeface="Calibri"/>
                        </a:rPr>
                        <a:t>Bands</a:t>
                      </a:r>
                    </a:p>
                  </a:txBody>
                  <a:tcPr marT="30000" marB="30000" marL="60000" marR="60000">
                    <a:solidFill>
                      <a:srgbClr val="D2D9DD"/>
                    </a:solidFill>
                  </a:tcPr>
                </a:tc>
                <a:tc>
                  <a:txBody>
                    <a:bodyPr wrap="square"/>
                    <a:lstStyle/>
                    <a:p>
                      <a:r>
                        <a:rPr sz="1100" b="1">
                          <a:solidFill>
                            <a:srgbClr val="16222B"/>
                          </a:solidFill>
                          <a:latin typeface="Calibri"/>
                        </a:rPr>
                        <a:t>Binary 0/1</a:t>
                      </a:r>
                    </a:p>
                  </a:txBody>
                  <a:tcPr marT="30000" marB="30000" marL="60000" marR="60000">
                    <a:solidFill>
                      <a:srgbClr val="D2D9DD"/>
                    </a:solidFill>
                  </a:tcPr>
                </a:tc>
                <a:tc>
                  <a:txBody>
                    <a:bodyPr wrap="square"/>
                    <a:lstStyle/>
                    <a:p>
                      <a:r>
                        <a:rPr sz="1100" b="1">
                          <a:solidFill>
                            <a:srgbClr val="16222B"/>
                          </a:solidFill>
                          <a:latin typeface="Calibri"/>
                        </a:rPr>
                        <a:t>Raw score</a:t>
                      </a:r>
                    </a:p>
                  </a:txBody>
                  <a:tcPr marT="30000" marB="30000" marL="60000" marR="60000">
                    <a:solidFill>
                      <a:srgbClr val="D2D9DD"/>
                    </a:solidFill>
                  </a:tcPr>
                </a:tc>
              </a:tr>
              <a:tr h="300000">
                <a:tc>
                  <a:txBody>
                    <a:bodyPr wrap="square"/>
                    <a:lstStyle/>
                    <a:p>
                      <a:r>
                        <a:rPr sz="1100" b="0">
                          <a:solidFill>
                            <a:srgbClr val="16222B"/>
                          </a:solidFill>
                          <a:latin typeface="Calibri"/>
                        </a:rPr>
                        <a:t>A  hard</a:t>
                      </a:r>
                    </a:p>
                  </a:txBody>
                  <a:tcPr marT="30000" marB="30000" marL="60000" marR="60000">
                    <a:solidFill>
                      <a:srgbClr val="FBFCFC"/>
                    </a:solidFill>
                  </a:tcPr>
                </a:tc>
                <a:tc>
                  <a:txBody>
                    <a:bodyPr wrap="square"/>
                    <a:lstStyle/>
                    <a:p>
                      <a:r>
                        <a:rPr sz="1100" b="0">
                          <a:solidFill>
                            <a:srgbClr val="16222B"/>
                          </a:solidFill>
                          <a:latin typeface="Calibri"/>
                        </a:rPr>
                        <a:t>.31 .45 .52 .60</a:t>
                      </a:r>
                    </a:p>
                  </a:txBody>
                  <a:tcPr marT="30000" marB="30000" marL="60000" marR="60000">
                    <a:solidFill>
                      <a:srgbClr val="FBFCFC"/>
                    </a:solidFill>
                  </a:tcPr>
                </a:tc>
                <a:tc>
                  <a:txBody>
                    <a:bodyPr wrap="square"/>
                    <a:lstStyle/>
                    <a:p>
                      <a:r>
                        <a:rPr sz="1100" b="0">
                          <a:solidFill>
                            <a:srgbClr val="B84A0B"/>
                          </a:solidFill>
                          <a:latin typeface="Calibri"/>
                        </a:rPr>
                        <a:t>0 0 0 0  dropped</a:t>
                      </a:r>
                    </a:p>
                  </a:txBody>
                  <a:tcPr marT="30000" marB="30000" marL="60000" marR="60000">
                    <a:solidFill>
                      <a:srgbClr val="FBFCFC"/>
                    </a:solidFill>
                  </a:tcPr>
                </a:tc>
                <a:tc>
                  <a:txBody>
                    <a:bodyPr wrap="square"/>
                    <a:lstStyle/>
                    <a:p>
                      <a:r>
                        <a:rPr sz="1100" b="0">
                          <a:solidFill>
                            <a:srgbClr val="B84A0B"/>
                          </a:solidFill>
                          <a:latin typeface="Calibri"/>
                        </a:rPr>
                        <a:t>0 0 0 0  dropped</a:t>
                      </a:r>
                    </a:p>
                  </a:txBody>
                  <a:tcPr marT="30000" marB="30000" marL="60000" marR="60000">
                    <a:solidFill>
                      <a:srgbClr val="FBFCFC"/>
                    </a:solidFill>
                  </a:tcPr>
                </a:tc>
                <a:tc>
                  <a:txBody>
                    <a:bodyPr wrap="square"/>
                    <a:lstStyle/>
                    <a:p>
                      <a:r>
                        <a:rPr sz="1100" b="0">
                          <a:solidFill>
                            <a:srgbClr val="16222B"/>
                          </a:solidFill>
                          <a:latin typeface="Calibri"/>
                        </a:rPr>
                        <a:t>kept</a:t>
                      </a:r>
                    </a:p>
                  </a:txBody>
                  <a:tcPr marT="30000" marB="30000" marL="60000" marR="60000">
                    <a:solidFill>
                      <a:srgbClr val="FBFCFC"/>
                    </a:solidFill>
                  </a:tcPr>
                </a:tc>
              </a:tr>
              <a:tr h="300000">
                <a:tc>
                  <a:txBody>
                    <a:bodyPr wrap="square"/>
                    <a:lstStyle/>
                    <a:p>
                      <a:r>
                        <a:rPr sz="1100" b="0">
                          <a:solidFill>
                            <a:srgbClr val="16222B"/>
                          </a:solidFill>
                          <a:latin typeface="Calibri"/>
                        </a:rPr>
                        <a:t>B  mixed</a:t>
                      </a:r>
                    </a:p>
                  </a:txBody>
                  <a:tcPr marT="30000" marB="30000" marL="60000" marR="60000">
                    <a:solidFill>
                      <a:srgbClr val="FBFCFC"/>
                    </a:solidFill>
                  </a:tcPr>
                </a:tc>
                <a:tc>
                  <a:txBody>
                    <a:bodyPr wrap="square"/>
                    <a:lstStyle/>
                    <a:p>
                      <a:r>
                        <a:rPr sz="1100" b="0">
                          <a:solidFill>
                            <a:srgbClr val="16222B"/>
                          </a:solidFill>
                          <a:latin typeface="Calibri"/>
                        </a:rPr>
                        <a:t>.35 .75 .92 .40</a:t>
                      </a:r>
                    </a:p>
                  </a:txBody>
                  <a:tcPr marT="30000" marB="30000" marL="60000" marR="60000">
                    <a:solidFill>
                      <a:srgbClr val="FBFCFC"/>
                    </a:solidFill>
                  </a:tcPr>
                </a:tc>
                <a:tc>
                  <a:txBody>
                    <a:bodyPr wrap="square"/>
                    <a:lstStyle/>
                    <a:p>
                      <a:r>
                        <a:rPr sz="1100" b="0">
                          <a:solidFill>
                            <a:srgbClr val="1F5EA8"/>
                          </a:solidFill>
                          <a:latin typeface="Calibri"/>
                        </a:rPr>
                        <a:t>0 .5 1 0  kept</a:t>
                      </a:r>
                    </a:p>
                  </a:txBody>
                  <a:tcPr marT="30000" marB="30000" marL="60000" marR="60000">
                    <a:solidFill>
                      <a:srgbClr val="FBFCFC"/>
                    </a:solidFill>
                  </a:tcPr>
                </a:tc>
                <a:tc>
                  <a:txBody>
                    <a:bodyPr wrap="square"/>
                    <a:lstStyle/>
                    <a:p>
                      <a:r>
                        <a:rPr sz="1100" b="0">
                          <a:solidFill>
                            <a:srgbClr val="1F5EA8"/>
                          </a:solidFill>
                          <a:latin typeface="Calibri"/>
                        </a:rPr>
                        <a:t>0 1 1 0  kept</a:t>
                      </a:r>
                    </a:p>
                  </a:txBody>
                  <a:tcPr marT="30000" marB="30000" marL="60000" marR="60000">
                    <a:solidFill>
                      <a:srgbClr val="FBFCFC"/>
                    </a:solidFill>
                  </a:tcPr>
                </a:tc>
                <a:tc>
                  <a:txBody>
                    <a:bodyPr wrap="square"/>
                    <a:lstStyle/>
                    <a:p>
                      <a:r>
                        <a:rPr sz="1100" b="0">
                          <a:solidFill>
                            <a:srgbClr val="16222B"/>
                          </a:solidFill>
                          <a:latin typeface="Calibri"/>
                        </a:rPr>
                        <a:t>kept</a:t>
                      </a:r>
                    </a:p>
                  </a:txBody>
                  <a:tcPr marT="30000" marB="30000" marL="60000" marR="60000">
                    <a:solidFill>
                      <a:srgbClr val="FBFCFC"/>
                    </a:solidFill>
                  </a:tcPr>
                </a:tc>
              </a:tr>
              <a:tr h="300000">
                <a:tc>
                  <a:txBody>
                    <a:bodyPr wrap="square"/>
                    <a:lstStyle/>
                    <a:p>
                      <a:r>
                        <a:rPr sz="1100" b="0">
                          <a:solidFill>
                            <a:srgbClr val="16222B"/>
                          </a:solidFill>
                          <a:latin typeface="Calibri"/>
                        </a:rPr>
                        <a:t>C  easy</a:t>
                      </a:r>
                    </a:p>
                  </a:txBody>
                  <a:tcPr marT="30000" marB="30000" marL="60000" marR="60000">
                    <a:solidFill>
                      <a:srgbClr val="FBFCFC"/>
                    </a:solidFill>
                  </a:tcPr>
                </a:tc>
                <a:tc>
                  <a:txBody>
                    <a:bodyPr wrap="square"/>
                    <a:lstStyle/>
                    <a:p>
                      <a:r>
                        <a:rPr sz="1100" b="0">
                          <a:solidFill>
                            <a:srgbClr val="16222B"/>
                          </a:solidFill>
                          <a:latin typeface="Calibri"/>
                        </a:rPr>
                        <a:t>.93 .95 .91 .97</a:t>
                      </a:r>
                    </a:p>
                  </a:txBody>
                  <a:tcPr marT="30000" marB="30000" marL="60000" marR="60000">
                    <a:solidFill>
                      <a:srgbClr val="FBFCFC"/>
                    </a:solidFill>
                  </a:tcPr>
                </a:tc>
                <a:tc>
                  <a:txBody>
                    <a:bodyPr wrap="square"/>
                    <a:lstStyle/>
                    <a:p>
                      <a:r>
                        <a:rPr sz="1100" b="0">
                          <a:solidFill>
                            <a:srgbClr val="B84A0B"/>
                          </a:solidFill>
                          <a:latin typeface="Calibri"/>
                        </a:rPr>
                        <a:t>1 1 1 1  dropped</a:t>
                      </a:r>
                    </a:p>
                  </a:txBody>
                  <a:tcPr marT="30000" marB="30000" marL="60000" marR="60000">
                    <a:solidFill>
                      <a:srgbClr val="FBFCFC"/>
                    </a:solidFill>
                  </a:tcPr>
                </a:tc>
                <a:tc>
                  <a:txBody>
                    <a:bodyPr wrap="square"/>
                    <a:lstStyle/>
                    <a:p>
                      <a:r>
                        <a:rPr sz="1100" b="0">
                          <a:solidFill>
                            <a:srgbClr val="B84A0B"/>
                          </a:solidFill>
                          <a:latin typeface="Calibri"/>
                        </a:rPr>
                        <a:t>1 1 1 1  dropped</a:t>
                      </a:r>
                    </a:p>
                  </a:txBody>
                  <a:tcPr marT="30000" marB="30000" marL="60000" marR="60000">
                    <a:solidFill>
                      <a:srgbClr val="FBFCFC"/>
                    </a:solidFill>
                  </a:tcPr>
                </a:tc>
                <a:tc>
                  <a:txBody>
                    <a:bodyPr wrap="square"/>
                    <a:lstStyle/>
                    <a:p>
                      <a:r>
                        <a:rPr sz="1100" b="0">
                          <a:solidFill>
                            <a:srgbClr val="16222B"/>
                          </a:solidFill>
                          <a:latin typeface="Calibri"/>
                        </a:rPr>
                        <a:t>kept, small</a:t>
                      </a:r>
                    </a:p>
                  </a:txBody>
                  <a:tcPr marT="30000" marB="30000" marL="60000" marR="60000">
                    <a:solidFill>
                      <a:srgbClr val="FBFCFC"/>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15</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0.02; learning rate 1e-5, 3e-6. Watch raw KL (drift from SFT), entropy and answers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different KL formula</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run where solved passed mixed (slide 14):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16</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Bar set in advance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 to 4 of every 6 prompts per round; never tested without it</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 (revisit uncertain records more)</a:t>
                      </a:r>
                    </a:p>
                  </a:txBody>
                  <a:tcPr marL="91440" marR="91440" marT="45720" marB="45720" anchor="ctr">
                    <a:solidFill>
                      <a:srgbClr val="FBFCFC"/>
                    </a:solidFill>
                  </a:tcPr>
                </a:tc>
                <a:tc>
                  <a:txBody>
                    <a:bodyPr wrap="square"/>
                    <a:lstStyle/>
                    <a:p>
                      <a:r>
                        <a:rPr sz="1300" b="0">
                          <a:solidFill>
                            <a:srgbClr val="16222B"/>
                          </a:solidFill>
                          <a:latin typeface="Calibri"/>
                        </a:rPr>
                        <a:t>used in the best earlier pass; a counting bug was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up to 5 steps old</a:t>
                      </a:r>
                    </a:p>
                  </a:txBody>
                  <a:tcPr marL="91440" marR="91440" marT="45720" marB="45720" anchor="ctr">
                    <a:solidFill>
                      <a:srgbClr val="FBFCFC"/>
                    </a:solidFill>
                  </a:tcPr>
                </a:tc>
                <a:tc>
                  <a:txBody>
                    <a:bodyPr wrap="square"/>
                    <a:lstStyle/>
                    <a:p>
                      <a:r>
                        <a:rPr sz="1300" b="0">
                          <a:solidFill>
                            <a:srgbClr val="B94E08"/>
                          </a:solidFill>
                          <a:latin typeface="Calibri"/>
                        </a:rPr>
                        <a:t>scored 3 of 16, needed 5; stopped at step 24 when the model had drifted too far (KL 0.86)</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Replay normally breaks up correlated steps. Here the 16 records per step are already independent, so only reuse was left, and reused answers went stale within 5 steps.</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 small networks predict the judge's verdict. The more they disagree on an answer, the more likely the real judge is asked.</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how much the 4 answers in a group differed in score: world model vs real judge. The world model scored them nearly alike.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of visits where every answer scored wrong: world model vs real judge</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out of 220 questions, SFT start vs after 13 steps. Within noise.</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its yes-probability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reference answers;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a numeric-answer check</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reference answer</a:t>
                      </a:r>
                    </a:p>
                  </a:txBody>
                  <a:tcPr marL="91440" marR="91440" marT="45720" marB="45720" anchor="ctr">
                    <a:solidFill>
                      <a:srgbClr val="FBFCFC"/>
                    </a:solidFill>
                  </a:tcPr>
                </a:tc>
                <a:tc>
                  <a:txBody>
                    <a:bodyPr wrap="square"/>
                    <a:lstStyle/>
                    <a:p>
                      <a:r>
                        <a:rPr sz="1400" b="0">
                          <a:solidFill>
                            <a:srgbClr val="B94E08"/>
                          </a:solidFill>
                          <a:latin typeface="Calibri"/>
                        </a:rPr>
                        <a:t>rejected 19 of 253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answers that repeated the question made the eval read 0.250 → 0.594; with a repeat filter it read 0.039. Probe a judge with stubs, echoes and its own reference answers first.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each record visited at most 3 times; 8 answers per question; start and end scored in the same run, repeat filter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records seen again, against the same record's first visit, by step 17</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accuracy the first time a record is seen, first fifth of the run vs last fifth: no better on new records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answers correct (16 questions × 8 answers), SFT start vs after RL. Held-out questions: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 · DEFECTS IN HOW WE RAN IT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reference answers;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times trained on</a:t>
                      </a:r>
                    </a:p>
                  </a:txBody>
                  <a:tcPr marL="91440" marR="91440" marT="45720" marB="45720" anchor="ctr">
                    <a:solidFill>
                      <a:srgbClr val="FBFCFC"/>
                    </a:solidFill>
                  </a:tcPr>
                </a:tc>
                <a:tc>
                  <a:txBody>
                    <a:bodyPr wrap="square"/>
                    <a:lstStyle/>
                    <a:p>
                      <a:r>
                        <a:rPr sz="1400" b="0">
                          <a:solidFill>
                            <a:srgbClr val="16222B"/>
                          </a:solidFill>
                          <a:latin typeface="Calibri"/>
                        </a:rPr>
                        <a:t>112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of accuracy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KL 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reference answers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Four real defects: eval prompt, constant reward, judge exploits, visit cap.</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a 16-question eval has a standard error of 12.5 points.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scale.</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recipe of the run where solved passed mixed (slide 14) exactly: its base, KL 0.02, KL formula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run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reference answers. A bare "1" paid on 40 of 60 reference answers.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 (OLD 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figure: docs/figures/critical_lifts.png (data/probe3_locked.json, past9_r1a)</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7750" y="1800000"/>
            <a:ext cx="3810000" cy="3200000"/>
          </a:xfrm>
          <a:prstGeom prst="rect">
            <a:avLst/>
          </a:prstGeom>
          <a:noFill/>
        </p:spPr>
        <p:txBody>
          <a:bodyPr wrap="square" lIns="0" rIns="0" tIns="0" bIns="0" anchor="t">
            <a:spAutoFit/>
          </a:bodyPr>
          <a:lstStyle/>
          <a:p>
            <a:pPr>
              <a:spcAft>
                <a:spcPts val="700"/>
              </a:spcAft>
            </a:pPr>
            <a:r>
              <a:rPr sz="1300" b="1">
                <a:solidFill>
                  <a:srgbClr val="1A2332"/>
                </a:solidFill>
                <a:latin typeface="Calibri"/>
              </a:rPr>
              <a:t>Old method (LLM judge, greedy answers, each judged alone 3 times, majority decides): base 4, full-parameter SFT 5, first RL pass from the SFT deposit 9 of 16. SFT then RL, no CPT.</a:t>
            </a:r>
          </a:p>
          <a:p>
            <a:pPr>
              <a:spcAft>
                <a:spcPts val="700"/>
              </a:spcAft>
            </a:pPr>
            <a:r>
              <a:rPr sz="1300" b="0">
                <a:solidFill>
                  <a:srgbClr val="1A2332"/>
                </a:solidFill>
                <a:latin typeface="Calibri"/>
              </a:rPr>
              <a:t>It is the result that got us excited. The 9 was one reading (the same checkpoint later read 8), and later passes under this method fell back.</a:t>
            </a:r>
          </a:p>
          <a:p>
            <a:pPr>
              <a:spcAft>
                <a:spcPts val="700"/>
              </a:spcAft>
            </a:pPr>
            <a:r>
              <a:rPr sz="1300" b="0">
                <a:solidFill>
                  <a:srgbClr val="1A2332"/>
                </a:solidFill>
                <a:latin typeface="Calibri"/>
              </a:rPr>
              <a:t>The current method (training prompt, Jev judge, long runs on slides 15 and 16) never beat 9 and never held a gain. One question is 6.25 points, so 16 questions cannot size a lift either way.</a:t>
            </a:r>
          </a:p>
          <a:p>
            <a:pPr>
              <a:spcAft>
                <a:spcPts val="700"/>
              </a:spcAft>
            </a:pPr>
            <a:r>
              <a:rPr sz="1300" b="0">
                <a:solidFill>
                  <a:srgbClr val="1A2332"/>
                </a:solidFill>
                <a:latin typeface="Calibri"/>
              </a:rPr>
              <a:t>The two methods are not comparable: the 9 was not re-read under the training prompt (slide 26).</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we had high hopes: one pass under the old method reached 9 of 16. Under the current method, no run has held a gain.</a:t>
            </a:r>
          </a:p>
        </p:txBody>
      </p:sp>
      <p:pic>
        <p:nvPicPr>
          <p:cNvPr id="11" name="Picture critical_lifts" descr="critical_lifts.png"/>
          <p:cNvPicPr>
            <a:picLocks noChangeAspect="1"/>
          </p:cNvPicPr>
          <p:nvPr/>
        </p:nvPicPr>
        <p:blipFill>
          <a:blip r:embed="rId3"/>
          <a:stretch>
            <a:fillRect/>
          </a:stretch>
        </p:blipFill>
        <p:spPr>
          <a:xfrm>
            <a:off x="5000625" y="1952625"/>
            <a:ext cx="6191250" cy="264626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